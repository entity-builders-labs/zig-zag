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Tesis central: Zig-Zag no es otro generador de itinerarios con IA. Es un motor de decisiones de viaje: convierte lo que una persona quiere y la información dispersa en decisiones fundamentadas, reutilizables y ejecutables. Lo que se presenta como estado actual está probado en el producto; la sección de negocio son hipótesis.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problema no es la falta de contenido sino la fragmentación y la falta de confianza. Hoy el viajero hace a mano el trabajo de juntar, verificar y planificar. No mostramos tamaño de mercado porque no lo tenemos medido.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decimos que la IA generativa sea mala: Zig-Zag la usa para tareas acotadas, como entender el pedido o leer fuentes. Pero nunca decide sola qué lugar existe, dónde está o si un plan es factible; eso lo verifican reglas y datos.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 la visión, no el estado actual. Hoy el viajero completa un formulario con intereses, formato y texto libre. La conversación continua es un horizonte futuro del roadmap.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mecanismo del círculo virtuoso ya funcionó en un caso real: al repetir un pedido, Zig-Zag reutilizó lo aprendido en lugar de investigar de nuevo. El círculo virtuoso a escala es una propuesta: todavía no hay volumen de usuarios. Los tiempos son de un entorno de pruebas y no predicen producción.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medida que el catálogo crece, más pedidos pueden resolverse reutilizando conocimiento ya verificado, con menor costo y menor tiempo de respuesta. Es una hipótesis: lo probado es el mecanismo en casos concretos, no el efecto a escala.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Cinco pilares. El tercero es el cambio más reciente del motor: la selección empieza por lo que el viajero pidió, y no por lo que está cerca con ajustes posteriores.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Métrica propuesta. Algunas señales ya existen en el registro de decisiones, pero todavía no calculamos esta tasa. No mostramos valores porque no existen.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Operativo significa que funciona en el flujo real en un entorno de pruebas. No es un producto listo para producción: falta generalizar a otros casos, calibrar la calidad y consolidar el motor.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Caso real en Buenos Aires, sin ayudas manuales. El viajero mencionó San Telmo y La Boca en texto libre; Zig-Zag encontró una caminata publicada que une ambos barrios, confirmada por varias fuentes, y la armó con 7 paradas, todas respaldadas y ubicadas en el mapa. Al repetir el pedido, reutilizó la misma caminata. Es un caso, no una estadística.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aprendizaje más importante del período. El pedido permitía 5 km de caminata por día y 3 km seguidos, y la caminata los superaba. La configuración por defecto de la app es incluso más estricta en tramos seguidos. Qué límites usar por defecto, y cómo tratar a quien pide caminar, es una decisión de producto pendiente.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 modelos no se excluyen: pueden convivir sobre el mismo motor. Una experiencia existe sin importar si se puede reservar; ofertas y precios son una capa comercial aparte, porque cambian mucho más rápido que los lugares.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Son opciones e hipótesis, no validación comercial: no hay usuarios pagos, contratos ni tasas de conversión medidas. El precio del Trip Pass es un supuesto inicial para experimentar, no un precio definido.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Valoraciones cualitativas para comparar opciones. Ninguna celda es una medición.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Secuencia sugerida: B2C gratis y reservas primero; API para empresas temprano y en paralelo; luego white-label, Trip Pass y, mucho más adelante, marketplace. Todo depende de que el motor demuestre buena calidad.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Punto clave para inversores y partners: el trabajo actual construye el mismo núcleo que necesita cualquier canal. No estamos apostando a uno solo.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Cada tarjeta separa impacto, evidencia actual y próximo paso. Los tiempos son de un entorno de pruebas, no de producción.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Horizonte 1: probar el motor en casos distintos (una ruta conocida, una ruta regional de vinos, otra ciudad y un caso donde lo correcto es no inventar nada). Horizonte 2: cerrar el núcleo del producto. Horizonte 3: aprender con pedidos reales y revisión humana. Horizonte 4: la experiencia conversacional.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Cierre. El conocimiento verificado ya se empieza a construir y reutilizar; el motor de decisión se está probando en más casos; la distribución es opcionalidad de negocio.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image" Target="../media/image-3-9.png"/><Relationship Id="rId10" Type="http://schemas.openxmlformats.org/officeDocument/2006/relationships/image" Target="../media/image-3-10.png"/><Relationship Id="rId11" Type="http://schemas.openxmlformats.org/officeDocument/2006/relationships/image" Target="../media/image-3-11.png"/><Relationship Id="rId12" Type="http://schemas.openxmlformats.org/officeDocument/2006/relationships/slideLayout" Target="../slideLayouts/slideLayout1.xml"/><Relationship Id="rId1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slideLayout" Target="../slideLayouts/slideLayout1.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slideLayout" Target="../slideLayouts/slideLayout1.xml"/><Relationship Id="rId8"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32B"/>
        </a:solidFill>
      </p:bgPr>
    </p:bg>
    <p:spTree>
      <p:nvGrpSpPr>
        <p:cNvPr id="1" name=""/>
        <p:cNvGrpSpPr/>
        <p:nvPr/>
      </p:nvGrpSpPr>
      <p:grpSpPr>
        <a:xfrm>
          <a:off x="0" y="0"/>
          <a:ext cx="0" cy="0"/>
          <a:chOff x="0" y="0"/>
          <a:chExt cx="0" cy="0"/>
        </a:xfrm>
      </p:grpSpPr>
      <p:sp>
        <p:nvSpPr>
          <p:cNvPr id="2" name="Shape 0"/>
          <p:cNvSpPr/>
          <p:nvPr/>
        </p:nvSpPr>
        <p:spPr>
          <a:xfrm flipV="1">
            <a:off x="6949440" y="4480560"/>
            <a:ext cx="822960" cy="1188720"/>
          </a:xfrm>
          <a:prstGeom prst="line">
            <a:avLst/>
          </a:prstGeom>
          <a:noFill/>
          <a:ln w="38100">
            <a:solidFill>
              <a:srgbClr val="5BC0BE"/>
            </a:solidFill>
            <a:prstDash val="solid"/>
          </a:ln>
        </p:spPr>
      </p:sp>
      <p:sp>
        <p:nvSpPr>
          <p:cNvPr id="3" name="Shape 1"/>
          <p:cNvSpPr/>
          <p:nvPr/>
        </p:nvSpPr>
        <p:spPr>
          <a:xfrm>
            <a:off x="7772400" y="4480560"/>
            <a:ext cx="822960" cy="640080"/>
          </a:xfrm>
          <a:prstGeom prst="line">
            <a:avLst/>
          </a:prstGeom>
          <a:noFill/>
          <a:ln w="38100">
            <a:solidFill>
              <a:srgbClr val="5BC0BE"/>
            </a:solidFill>
            <a:prstDash val="solid"/>
          </a:ln>
        </p:spPr>
      </p:sp>
      <p:sp>
        <p:nvSpPr>
          <p:cNvPr id="4" name="Shape 2"/>
          <p:cNvSpPr/>
          <p:nvPr/>
        </p:nvSpPr>
        <p:spPr>
          <a:xfrm flipV="1">
            <a:off x="8595360" y="3474720"/>
            <a:ext cx="822960" cy="1645920"/>
          </a:xfrm>
          <a:prstGeom prst="line">
            <a:avLst/>
          </a:prstGeom>
          <a:noFill/>
          <a:ln w="38100">
            <a:solidFill>
              <a:srgbClr val="5BC0BE"/>
            </a:solidFill>
            <a:prstDash val="solid"/>
          </a:ln>
        </p:spPr>
      </p:sp>
      <p:sp>
        <p:nvSpPr>
          <p:cNvPr id="5" name="Shape 3"/>
          <p:cNvSpPr/>
          <p:nvPr/>
        </p:nvSpPr>
        <p:spPr>
          <a:xfrm>
            <a:off x="9418320" y="3474720"/>
            <a:ext cx="731520" cy="548640"/>
          </a:xfrm>
          <a:prstGeom prst="line">
            <a:avLst/>
          </a:prstGeom>
          <a:noFill/>
          <a:ln w="38100">
            <a:solidFill>
              <a:srgbClr val="5BC0BE"/>
            </a:solidFill>
            <a:prstDash val="solid"/>
          </a:ln>
        </p:spPr>
      </p:sp>
      <p:sp>
        <p:nvSpPr>
          <p:cNvPr id="6" name="Shape 4"/>
          <p:cNvSpPr/>
          <p:nvPr/>
        </p:nvSpPr>
        <p:spPr>
          <a:xfrm flipV="1">
            <a:off x="10149840" y="2011680"/>
            <a:ext cx="1005840" cy="2011680"/>
          </a:xfrm>
          <a:prstGeom prst="line">
            <a:avLst/>
          </a:prstGeom>
          <a:noFill/>
          <a:ln w="38100">
            <a:solidFill>
              <a:srgbClr val="5BC0BE"/>
            </a:solidFill>
            <a:prstDash val="solid"/>
          </a:ln>
        </p:spPr>
      </p:sp>
      <p:sp>
        <p:nvSpPr>
          <p:cNvPr id="7" name="Shape 5"/>
          <p:cNvSpPr/>
          <p:nvPr/>
        </p:nvSpPr>
        <p:spPr>
          <a:xfrm>
            <a:off x="6858000" y="5577840"/>
            <a:ext cx="182880" cy="182880"/>
          </a:xfrm>
          <a:prstGeom prst="ellipse">
            <a:avLst/>
          </a:prstGeom>
          <a:solidFill>
            <a:srgbClr val="0B132B"/>
          </a:solidFill>
          <a:ln w="31750">
            <a:solidFill>
              <a:srgbClr val="5BC0BE"/>
            </a:solidFill>
            <a:prstDash val="solid"/>
          </a:ln>
        </p:spPr>
      </p:sp>
      <p:sp>
        <p:nvSpPr>
          <p:cNvPr id="8" name="Shape 6"/>
          <p:cNvSpPr/>
          <p:nvPr/>
        </p:nvSpPr>
        <p:spPr>
          <a:xfrm>
            <a:off x="7680960" y="4389120"/>
            <a:ext cx="182880" cy="182880"/>
          </a:xfrm>
          <a:prstGeom prst="ellipse">
            <a:avLst/>
          </a:prstGeom>
          <a:solidFill>
            <a:srgbClr val="0B132B"/>
          </a:solidFill>
          <a:ln w="31750">
            <a:solidFill>
              <a:srgbClr val="5BC0BE"/>
            </a:solidFill>
            <a:prstDash val="solid"/>
          </a:ln>
        </p:spPr>
      </p:sp>
      <p:sp>
        <p:nvSpPr>
          <p:cNvPr id="9" name="Shape 7"/>
          <p:cNvSpPr/>
          <p:nvPr/>
        </p:nvSpPr>
        <p:spPr>
          <a:xfrm>
            <a:off x="8503920" y="5029200"/>
            <a:ext cx="182880" cy="182880"/>
          </a:xfrm>
          <a:prstGeom prst="ellipse">
            <a:avLst/>
          </a:prstGeom>
          <a:solidFill>
            <a:srgbClr val="0B132B"/>
          </a:solidFill>
          <a:ln w="31750">
            <a:solidFill>
              <a:srgbClr val="5BC0BE"/>
            </a:solidFill>
            <a:prstDash val="solid"/>
          </a:ln>
        </p:spPr>
      </p:sp>
      <p:sp>
        <p:nvSpPr>
          <p:cNvPr id="10" name="Shape 8"/>
          <p:cNvSpPr/>
          <p:nvPr/>
        </p:nvSpPr>
        <p:spPr>
          <a:xfrm>
            <a:off x="9326880" y="3383280"/>
            <a:ext cx="182880" cy="182880"/>
          </a:xfrm>
          <a:prstGeom prst="ellipse">
            <a:avLst/>
          </a:prstGeom>
          <a:solidFill>
            <a:srgbClr val="0B132B"/>
          </a:solidFill>
          <a:ln w="31750">
            <a:solidFill>
              <a:srgbClr val="5BC0BE"/>
            </a:solidFill>
            <a:prstDash val="solid"/>
          </a:ln>
        </p:spPr>
      </p:sp>
      <p:sp>
        <p:nvSpPr>
          <p:cNvPr id="11" name="Shape 9"/>
          <p:cNvSpPr/>
          <p:nvPr/>
        </p:nvSpPr>
        <p:spPr>
          <a:xfrm>
            <a:off x="10058400" y="3931920"/>
            <a:ext cx="182880" cy="182880"/>
          </a:xfrm>
          <a:prstGeom prst="ellipse">
            <a:avLst/>
          </a:prstGeom>
          <a:solidFill>
            <a:srgbClr val="0B132B"/>
          </a:solidFill>
          <a:ln w="31750">
            <a:solidFill>
              <a:srgbClr val="5BC0BE"/>
            </a:solidFill>
            <a:prstDash val="solid"/>
          </a:ln>
        </p:spPr>
      </p:sp>
      <p:sp>
        <p:nvSpPr>
          <p:cNvPr id="12" name="Shape 10"/>
          <p:cNvSpPr/>
          <p:nvPr/>
        </p:nvSpPr>
        <p:spPr>
          <a:xfrm>
            <a:off x="11000232" y="1856232"/>
            <a:ext cx="310896" cy="310896"/>
          </a:xfrm>
          <a:prstGeom prst="ellipse">
            <a:avLst/>
          </a:prstGeom>
          <a:solidFill>
            <a:srgbClr val="5BC0BE"/>
          </a:solidFill>
          <a:ln w="31750">
            <a:solidFill>
              <a:srgbClr val="5BC0BE"/>
            </a:solidFill>
            <a:prstDash val="solid"/>
          </a:ln>
        </p:spPr>
      </p:sp>
      <p:sp>
        <p:nvSpPr>
          <p:cNvPr id="13" name="Text 11"/>
          <p:cNvSpPr txBox="1"/>
          <p:nvPr/>
        </p:nvSpPr>
        <p:spPr>
          <a:xfrm>
            <a:off x="685800" y="914400"/>
            <a:ext cx="3657600" cy="365760"/>
          </a:xfrm>
          <a:prstGeom prst="rect">
            <a:avLst/>
          </a:prstGeom>
          <a:noFill/>
          <a:ln/>
        </p:spPr>
        <p:txBody>
          <a:bodyPr wrap="square" lIns="0" tIns="0" rIns="0" bIns="0" rtlCol="0" anchor="t"/>
          <a:lstStyle/>
          <a:p>
            <a:pPr indent="0" marL="0">
              <a:buNone/>
            </a:pPr>
            <a:r>
              <a:rPr lang="en-US" sz="1600" b="1" spc="800" kern="0" dirty="0">
                <a:solidFill>
                  <a:srgbClr val="5BC0BE"/>
                </a:solidFill>
                <a:latin typeface="Arial" pitchFamily="34" charset="0"/>
                <a:ea typeface="Arial" pitchFamily="34" charset="-122"/>
                <a:cs typeface="Arial" pitchFamily="34" charset="-120"/>
              </a:rPr>
              <a:t>ZIG-ZAG</a:t>
            </a:r>
            <a:endParaRPr lang="en-US" sz="1600" dirty="0"/>
          </a:p>
        </p:txBody>
      </p:sp>
      <p:sp>
        <p:nvSpPr>
          <p:cNvPr id="14" name="Text 12"/>
          <p:cNvSpPr txBox="1"/>
          <p:nvPr/>
        </p:nvSpPr>
        <p:spPr>
          <a:xfrm>
            <a:off x="685800" y="1554480"/>
            <a:ext cx="6766560" cy="2560320"/>
          </a:xfrm>
          <a:prstGeom prst="rect">
            <a:avLst/>
          </a:prstGeom>
          <a:noFill/>
          <a:ln/>
        </p:spPr>
        <p:txBody>
          <a:bodyPr wrap="square" lIns="0" tIns="0" rIns="0" bIns="0" rtlCol="0" anchor="t"/>
          <a:lstStyle/>
          <a:p>
            <a:pPr indent="0" marL="0">
              <a:buNone/>
            </a:pPr>
            <a:r>
              <a:rPr lang="en-US" sz="4400" b="1" dirty="0">
                <a:solidFill>
                  <a:srgbClr val="FFFFFF"/>
                </a:solidFill>
                <a:latin typeface="Arial" pitchFamily="34" charset="0"/>
                <a:ea typeface="Arial" pitchFamily="34" charset="-122"/>
                <a:cs typeface="Arial" pitchFamily="34" charset="-120"/>
              </a:rPr>
              <a:t>De generador de itinerarios a motor inteligente de decisiones de viaje</a:t>
            </a:r>
            <a:endParaRPr lang="en-US" sz="4400" dirty="0"/>
          </a:p>
        </p:txBody>
      </p:sp>
      <p:sp>
        <p:nvSpPr>
          <p:cNvPr id="15" name="Text 13"/>
          <p:cNvSpPr txBox="1"/>
          <p:nvPr/>
        </p:nvSpPr>
        <p:spPr>
          <a:xfrm>
            <a:off x="685800" y="4389120"/>
            <a:ext cx="6400800" cy="365760"/>
          </a:xfrm>
          <a:prstGeom prst="rect">
            <a:avLst/>
          </a:prstGeom>
          <a:noFill/>
          <a:ln/>
        </p:spPr>
        <p:txBody>
          <a:bodyPr wrap="square" lIns="0" tIns="0" rIns="0" bIns="0" rtlCol="0" anchor="t"/>
          <a:lstStyle/>
          <a:p>
            <a:pPr indent="0" marL="0">
              <a:buNone/>
            </a:pPr>
            <a:r>
              <a:rPr lang="en-US" sz="1800" dirty="0">
                <a:solidFill>
                  <a:srgbClr val="C7D0E0"/>
                </a:solidFill>
                <a:latin typeface="Arial" pitchFamily="34" charset="0"/>
                <a:ea typeface="Arial" pitchFamily="34" charset="-122"/>
                <a:cs typeface="Arial" pitchFamily="34" charset="-120"/>
              </a:rPr>
              <a:t>Business, Product &amp; Strategy Update — Septiembre 2026</a:t>
            </a:r>
            <a:endParaRPr lang="en-US" sz="1800" dirty="0"/>
          </a:p>
        </p:txBody>
      </p:sp>
      <p:sp>
        <p:nvSpPr>
          <p:cNvPr id="16" name="Text 14"/>
          <p:cNvSpPr txBox="1"/>
          <p:nvPr/>
        </p:nvSpPr>
        <p:spPr>
          <a:xfrm>
            <a:off x="685800" y="5989320"/>
            <a:ext cx="6858000" cy="274320"/>
          </a:xfrm>
          <a:prstGeom prst="rect">
            <a:avLst/>
          </a:prstGeom>
          <a:noFill/>
          <a:ln/>
        </p:spPr>
        <p:txBody>
          <a:bodyPr wrap="square" lIns="0" tIns="0" rIns="0" bIns="0" rtlCol="0" anchor="t"/>
          <a:lstStyle/>
          <a:p>
            <a:pPr indent="0" marL="0">
              <a:buNone/>
            </a:pPr>
            <a:r>
              <a:rPr lang="en-US" sz="1050" dirty="0">
                <a:solidFill>
                  <a:srgbClr val="8391AE"/>
                </a:solidFill>
                <a:latin typeface="Arial" pitchFamily="34" charset="0"/>
                <a:ea typeface="Arial" pitchFamily="34" charset="-122"/>
                <a:cs typeface="Arial" pitchFamily="34" charset="-120"/>
              </a:rPr>
              <a:t>Founders · inversores potenciales · partners estratégicos · liderazgo de producto · clientes B2B potenciales</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1E8"/>
        </a:solidFill>
      </p:bgPr>
    </p:bg>
    <p:spTree>
      <p:nvGrpSpPr>
        <p:cNvPr id="1" name=""/>
        <p:cNvGrpSpPr/>
        <p:nvPr/>
      </p:nvGrpSpPr>
      <p:grpSpPr>
        <a:xfrm>
          <a:off x="0" y="0"/>
          <a:ext cx="0" cy="0"/>
          <a:chOff x="0" y="0"/>
          <a:chExt cx="0" cy="0"/>
        </a:xfrm>
      </p:grpSpPr>
      <p:sp>
        <p:nvSpPr>
          <p:cNvPr id="2" name="Shape 0"/>
          <p:cNvSpPr/>
          <p:nvPr/>
        </p:nvSpPr>
        <p:spPr>
          <a:xfrm flipV="1">
            <a:off x="594360" y="384048"/>
            <a:ext cx="120701" cy="98755"/>
          </a:xfrm>
          <a:prstGeom prst="line">
            <a:avLst/>
          </a:prstGeom>
          <a:noFill/>
          <a:ln w="22225">
            <a:solidFill>
              <a:srgbClr val="5BC0BE"/>
            </a:solidFill>
            <a:prstDash val="solid"/>
          </a:ln>
        </p:spPr>
      </p:sp>
      <p:sp>
        <p:nvSpPr>
          <p:cNvPr id="3" name="Shape 1"/>
          <p:cNvSpPr/>
          <p:nvPr/>
        </p:nvSpPr>
        <p:spPr>
          <a:xfrm>
            <a:off x="715061" y="384048"/>
            <a:ext cx="120701" cy="98755"/>
          </a:xfrm>
          <a:prstGeom prst="line">
            <a:avLst/>
          </a:prstGeom>
          <a:noFill/>
          <a:ln w="22225">
            <a:solidFill>
              <a:srgbClr val="5BC0BE"/>
            </a:solidFill>
            <a:prstDash val="solid"/>
          </a:ln>
        </p:spPr>
      </p:sp>
      <p:sp>
        <p:nvSpPr>
          <p:cNvPr id="4" name="Shape 2"/>
          <p:cNvSpPr/>
          <p:nvPr/>
        </p:nvSpPr>
        <p:spPr>
          <a:xfrm flipV="1">
            <a:off x="835762" y="384048"/>
            <a:ext cx="120701" cy="98755"/>
          </a:xfrm>
          <a:prstGeom prst="line">
            <a:avLst/>
          </a:prstGeom>
          <a:noFill/>
          <a:ln w="22225">
            <a:solidFill>
              <a:srgbClr val="5BC0BE"/>
            </a:solidFill>
            <a:prstDash val="solid"/>
          </a:ln>
        </p:spPr>
      </p:sp>
      <p:sp>
        <p:nvSpPr>
          <p:cNvPr id="5" name="Shape 3"/>
          <p:cNvSpPr/>
          <p:nvPr/>
        </p:nvSpPr>
        <p:spPr>
          <a:xfrm>
            <a:off x="566928" y="455371"/>
            <a:ext cx="54864" cy="54864"/>
          </a:xfrm>
          <a:prstGeom prst="ellipse">
            <a:avLst/>
          </a:prstGeom>
          <a:solidFill>
            <a:srgbClr val="5BC0BE"/>
          </a:solidFill>
          <a:ln w="12700">
            <a:solidFill>
              <a:srgbClr val="5BC0BE"/>
            </a:solidFill>
            <a:prstDash val="solid"/>
          </a:ln>
        </p:spPr>
      </p:sp>
      <p:sp>
        <p:nvSpPr>
          <p:cNvPr id="6" name="Shape 4"/>
          <p:cNvSpPr/>
          <p:nvPr/>
        </p:nvSpPr>
        <p:spPr>
          <a:xfrm>
            <a:off x="687629" y="356616"/>
            <a:ext cx="54864" cy="54864"/>
          </a:xfrm>
          <a:prstGeom prst="ellipse">
            <a:avLst/>
          </a:prstGeom>
          <a:solidFill>
            <a:srgbClr val="5BC0BE"/>
          </a:solidFill>
          <a:ln w="12700">
            <a:solidFill>
              <a:srgbClr val="5BC0BE"/>
            </a:solidFill>
            <a:prstDash val="solid"/>
          </a:ln>
        </p:spPr>
      </p:sp>
      <p:sp>
        <p:nvSpPr>
          <p:cNvPr id="7" name="Shape 5"/>
          <p:cNvSpPr/>
          <p:nvPr/>
        </p:nvSpPr>
        <p:spPr>
          <a:xfrm>
            <a:off x="808330" y="455371"/>
            <a:ext cx="54864" cy="54864"/>
          </a:xfrm>
          <a:prstGeom prst="ellipse">
            <a:avLst/>
          </a:prstGeom>
          <a:solidFill>
            <a:srgbClr val="5BC0BE"/>
          </a:solidFill>
          <a:ln w="12700">
            <a:solidFill>
              <a:srgbClr val="5BC0BE"/>
            </a:solidFill>
            <a:prstDash val="solid"/>
          </a:ln>
        </p:spPr>
      </p:sp>
      <p:sp>
        <p:nvSpPr>
          <p:cNvPr id="8" name="Shape 6"/>
          <p:cNvSpPr/>
          <p:nvPr/>
        </p:nvSpPr>
        <p:spPr>
          <a:xfrm>
            <a:off x="929030" y="356616"/>
            <a:ext cx="54864" cy="54864"/>
          </a:xfrm>
          <a:prstGeom prst="ellipse">
            <a:avLst/>
          </a:prstGeom>
          <a:solidFill>
            <a:srgbClr val="5BC0BE"/>
          </a:solidFill>
          <a:ln w="12700">
            <a:solidFill>
              <a:srgbClr val="5BC0BE"/>
            </a:solidFill>
            <a:prstDash val="solid"/>
          </a:ln>
        </p:spPr>
      </p:sp>
      <p:sp>
        <p:nvSpPr>
          <p:cNvPr id="9" name="Shape 7"/>
          <p:cNvSpPr/>
          <p:nvPr/>
        </p:nvSpPr>
        <p:spPr>
          <a:xfrm>
            <a:off x="1143000" y="329184"/>
            <a:ext cx="941832" cy="274320"/>
          </a:xfrm>
          <a:prstGeom prst="roundRect">
            <a:avLst>
              <a:gd name="adj" fmla="val 50000"/>
            </a:avLst>
          </a:prstGeom>
          <a:solidFill>
            <a:srgbClr val="ECE6D8"/>
          </a:solidFill>
          <a:ln w="12700">
            <a:solidFill>
              <a:srgbClr val="ECE6D8"/>
            </a:solidFill>
            <a:prstDash val="solid"/>
          </a:ln>
        </p:spPr>
      </p:sp>
      <p:sp>
        <p:nvSpPr>
          <p:cNvPr id="10" name="Text 8"/>
          <p:cNvSpPr txBox="1"/>
          <p:nvPr/>
        </p:nvSpPr>
        <p:spPr>
          <a:xfrm>
            <a:off x="1143000" y="329184"/>
            <a:ext cx="941832" cy="274320"/>
          </a:xfrm>
          <a:prstGeom prst="rect">
            <a:avLst/>
          </a:prstGeom>
          <a:noFill/>
          <a:ln/>
        </p:spPr>
        <p:txBody>
          <a:bodyPr wrap="square" lIns="0" tIns="0" rIns="0" bIns="0" rtlCol="0" anchor="ctr"/>
          <a:lstStyle/>
          <a:p>
            <a:pPr algn="ctr" indent="0" marL="0">
              <a:buNone/>
            </a:pPr>
            <a:r>
              <a:rPr lang="en-US" sz="900" b="1" spc="150" kern="0" dirty="0">
                <a:solidFill>
                  <a:srgbClr val="6B7385"/>
                </a:solidFill>
                <a:latin typeface="Arial" pitchFamily="34" charset="0"/>
                <a:ea typeface="Arial" pitchFamily="34" charset="-122"/>
                <a:cs typeface="Arial" pitchFamily="34" charset="-120"/>
              </a:rPr>
              <a:t>CONTEXTO</a:t>
            </a:r>
            <a:endParaRPr lang="en-US" sz="900" dirty="0"/>
          </a:p>
        </p:txBody>
      </p:sp>
      <p:sp>
        <p:nvSpPr>
          <p:cNvPr id="11" name="Text 9"/>
          <p:cNvSpPr txBox="1"/>
          <p:nvPr/>
        </p:nvSpPr>
        <p:spPr>
          <a:xfrm>
            <a:off x="594360" y="777240"/>
            <a:ext cx="11002975" cy="731520"/>
          </a:xfrm>
          <a:prstGeom prst="rect">
            <a:avLst/>
          </a:prstGeom>
          <a:noFill/>
          <a:ln/>
        </p:spPr>
        <p:txBody>
          <a:bodyPr wrap="square" lIns="0" tIns="0" rIns="0" bIns="0" rtlCol="0" anchor="t"/>
          <a:lstStyle/>
          <a:p>
            <a:pPr indent="0" marL="0">
              <a:buNone/>
            </a:pPr>
            <a:r>
              <a:rPr lang="en-US" sz="3000" b="1" dirty="0">
                <a:solidFill>
                  <a:srgbClr val="0B132B"/>
                </a:solidFill>
                <a:latin typeface="Arial" pitchFamily="34" charset="0"/>
                <a:ea typeface="Arial" pitchFamily="34" charset="-122"/>
                <a:cs typeface="Arial" pitchFamily="34" charset="-120"/>
              </a:rPr>
              <a:t>El problema no es encontrar información. Es decidir.</a:t>
            </a:r>
            <a:endParaRPr lang="en-US" sz="3000" dirty="0"/>
          </a:p>
        </p:txBody>
      </p:sp>
      <p:sp>
        <p:nvSpPr>
          <p:cNvPr id="12" name="Text 10"/>
          <p:cNvSpPr txBox="1"/>
          <p:nvPr/>
        </p:nvSpPr>
        <p:spPr>
          <a:xfrm>
            <a:off x="594360" y="6473952"/>
            <a:ext cx="7315200" cy="182880"/>
          </a:xfrm>
          <a:prstGeom prst="rect">
            <a:avLst/>
          </a:prstGeom>
          <a:noFill/>
          <a:ln/>
        </p:spPr>
        <p:txBody>
          <a:bodyPr wrap="square" lIns="0" tIns="0" rIns="0" bIns="0" rtlCol="0" anchor="t"/>
          <a:lstStyle/>
          <a:p>
            <a:pPr indent="0" marL="0">
              <a:buNone/>
            </a:pPr>
            <a:r>
              <a:rPr lang="en-US" sz="850" dirty="0">
                <a:solidFill>
                  <a:srgbClr val="6B7385"/>
                </a:solidFill>
                <a:latin typeface="Arial" pitchFamily="34" charset="0"/>
                <a:ea typeface="Arial" pitchFamily="34" charset="-122"/>
                <a:cs typeface="Arial" pitchFamily="34" charset="-120"/>
              </a:rPr>
              <a:t>Zig-Zag · Business, Product &amp; Strategy Update · Septiembre 2026</a:t>
            </a:r>
            <a:endParaRPr lang="en-US" sz="850" dirty="0"/>
          </a:p>
        </p:txBody>
      </p:sp>
      <p:sp>
        <p:nvSpPr>
          <p:cNvPr id="13" name="Text 11"/>
          <p:cNvSpPr txBox="1"/>
          <p:nvPr/>
        </p:nvSpPr>
        <p:spPr>
          <a:xfrm>
            <a:off x="11048695" y="6473952"/>
            <a:ext cx="548640" cy="182880"/>
          </a:xfrm>
          <a:prstGeom prst="rect">
            <a:avLst/>
          </a:prstGeom>
          <a:noFill/>
          <a:ln/>
        </p:spPr>
        <p:txBody>
          <a:bodyPr wrap="square" lIns="0" tIns="0" rIns="0" bIns="0" rtlCol="0" anchor="t"/>
          <a:lstStyle/>
          <a:p>
            <a:pPr algn="r" indent="0" marL="0">
              <a:buNone/>
            </a:pPr>
            <a:r>
              <a:rPr lang="en-US" sz="850" dirty="0">
                <a:solidFill>
                  <a:srgbClr val="6B7385"/>
                </a:solidFill>
                <a:latin typeface="Arial" pitchFamily="34" charset="0"/>
                <a:ea typeface="Arial" pitchFamily="34" charset="-122"/>
                <a:cs typeface="Arial" pitchFamily="34" charset="-120"/>
              </a:rPr>
              <a:t>2</a:t>
            </a:r>
            <a:endParaRPr lang="en-US" sz="850" dirty="0"/>
          </a:p>
        </p:txBody>
      </p:sp>
      <p:sp>
        <p:nvSpPr>
          <p:cNvPr id="14" name="Text 12"/>
          <p:cNvSpPr txBox="1"/>
          <p:nvPr/>
        </p:nvSpPr>
        <p:spPr>
          <a:xfrm>
            <a:off x="594360" y="1783080"/>
            <a:ext cx="4572000" cy="274320"/>
          </a:xfrm>
          <a:prstGeom prst="rect">
            <a:avLst/>
          </a:prstGeom>
          <a:noFill/>
          <a:ln/>
        </p:spPr>
        <p:txBody>
          <a:bodyPr wrap="square" lIns="0" tIns="0" rIns="0" bIns="0" rtlCol="0" anchor="t"/>
          <a:lstStyle/>
          <a:p>
            <a:pPr indent="0" marL="0">
              <a:buNone/>
            </a:pPr>
            <a:r>
              <a:rPr lang="en-US" sz="1300" b="1" dirty="0">
                <a:solidFill>
                  <a:srgbClr val="6B7385"/>
                </a:solidFill>
                <a:latin typeface="Arial" pitchFamily="34" charset="0"/>
                <a:ea typeface="Arial" pitchFamily="34" charset="-122"/>
                <a:cs typeface="Arial" pitchFamily="34" charset="-120"/>
              </a:rPr>
              <a:t>El viajero salta entre…</a:t>
            </a:r>
            <a:endParaRPr lang="en-US" sz="1300" dirty="0"/>
          </a:p>
        </p:txBody>
      </p:sp>
      <p:sp>
        <p:nvSpPr>
          <p:cNvPr id="15" name="Shape 13"/>
          <p:cNvSpPr/>
          <p:nvPr/>
        </p:nvSpPr>
        <p:spPr>
          <a:xfrm>
            <a:off x="594360" y="2194560"/>
            <a:ext cx="1097280" cy="402336"/>
          </a:xfrm>
          <a:prstGeom prst="roundRect">
            <a:avLst>
              <a:gd name="adj" fmla="val 50000"/>
            </a:avLst>
          </a:prstGeom>
          <a:solidFill>
            <a:srgbClr val="FFFFFF"/>
          </a:solidFill>
          <a:ln w="9525">
            <a:solidFill>
              <a:srgbClr val="D8D2C4"/>
            </a:solidFill>
            <a:prstDash val="solid"/>
          </a:ln>
        </p:spPr>
      </p:sp>
      <p:sp>
        <p:nvSpPr>
          <p:cNvPr id="16" name="Text 14"/>
          <p:cNvSpPr txBox="1"/>
          <p:nvPr/>
        </p:nvSpPr>
        <p:spPr>
          <a:xfrm>
            <a:off x="594360" y="2194560"/>
            <a:ext cx="1097280" cy="402336"/>
          </a:xfrm>
          <a:prstGeom prst="rect">
            <a:avLst/>
          </a:prstGeom>
          <a:noFill/>
          <a:ln/>
        </p:spPr>
        <p:txBody>
          <a:bodyPr wrap="square" lIns="0" tIns="0" rIns="0" bIns="0" rtlCol="0" anchor="ctr"/>
          <a:lstStyle/>
          <a:p>
            <a:pPr algn="ctr" indent="0" marL="0">
              <a:buNone/>
            </a:pPr>
            <a:r>
              <a:rPr lang="en-US" sz="1250" dirty="0">
                <a:solidFill>
                  <a:srgbClr val="3D4659"/>
                </a:solidFill>
                <a:latin typeface="Arial" pitchFamily="34" charset="0"/>
                <a:ea typeface="Arial" pitchFamily="34" charset="-122"/>
                <a:cs typeface="Arial" pitchFamily="34" charset="-120"/>
              </a:rPr>
              <a:t>Google</a:t>
            </a:r>
            <a:endParaRPr lang="en-US" sz="1250" dirty="0"/>
          </a:p>
        </p:txBody>
      </p:sp>
      <p:sp>
        <p:nvSpPr>
          <p:cNvPr id="17" name="Shape 15"/>
          <p:cNvSpPr/>
          <p:nvPr/>
        </p:nvSpPr>
        <p:spPr>
          <a:xfrm>
            <a:off x="1828800" y="2194560"/>
            <a:ext cx="914400" cy="402336"/>
          </a:xfrm>
          <a:prstGeom prst="roundRect">
            <a:avLst>
              <a:gd name="adj" fmla="val 50000"/>
            </a:avLst>
          </a:prstGeom>
          <a:solidFill>
            <a:srgbClr val="FFFFFF"/>
          </a:solidFill>
          <a:ln w="9525">
            <a:solidFill>
              <a:srgbClr val="D8D2C4"/>
            </a:solidFill>
            <a:prstDash val="solid"/>
          </a:ln>
        </p:spPr>
      </p:sp>
      <p:sp>
        <p:nvSpPr>
          <p:cNvPr id="18" name="Text 16"/>
          <p:cNvSpPr txBox="1"/>
          <p:nvPr/>
        </p:nvSpPr>
        <p:spPr>
          <a:xfrm>
            <a:off x="1828800" y="2194560"/>
            <a:ext cx="914400" cy="402336"/>
          </a:xfrm>
          <a:prstGeom prst="rect">
            <a:avLst/>
          </a:prstGeom>
          <a:noFill/>
          <a:ln/>
        </p:spPr>
        <p:txBody>
          <a:bodyPr wrap="square" lIns="0" tIns="0" rIns="0" bIns="0" rtlCol="0" anchor="ctr"/>
          <a:lstStyle/>
          <a:p>
            <a:pPr algn="ctr" indent="0" marL="0">
              <a:buNone/>
            </a:pPr>
            <a:r>
              <a:rPr lang="en-US" sz="1250" dirty="0">
                <a:solidFill>
                  <a:srgbClr val="3D4659"/>
                </a:solidFill>
                <a:latin typeface="Arial" pitchFamily="34" charset="0"/>
                <a:ea typeface="Arial" pitchFamily="34" charset="-122"/>
                <a:cs typeface="Arial" pitchFamily="34" charset="-120"/>
              </a:rPr>
              <a:t>Maps</a:t>
            </a:r>
            <a:endParaRPr lang="en-US" sz="1250" dirty="0"/>
          </a:p>
        </p:txBody>
      </p:sp>
      <p:sp>
        <p:nvSpPr>
          <p:cNvPr id="19" name="Shape 17"/>
          <p:cNvSpPr/>
          <p:nvPr/>
        </p:nvSpPr>
        <p:spPr>
          <a:xfrm>
            <a:off x="2880360" y="2194560"/>
            <a:ext cx="1371600" cy="402336"/>
          </a:xfrm>
          <a:prstGeom prst="roundRect">
            <a:avLst>
              <a:gd name="adj" fmla="val 50000"/>
            </a:avLst>
          </a:prstGeom>
          <a:solidFill>
            <a:srgbClr val="FFFFFF"/>
          </a:solidFill>
          <a:ln w="9525">
            <a:solidFill>
              <a:srgbClr val="D8D2C4"/>
            </a:solidFill>
            <a:prstDash val="solid"/>
          </a:ln>
        </p:spPr>
      </p:sp>
      <p:sp>
        <p:nvSpPr>
          <p:cNvPr id="20" name="Text 18"/>
          <p:cNvSpPr txBox="1"/>
          <p:nvPr/>
        </p:nvSpPr>
        <p:spPr>
          <a:xfrm>
            <a:off x="2880360" y="2194560"/>
            <a:ext cx="1371600" cy="402336"/>
          </a:xfrm>
          <a:prstGeom prst="rect">
            <a:avLst/>
          </a:prstGeom>
          <a:noFill/>
          <a:ln/>
        </p:spPr>
        <p:txBody>
          <a:bodyPr wrap="square" lIns="0" tIns="0" rIns="0" bIns="0" rtlCol="0" anchor="ctr"/>
          <a:lstStyle/>
          <a:p>
            <a:pPr algn="ctr" indent="0" marL="0">
              <a:buNone/>
            </a:pPr>
            <a:r>
              <a:rPr lang="en-US" sz="1250" dirty="0">
                <a:solidFill>
                  <a:srgbClr val="3D4659"/>
                </a:solidFill>
                <a:latin typeface="Arial" pitchFamily="34" charset="0"/>
                <a:ea typeface="Arial" pitchFamily="34" charset="-122"/>
                <a:cs typeface="Arial" pitchFamily="34" charset="-120"/>
              </a:rPr>
              <a:t>Tripadvisor</a:t>
            </a:r>
            <a:endParaRPr lang="en-US" sz="1250" dirty="0"/>
          </a:p>
        </p:txBody>
      </p:sp>
      <p:sp>
        <p:nvSpPr>
          <p:cNvPr id="21" name="Shape 19"/>
          <p:cNvSpPr/>
          <p:nvPr/>
        </p:nvSpPr>
        <p:spPr>
          <a:xfrm>
            <a:off x="594360" y="2743200"/>
            <a:ext cx="914400" cy="402336"/>
          </a:xfrm>
          <a:prstGeom prst="roundRect">
            <a:avLst>
              <a:gd name="adj" fmla="val 50000"/>
            </a:avLst>
          </a:prstGeom>
          <a:solidFill>
            <a:srgbClr val="FFFFFF"/>
          </a:solidFill>
          <a:ln w="9525">
            <a:solidFill>
              <a:srgbClr val="D8D2C4"/>
            </a:solidFill>
            <a:prstDash val="solid"/>
          </a:ln>
        </p:spPr>
      </p:sp>
      <p:sp>
        <p:nvSpPr>
          <p:cNvPr id="22" name="Text 20"/>
          <p:cNvSpPr txBox="1"/>
          <p:nvPr/>
        </p:nvSpPr>
        <p:spPr>
          <a:xfrm>
            <a:off x="594360" y="2743200"/>
            <a:ext cx="914400" cy="402336"/>
          </a:xfrm>
          <a:prstGeom prst="rect">
            <a:avLst/>
          </a:prstGeom>
          <a:noFill/>
          <a:ln/>
        </p:spPr>
        <p:txBody>
          <a:bodyPr wrap="square" lIns="0" tIns="0" rIns="0" bIns="0" rtlCol="0" anchor="ctr"/>
          <a:lstStyle/>
          <a:p>
            <a:pPr algn="ctr" indent="0" marL="0">
              <a:buNone/>
            </a:pPr>
            <a:r>
              <a:rPr lang="en-US" sz="1250" dirty="0">
                <a:solidFill>
                  <a:srgbClr val="3D4659"/>
                </a:solidFill>
                <a:latin typeface="Arial" pitchFamily="34" charset="0"/>
                <a:ea typeface="Arial" pitchFamily="34" charset="-122"/>
                <a:cs typeface="Arial" pitchFamily="34" charset="-120"/>
              </a:rPr>
              <a:t>Blogs</a:t>
            </a:r>
            <a:endParaRPr lang="en-US" sz="1250" dirty="0"/>
          </a:p>
        </p:txBody>
      </p:sp>
      <p:sp>
        <p:nvSpPr>
          <p:cNvPr id="23" name="Shape 21"/>
          <p:cNvSpPr/>
          <p:nvPr/>
        </p:nvSpPr>
        <p:spPr>
          <a:xfrm>
            <a:off x="1645920" y="2743200"/>
            <a:ext cx="1920240" cy="402336"/>
          </a:xfrm>
          <a:prstGeom prst="roundRect">
            <a:avLst>
              <a:gd name="adj" fmla="val 50000"/>
            </a:avLst>
          </a:prstGeom>
          <a:solidFill>
            <a:srgbClr val="FFFFFF"/>
          </a:solidFill>
          <a:ln w="9525">
            <a:solidFill>
              <a:srgbClr val="D8D2C4"/>
            </a:solidFill>
            <a:prstDash val="solid"/>
          </a:ln>
        </p:spPr>
      </p:sp>
      <p:sp>
        <p:nvSpPr>
          <p:cNvPr id="24" name="Text 22"/>
          <p:cNvSpPr txBox="1"/>
          <p:nvPr/>
        </p:nvSpPr>
        <p:spPr>
          <a:xfrm>
            <a:off x="1645920" y="2743200"/>
            <a:ext cx="1920240" cy="402336"/>
          </a:xfrm>
          <a:prstGeom prst="rect">
            <a:avLst/>
          </a:prstGeom>
          <a:noFill/>
          <a:ln/>
        </p:spPr>
        <p:txBody>
          <a:bodyPr wrap="square" lIns="0" tIns="0" rIns="0" bIns="0" rtlCol="0" anchor="ctr"/>
          <a:lstStyle/>
          <a:p>
            <a:pPr algn="ctr" indent="0" marL="0">
              <a:buNone/>
            </a:pPr>
            <a:r>
              <a:rPr lang="en-US" sz="1250" dirty="0">
                <a:solidFill>
                  <a:srgbClr val="3D4659"/>
                </a:solidFill>
                <a:latin typeface="Arial" pitchFamily="34" charset="0"/>
                <a:ea typeface="Arial" pitchFamily="34" charset="-122"/>
                <a:cs typeface="Arial" pitchFamily="34" charset="-120"/>
              </a:rPr>
              <a:t>TikTok / Instagram</a:t>
            </a:r>
            <a:endParaRPr lang="en-US" sz="1250" dirty="0"/>
          </a:p>
        </p:txBody>
      </p:sp>
      <p:sp>
        <p:nvSpPr>
          <p:cNvPr id="25" name="Shape 23"/>
          <p:cNvSpPr/>
          <p:nvPr/>
        </p:nvSpPr>
        <p:spPr>
          <a:xfrm>
            <a:off x="3703320" y="2743200"/>
            <a:ext cx="1554480" cy="402336"/>
          </a:xfrm>
          <a:prstGeom prst="roundRect">
            <a:avLst>
              <a:gd name="adj" fmla="val 50000"/>
            </a:avLst>
          </a:prstGeom>
          <a:solidFill>
            <a:srgbClr val="FFFFFF"/>
          </a:solidFill>
          <a:ln w="9525">
            <a:solidFill>
              <a:srgbClr val="D8D2C4"/>
            </a:solidFill>
            <a:prstDash val="solid"/>
          </a:ln>
        </p:spPr>
      </p:sp>
      <p:sp>
        <p:nvSpPr>
          <p:cNvPr id="26" name="Text 24"/>
          <p:cNvSpPr txBox="1"/>
          <p:nvPr/>
        </p:nvSpPr>
        <p:spPr>
          <a:xfrm>
            <a:off x="3703320" y="2743200"/>
            <a:ext cx="1554480" cy="402336"/>
          </a:xfrm>
          <a:prstGeom prst="rect">
            <a:avLst/>
          </a:prstGeom>
          <a:noFill/>
          <a:ln/>
        </p:spPr>
        <p:txBody>
          <a:bodyPr wrap="square" lIns="0" tIns="0" rIns="0" bIns="0" rtlCol="0" anchor="ctr"/>
          <a:lstStyle/>
          <a:p>
            <a:pPr algn="ctr" indent="0" marL="0">
              <a:buNone/>
            </a:pPr>
            <a:r>
              <a:rPr lang="en-US" sz="1250" dirty="0">
                <a:solidFill>
                  <a:srgbClr val="3D4659"/>
                </a:solidFill>
                <a:latin typeface="Arial" pitchFamily="34" charset="0"/>
                <a:ea typeface="Arial" pitchFamily="34" charset="-122"/>
                <a:cs typeface="Arial" pitchFamily="34" charset="-120"/>
              </a:rPr>
              <a:t>Agencias online</a:t>
            </a:r>
            <a:endParaRPr lang="en-US" sz="1250" dirty="0"/>
          </a:p>
        </p:txBody>
      </p:sp>
      <p:sp>
        <p:nvSpPr>
          <p:cNvPr id="27" name="Shape 25"/>
          <p:cNvSpPr/>
          <p:nvPr/>
        </p:nvSpPr>
        <p:spPr>
          <a:xfrm>
            <a:off x="594360" y="3291840"/>
            <a:ext cx="1645920" cy="402336"/>
          </a:xfrm>
          <a:prstGeom prst="roundRect">
            <a:avLst>
              <a:gd name="adj" fmla="val 50000"/>
            </a:avLst>
          </a:prstGeom>
          <a:solidFill>
            <a:srgbClr val="FFFFFF"/>
          </a:solidFill>
          <a:ln w="9525">
            <a:solidFill>
              <a:srgbClr val="D8D2C4"/>
            </a:solidFill>
            <a:prstDash val="solid"/>
          </a:ln>
        </p:spPr>
      </p:sp>
      <p:sp>
        <p:nvSpPr>
          <p:cNvPr id="28" name="Text 26"/>
          <p:cNvSpPr txBox="1"/>
          <p:nvPr/>
        </p:nvSpPr>
        <p:spPr>
          <a:xfrm>
            <a:off x="594360" y="3291840"/>
            <a:ext cx="1645920" cy="402336"/>
          </a:xfrm>
          <a:prstGeom prst="rect">
            <a:avLst/>
          </a:prstGeom>
          <a:noFill/>
          <a:ln/>
        </p:spPr>
        <p:txBody>
          <a:bodyPr wrap="square" lIns="0" tIns="0" rIns="0" bIns="0" rtlCol="0" anchor="ctr"/>
          <a:lstStyle/>
          <a:p>
            <a:pPr algn="ctr" indent="0" marL="0">
              <a:buNone/>
            </a:pPr>
            <a:r>
              <a:rPr lang="en-US" sz="1250" dirty="0">
                <a:solidFill>
                  <a:srgbClr val="3D4659"/>
                </a:solidFill>
                <a:latin typeface="Arial" pitchFamily="34" charset="0"/>
                <a:ea typeface="Arial" pitchFamily="34" charset="-122"/>
                <a:cs typeface="Arial" pitchFamily="34" charset="-120"/>
              </a:rPr>
              <a:t>Guías de viaje</a:t>
            </a:r>
            <a:endParaRPr lang="en-US" sz="1250" dirty="0"/>
          </a:p>
        </p:txBody>
      </p:sp>
      <p:sp>
        <p:nvSpPr>
          <p:cNvPr id="29" name="Shape 27"/>
          <p:cNvSpPr/>
          <p:nvPr/>
        </p:nvSpPr>
        <p:spPr>
          <a:xfrm>
            <a:off x="2377440" y="3291840"/>
            <a:ext cx="2286000" cy="402336"/>
          </a:xfrm>
          <a:prstGeom prst="roundRect">
            <a:avLst>
              <a:gd name="adj" fmla="val 50000"/>
            </a:avLst>
          </a:prstGeom>
          <a:solidFill>
            <a:srgbClr val="FFFFFF"/>
          </a:solidFill>
          <a:ln w="9525">
            <a:solidFill>
              <a:srgbClr val="D8D2C4"/>
            </a:solidFill>
            <a:prstDash val="solid"/>
          </a:ln>
        </p:spPr>
      </p:sp>
      <p:sp>
        <p:nvSpPr>
          <p:cNvPr id="30" name="Text 28"/>
          <p:cNvSpPr txBox="1"/>
          <p:nvPr/>
        </p:nvSpPr>
        <p:spPr>
          <a:xfrm>
            <a:off x="2377440" y="3291840"/>
            <a:ext cx="2286000" cy="402336"/>
          </a:xfrm>
          <a:prstGeom prst="rect">
            <a:avLst/>
          </a:prstGeom>
          <a:noFill/>
          <a:ln/>
        </p:spPr>
        <p:txBody>
          <a:bodyPr wrap="square" lIns="0" tIns="0" rIns="0" bIns="0" rtlCol="0" anchor="ctr"/>
          <a:lstStyle/>
          <a:p>
            <a:pPr algn="ctr" indent="0" marL="0">
              <a:buNone/>
            </a:pPr>
            <a:r>
              <a:rPr lang="en-US" sz="1250" dirty="0">
                <a:solidFill>
                  <a:srgbClr val="3D4659"/>
                </a:solidFill>
                <a:latin typeface="Arial" pitchFamily="34" charset="0"/>
                <a:ea typeface="Arial" pitchFamily="34" charset="-122"/>
                <a:cs typeface="Arial" pitchFamily="34" charset="-120"/>
              </a:rPr>
              <a:t>Chats de IA genéricos</a:t>
            </a:r>
            <a:endParaRPr lang="en-US" sz="1250" dirty="0"/>
          </a:p>
        </p:txBody>
      </p:sp>
      <p:sp>
        <p:nvSpPr>
          <p:cNvPr id="31" name="Shape 29"/>
          <p:cNvSpPr/>
          <p:nvPr/>
        </p:nvSpPr>
        <p:spPr>
          <a:xfrm>
            <a:off x="5349240" y="2697480"/>
            <a:ext cx="640080" cy="457200"/>
          </a:xfrm>
          <a:prstGeom prst="rightArrow">
            <a:avLst/>
          </a:prstGeom>
          <a:solidFill>
            <a:srgbClr val="5BC0BE"/>
          </a:solidFill>
          <a:ln w="12700">
            <a:solidFill>
              <a:srgbClr val="5BC0BE"/>
            </a:solidFill>
            <a:prstDash val="solid"/>
          </a:ln>
        </p:spPr>
      </p:sp>
      <p:sp>
        <p:nvSpPr>
          <p:cNvPr id="32" name="Text 30"/>
          <p:cNvSpPr txBox="1"/>
          <p:nvPr/>
        </p:nvSpPr>
        <p:spPr>
          <a:xfrm>
            <a:off x="6400800" y="1783080"/>
            <a:ext cx="5120640" cy="274320"/>
          </a:xfrm>
          <a:prstGeom prst="rect">
            <a:avLst/>
          </a:prstGeom>
          <a:noFill/>
          <a:ln/>
        </p:spPr>
        <p:txBody>
          <a:bodyPr wrap="square" lIns="0" tIns="0" rIns="0" bIns="0" rtlCol="0" anchor="t"/>
          <a:lstStyle/>
          <a:p>
            <a:pPr indent="0" marL="0">
              <a:buNone/>
            </a:pPr>
            <a:r>
              <a:rPr lang="en-US" sz="1300" b="1" dirty="0">
                <a:solidFill>
                  <a:srgbClr val="6B7385"/>
                </a:solidFill>
                <a:latin typeface="Arial" pitchFamily="34" charset="0"/>
                <a:ea typeface="Arial" pitchFamily="34" charset="-122"/>
                <a:cs typeface="Arial" pitchFamily="34" charset="-120"/>
              </a:rPr>
              <a:t>…y todavía no puede responder:</a:t>
            </a:r>
            <a:endParaRPr lang="en-US" sz="1300" dirty="0"/>
          </a:p>
        </p:txBody>
      </p:sp>
      <p:sp>
        <p:nvSpPr>
          <p:cNvPr id="33" name="Shape 31"/>
          <p:cNvSpPr/>
          <p:nvPr/>
        </p:nvSpPr>
        <p:spPr>
          <a:xfrm>
            <a:off x="6400800" y="2258568"/>
            <a:ext cx="274320" cy="274320"/>
          </a:xfrm>
          <a:prstGeom prst="ellipse">
            <a:avLst/>
          </a:prstGeom>
          <a:solidFill>
            <a:srgbClr val="1C2541"/>
          </a:solidFill>
          <a:ln w="12700">
            <a:solidFill>
              <a:srgbClr val="1C2541"/>
            </a:solidFill>
            <a:prstDash val="solid"/>
          </a:ln>
        </p:spPr>
      </p:sp>
      <p:sp>
        <p:nvSpPr>
          <p:cNvPr id="34" name="Text 32"/>
          <p:cNvSpPr txBox="1"/>
          <p:nvPr/>
        </p:nvSpPr>
        <p:spPr>
          <a:xfrm>
            <a:off x="6400800" y="225856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1</a:t>
            </a:r>
            <a:endParaRPr lang="en-US" sz="1000" dirty="0"/>
          </a:p>
        </p:txBody>
      </p:sp>
      <p:sp>
        <p:nvSpPr>
          <p:cNvPr id="35" name="Text 33"/>
          <p:cNvSpPr txBox="1"/>
          <p:nvPr/>
        </p:nvSpPr>
        <p:spPr>
          <a:xfrm>
            <a:off x="6812280" y="2194560"/>
            <a:ext cx="4846320" cy="402336"/>
          </a:xfrm>
          <a:prstGeom prst="rect">
            <a:avLst/>
          </a:prstGeom>
          <a:noFill/>
          <a:ln/>
        </p:spPr>
        <p:txBody>
          <a:bodyPr wrap="square" lIns="0" tIns="0" rIns="0" bIns="0" rtlCol="0" anchor="ctr"/>
          <a:lstStyle/>
          <a:p>
            <a:pPr indent="0" marL="0">
              <a:buNone/>
            </a:pPr>
            <a:r>
              <a:rPr lang="en-US" sz="1500" dirty="0">
                <a:solidFill>
                  <a:srgbClr val="0B132B"/>
                </a:solidFill>
                <a:latin typeface="Arial" pitchFamily="34" charset="0"/>
                <a:ea typeface="Arial" pitchFamily="34" charset="-122"/>
                <a:cs typeface="Arial" pitchFamily="34" charset="-120"/>
              </a:rPr>
              <a:t>¿Qué vale realmente la pena?</a:t>
            </a:r>
            <a:endParaRPr lang="en-US" sz="1500" dirty="0"/>
          </a:p>
        </p:txBody>
      </p:sp>
      <p:sp>
        <p:nvSpPr>
          <p:cNvPr id="36" name="Shape 34"/>
          <p:cNvSpPr/>
          <p:nvPr/>
        </p:nvSpPr>
        <p:spPr>
          <a:xfrm>
            <a:off x="6400800" y="2715768"/>
            <a:ext cx="274320" cy="274320"/>
          </a:xfrm>
          <a:prstGeom prst="ellipse">
            <a:avLst/>
          </a:prstGeom>
          <a:solidFill>
            <a:srgbClr val="1C2541"/>
          </a:solidFill>
          <a:ln w="12700">
            <a:solidFill>
              <a:srgbClr val="1C2541"/>
            </a:solidFill>
            <a:prstDash val="solid"/>
          </a:ln>
        </p:spPr>
      </p:sp>
      <p:sp>
        <p:nvSpPr>
          <p:cNvPr id="37" name="Text 35"/>
          <p:cNvSpPr txBox="1"/>
          <p:nvPr/>
        </p:nvSpPr>
        <p:spPr>
          <a:xfrm>
            <a:off x="6400800" y="271576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2</a:t>
            </a:r>
            <a:endParaRPr lang="en-US" sz="1000" dirty="0"/>
          </a:p>
        </p:txBody>
      </p:sp>
      <p:sp>
        <p:nvSpPr>
          <p:cNvPr id="38" name="Text 36"/>
          <p:cNvSpPr txBox="1"/>
          <p:nvPr/>
        </p:nvSpPr>
        <p:spPr>
          <a:xfrm>
            <a:off x="6812280" y="2651760"/>
            <a:ext cx="4846320" cy="402336"/>
          </a:xfrm>
          <a:prstGeom prst="rect">
            <a:avLst/>
          </a:prstGeom>
          <a:noFill/>
          <a:ln/>
        </p:spPr>
        <p:txBody>
          <a:bodyPr wrap="square" lIns="0" tIns="0" rIns="0" bIns="0" rtlCol="0" anchor="ctr"/>
          <a:lstStyle/>
          <a:p>
            <a:pPr indent="0" marL="0">
              <a:buNone/>
            </a:pPr>
            <a:r>
              <a:rPr lang="en-US" sz="1500" dirty="0">
                <a:solidFill>
                  <a:srgbClr val="0B132B"/>
                </a:solidFill>
                <a:latin typeface="Arial" pitchFamily="34" charset="0"/>
                <a:ea typeface="Arial" pitchFamily="34" charset="-122"/>
                <a:cs typeface="Arial" pitchFamily="34" charset="-120"/>
              </a:rPr>
              <a:t>¿Qué encaja conmigo?</a:t>
            </a:r>
            <a:endParaRPr lang="en-US" sz="1500" dirty="0"/>
          </a:p>
        </p:txBody>
      </p:sp>
      <p:sp>
        <p:nvSpPr>
          <p:cNvPr id="39" name="Shape 37"/>
          <p:cNvSpPr/>
          <p:nvPr/>
        </p:nvSpPr>
        <p:spPr>
          <a:xfrm>
            <a:off x="6400800" y="3172968"/>
            <a:ext cx="274320" cy="274320"/>
          </a:xfrm>
          <a:prstGeom prst="ellipse">
            <a:avLst/>
          </a:prstGeom>
          <a:solidFill>
            <a:srgbClr val="1C2541"/>
          </a:solidFill>
          <a:ln w="12700">
            <a:solidFill>
              <a:srgbClr val="1C2541"/>
            </a:solidFill>
            <a:prstDash val="solid"/>
          </a:ln>
        </p:spPr>
      </p:sp>
      <p:sp>
        <p:nvSpPr>
          <p:cNvPr id="40" name="Text 38"/>
          <p:cNvSpPr txBox="1"/>
          <p:nvPr/>
        </p:nvSpPr>
        <p:spPr>
          <a:xfrm>
            <a:off x="6400800" y="317296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3</a:t>
            </a:r>
            <a:endParaRPr lang="en-US" sz="1000" dirty="0"/>
          </a:p>
        </p:txBody>
      </p:sp>
      <p:sp>
        <p:nvSpPr>
          <p:cNvPr id="41" name="Text 39"/>
          <p:cNvSpPr txBox="1"/>
          <p:nvPr/>
        </p:nvSpPr>
        <p:spPr>
          <a:xfrm>
            <a:off x="6812280" y="3108960"/>
            <a:ext cx="4846320" cy="402336"/>
          </a:xfrm>
          <a:prstGeom prst="rect">
            <a:avLst/>
          </a:prstGeom>
          <a:noFill/>
          <a:ln/>
        </p:spPr>
        <p:txBody>
          <a:bodyPr wrap="square" lIns="0" tIns="0" rIns="0" bIns="0" rtlCol="0" anchor="ctr"/>
          <a:lstStyle/>
          <a:p>
            <a:pPr indent="0" marL="0">
              <a:buNone/>
            </a:pPr>
            <a:r>
              <a:rPr lang="en-US" sz="1500" dirty="0">
                <a:solidFill>
                  <a:srgbClr val="0B132B"/>
                </a:solidFill>
                <a:latin typeface="Arial" pitchFamily="34" charset="0"/>
                <a:ea typeface="Arial" pitchFamily="34" charset="-122"/>
                <a:cs typeface="Arial" pitchFamily="34" charset="-120"/>
              </a:rPr>
              <a:t>¿Qué experiencias existen de verdad?</a:t>
            </a:r>
            <a:endParaRPr lang="en-US" sz="1500" dirty="0"/>
          </a:p>
        </p:txBody>
      </p:sp>
      <p:sp>
        <p:nvSpPr>
          <p:cNvPr id="42" name="Shape 40"/>
          <p:cNvSpPr/>
          <p:nvPr/>
        </p:nvSpPr>
        <p:spPr>
          <a:xfrm>
            <a:off x="6400800" y="3630168"/>
            <a:ext cx="274320" cy="274320"/>
          </a:xfrm>
          <a:prstGeom prst="ellipse">
            <a:avLst/>
          </a:prstGeom>
          <a:solidFill>
            <a:srgbClr val="1C2541"/>
          </a:solidFill>
          <a:ln w="12700">
            <a:solidFill>
              <a:srgbClr val="1C2541"/>
            </a:solidFill>
            <a:prstDash val="solid"/>
          </a:ln>
        </p:spPr>
      </p:sp>
      <p:sp>
        <p:nvSpPr>
          <p:cNvPr id="43" name="Text 41"/>
          <p:cNvSpPr txBox="1"/>
          <p:nvPr/>
        </p:nvSpPr>
        <p:spPr>
          <a:xfrm>
            <a:off x="6400800" y="363016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4</a:t>
            </a:r>
            <a:endParaRPr lang="en-US" sz="1000" dirty="0"/>
          </a:p>
        </p:txBody>
      </p:sp>
      <p:sp>
        <p:nvSpPr>
          <p:cNvPr id="44" name="Text 42"/>
          <p:cNvSpPr txBox="1"/>
          <p:nvPr/>
        </p:nvSpPr>
        <p:spPr>
          <a:xfrm>
            <a:off x="6812280" y="3566160"/>
            <a:ext cx="4846320" cy="402336"/>
          </a:xfrm>
          <a:prstGeom prst="rect">
            <a:avLst/>
          </a:prstGeom>
          <a:noFill/>
          <a:ln/>
        </p:spPr>
        <p:txBody>
          <a:bodyPr wrap="square" lIns="0" tIns="0" rIns="0" bIns="0" rtlCol="0" anchor="ctr"/>
          <a:lstStyle/>
          <a:p>
            <a:pPr indent="0" marL="0">
              <a:buNone/>
            </a:pPr>
            <a:r>
              <a:rPr lang="en-US" sz="1500" dirty="0">
                <a:solidFill>
                  <a:srgbClr val="0B132B"/>
                </a:solidFill>
                <a:latin typeface="Arial" pitchFamily="34" charset="0"/>
                <a:ea typeface="Arial" pitchFamily="34" charset="-122"/>
                <a:cs typeface="Arial" pitchFamily="34" charset="-120"/>
              </a:rPr>
              <a:t>¿Qué entra razonablemente en mi viaje?</a:t>
            </a:r>
            <a:endParaRPr lang="en-US" sz="1500" dirty="0"/>
          </a:p>
        </p:txBody>
      </p:sp>
      <p:sp>
        <p:nvSpPr>
          <p:cNvPr id="45" name="Shape 43"/>
          <p:cNvSpPr/>
          <p:nvPr/>
        </p:nvSpPr>
        <p:spPr>
          <a:xfrm>
            <a:off x="6400800" y="4087368"/>
            <a:ext cx="274320" cy="274320"/>
          </a:xfrm>
          <a:prstGeom prst="ellipse">
            <a:avLst/>
          </a:prstGeom>
          <a:solidFill>
            <a:srgbClr val="1C2541"/>
          </a:solidFill>
          <a:ln w="12700">
            <a:solidFill>
              <a:srgbClr val="1C2541"/>
            </a:solidFill>
            <a:prstDash val="solid"/>
          </a:ln>
        </p:spPr>
      </p:sp>
      <p:sp>
        <p:nvSpPr>
          <p:cNvPr id="46" name="Text 44"/>
          <p:cNvSpPr txBox="1"/>
          <p:nvPr/>
        </p:nvSpPr>
        <p:spPr>
          <a:xfrm>
            <a:off x="6400800" y="408736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5</a:t>
            </a:r>
            <a:endParaRPr lang="en-US" sz="1000" dirty="0"/>
          </a:p>
        </p:txBody>
      </p:sp>
      <p:sp>
        <p:nvSpPr>
          <p:cNvPr id="47" name="Text 45"/>
          <p:cNvSpPr txBox="1"/>
          <p:nvPr/>
        </p:nvSpPr>
        <p:spPr>
          <a:xfrm>
            <a:off x="6812280" y="4023360"/>
            <a:ext cx="4846320" cy="402336"/>
          </a:xfrm>
          <a:prstGeom prst="rect">
            <a:avLst/>
          </a:prstGeom>
          <a:noFill/>
          <a:ln/>
        </p:spPr>
        <p:txBody>
          <a:bodyPr wrap="square" lIns="0" tIns="0" rIns="0" bIns="0" rtlCol="0" anchor="ctr"/>
          <a:lstStyle/>
          <a:p>
            <a:pPr indent="0" marL="0">
              <a:buNone/>
            </a:pPr>
            <a:r>
              <a:rPr lang="en-US" sz="1500" dirty="0">
                <a:solidFill>
                  <a:srgbClr val="0B132B"/>
                </a:solidFill>
                <a:latin typeface="Arial" pitchFamily="34" charset="0"/>
                <a:ea typeface="Arial" pitchFamily="34" charset="-122"/>
                <a:cs typeface="Arial" pitchFamily="34" charset="-120"/>
              </a:rPr>
              <a:t>¿En qué información puedo confiar?</a:t>
            </a:r>
            <a:endParaRPr lang="en-US" sz="1500" dirty="0"/>
          </a:p>
        </p:txBody>
      </p:sp>
      <p:sp>
        <p:nvSpPr>
          <p:cNvPr id="48" name="Shape 46"/>
          <p:cNvSpPr/>
          <p:nvPr/>
        </p:nvSpPr>
        <p:spPr>
          <a:xfrm>
            <a:off x="594360" y="4892040"/>
            <a:ext cx="11002975" cy="1188720"/>
          </a:xfrm>
          <a:prstGeom prst="roundRect">
            <a:avLst>
              <a:gd name="adj" fmla="val 7692"/>
            </a:avLst>
          </a:prstGeom>
          <a:solidFill>
            <a:srgbClr val="0B132B"/>
          </a:solidFill>
          <a:ln w="9525">
            <a:solidFill>
              <a:srgbClr val="0B132B"/>
            </a:solidFill>
            <a:prstDash val="solid"/>
          </a:ln>
        </p:spPr>
      </p:sp>
      <p:sp>
        <p:nvSpPr>
          <p:cNvPr id="49" name="Text 47"/>
          <p:cNvSpPr txBox="1"/>
          <p:nvPr/>
        </p:nvSpPr>
        <p:spPr>
          <a:xfrm>
            <a:off x="1005840" y="4892040"/>
            <a:ext cx="10180015" cy="1188720"/>
          </a:xfrm>
          <a:prstGeom prst="rect">
            <a:avLst/>
          </a:prstGeom>
          <a:noFill/>
          <a:ln/>
        </p:spPr>
        <p:txBody>
          <a:bodyPr wrap="square" lIns="0" tIns="0" rIns="0" bIns="0" rtlCol="0" anchor="ctr"/>
          <a:lstStyle/>
          <a:p>
            <a:pPr indent="0" marL="0">
              <a:buNone/>
            </a:pPr>
            <a:r>
              <a:rPr lang="en-US" sz="2400" b="1" dirty="0">
                <a:solidFill>
                  <a:srgbClr val="FFFFFF"/>
                </a:solidFill>
                <a:latin typeface="Arial" pitchFamily="34" charset="0"/>
                <a:ea typeface="Arial" pitchFamily="34" charset="-122"/>
                <a:cs typeface="Arial" pitchFamily="34" charset="-120"/>
              </a:rPr>
              <a:t>El contenido de viaje abunda. </a:t>
            </a:r>
            <a:pPr indent="0" marL="0">
              <a:buNone/>
            </a:pPr>
            <a:r>
              <a:rPr lang="en-US" sz="2400" b="1" dirty="0">
                <a:solidFill>
                  <a:srgbClr val="5BC0BE"/>
                </a:solidFill>
                <a:latin typeface="Arial" pitchFamily="34" charset="0"/>
                <a:ea typeface="Arial" pitchFamily="34" charset="-122"/>
                <a:cs typeface="Arial" pitchFamily="34" charset="-120"/>
              </a:rPr>
              <a:t>Las decisiones confiables escasean.</a:t>
            </a:r>
            <a:endParaRPr lang="en-US" sz="2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1E8"/>
        </a:solidFill>
      </p:bgPr>
    </p:bg>
    <p:spTree>
      <p:nvGrpSpPr>
        <p:cNvPr id="1" name=""/>
        <p:cNvGrpSpPr/>
        <p:nvPr/>
      </p:nvGrpSpPr>
      <p:grpSpPr>
        <a:xfrm>
          <a:off x="0" y="0"/>
          <a:ext cx="0" cy="0"/>
          <a:chOff x="0" y="0"/>
          <a:chExt cx="0" cy="0"/>
        </a:xfrm>
      </p:grpSpPr>
      <p:sp>
        <p:nvSpPr>
          <p:cNvPr id="2" name="Shape 0"/>
          <p:cNvSpPr/>
          <p:nvPr/>
        </p:nvSpPr>
        <p:spPr>
          <a:xfrm flipV="1">
            <a:off x="594360" y="384048"/>
            <a:ext cx="120701" cy="98755"/>
          </a:xfrm>
          <a:prstGeom prst="line">
            <a:avLst/>
          </a:prstGeom>
          <a:noFill/>
          <a:ln w="22225">
            <a:solidFill>
              <a:srgbClr val="5BC0BE"/>
            </a:solidFill>
            <a:prstDash val="solid"/>
          </a:ln>
        </p:spPr>
      </p:sp>
      <p:sp>
        <p:nvSpPr>
          <p:cNvPr id="3" name="Shape 1"/>
          <p:cNvSpPr/>
          <p:nvPr/>
        </p:nvSpPr>
        <p:spPr>
          <a:xfrm>
            <a:off x="715061" y="384048"/>
            <a:ext cx="120701" cy="98755"/>
          </a:xfrm>
          <a:prstGeom prst="line">
            <a:avLst/>
          </a:prstGeom>
          <a:noFill/>
          <a:ln w="22225">
            <a:solidFill>
              <a:srgbClr val="5BC0BE"/>
            </a:solidFill>
            <a:prstDash val="solid"/>
          </a:ln>
        </p:spPr>
      </p:sp>
      <p:sp>
        <p:nvSpPr>
          <p:cNvPr id="4" name="Shape 2"/>
          <p:cNvSpPr/>
          <p:nvPr/>
        </p:nvSpPr>
        <p:spPr>
          <a:xfrm flipV="1">
            <a:off x="835762" y="384048"/>
            <a:ext cx="120701" cy="98755"/>
          </a:xfrm>
          <a:prstGeom prst="line">
            <a:avLst/>
          </a:prstGeom>
          <a:noFill/>
          <a:ln w="22225">
            <a:solidFill>
              <a:srgbClr val="5BC0BE"/>
            </a:solidFill>
            <a:prstDash val="solid"/>
          </a:ln>
        </p:spPr>
      </p:sp>
      <p:sp>
        <p:nvSpPr>
          <p:cNvPr id="5" name="Shape 3"/>
          <p:cNvSpPr/>
          <p:nvPr/>
        </p:nvSpPr>
        <p:spPr>
          <a:xfrm>
            <a:off x="566928" y="455371"/>
            <a:ext cx="54864" cy="54864"/>
          </a:xfrm>
          <a:prstGeom prst="ellipse">
            <a:avLst/>
          </a:prstGeom>
          <a:solidFill>
            <a:srgbClr val="5BC0BE"/>
          </a:solidFill>
          <a:ln w="12700">
            <a:solidFill>
              <a:srgbClr val="5BC0BE"/>
            </a:solidFill>
            <a:prstDash val="solid"/>
          </a:ln>
        </p:spPr>
      </p:sp>
      <p:sp>
        <p:nvSpPr>
          <p:cNvPr id="6" name="Shape 4"/>
          <p:cNvSpPr/>
          <p:nvPr/>
        </p:nvSpPr>
        <p:spPr>
          <a:xfrm>
            <a:off x="687629" y="356616"/>
            <a:ext cx="54864" cy="54864"/>
          </a:xfrm>
          <a:prstGeom prst="ellipse">
            <a:avLst/>
          </a:prstGeom>
          <a:solidFill>
            <a:srgbClr val="5BC0BE"/>
          </a:solidFill>
          <a:ln w="12700">
            <a:solidFill>
              <a:srgbClr val="5BC0BE"/>
            </a:solidFill>
            <a:prstDash val="solid"/>
          </a:ln>
        </p:spPr>
      </p:sp>
      <p:sp>
        <p:nvSpPr>
          <p:cNvPr id="7" name="Shape 5"/>
          <p:cNvSpPr/>
          <p:nvPr/>
        </p:nvSpPr>
        <p:spPr>
          <a:xfrm>
            <a:off x="808330" y="455371"/>
            <a:ext cx="54864" cy="54864"/>
          </a:xfrm>
          <a:prstGeom prst="ellipse">
            <a:avLst/>
          </a:prstGeom>
          <a:solidFill>
            <a:srgbClr val="5BC0BE"/>
          </a:solidFill>
          <a:ln w="12700">
            <a:solidFill>
              <a:srgbClr val="5BC0BE"/>
            </a:solidFill>
            <a:prstDash val="solid"/>
          </a:ln>
        </p:spPr>
      </p:sp>
      <p:sp>
        <p:nvSpPr>
          <p:cNvPr id="8" name="Shape 6"/>
          <p:cNvSpPr/>
          <p:nvPr/>
        </p:nvSpPr>
        <p:spPr>
          <a:xfrm>
            <a:off x="929030" y="356616"/>
            <a:ext cx="54864" cy="54864"/>
          </a:xfrm>
          <a:prstGeom prst="ellipse">
            <a:avLst/>
          </a:prstGeom>
          <a:solidFill>
            <a:srgbClr val="5BC0BE"/>
          </a:solidFill>
          <a:ln w="12700">
            <a:solidFill>
              <a:srgbClr val="5BC0BE"/>
            </a:solidFill>
            <a:prstDash val="solid"/>
          </a:ln>
        </p:spPr>
      </p:sp>
      <p:sp>
        <p:nvSpPr>
          <p:cNvPr id="9" name="Shape 7"/>
          <p:cNvSpPr/>
          <p:nvPr/>
        </p:nvSpPr>
        <p:spPr>
          <a:xfrm>
            <a:off x="1143000" y="329184"/>
            <a:ext cx="941832" cy="274320"/>
          </a:xfrm>
          <a:prstGeom prst="roundRect">
            <a:avLst>
              <a:gd name="adj" fmla="val 50000"/>
            </a:avLst>
          </a:prstGeom>
          <a:solidFill>
            <a:srgbClr val="ECE6D8"/>
          </a:solidFill>
          <a:ln w="12700">
            <a:solidFill>
              <a:srgbClr val="ECE6D8"/>
            </a:solidFill>
            <a:prstDash val="solid"/>
          </a:ln>
        </p:spPr>
      </p:sp>
      <p:sp>
        <p:nvSpPr>
          <p:cNvPr id="10" name="Text 8"/>
          <p:cNvSpPr txBox="1"/>
          <p:nvPr/>
        </p:nvSpPr>
        <p:spPr>
          <a:xfrm>
            <a:off x="1143000" y="329184"/>
            <a:ext cx="941832" cy="274320"/>
          </a:xfrm>
          <a:prstGeom prst="rect">
            <a:avLst/>
          </a:prstGeom>
          <a:noFill/>
          <a:ln/>
        </p:spPr>
        <p:txBody>
          <a:bodyPr wrap="square" lIns="0" tIns="0" rIns="0" bIns="0" rtlCol="0" anchor="ctr"/>
          <a:lstStyle/>
          <a:p>
            <a:pPr algn="ctr" indent="0" marL="0">
              <a:buNone/>
            </a:pPr>
            <a:r>
              <a:rPr lang="en-US" sz="900" b="1" spc="150" kern="0" dirty="0">
                <a:solidFill>
                  <a:srgbClr val="6B7385"/>
                </a:solidFill>
                <a:latin typeface="Arial" pitchFamily="34" charset="0"/>
                <a:ea typeface="Arial" pitchFamily="34" charset="-122"/>
                <a:cs typeface="Arial" pitchFamily="34" charset="-120"/>
              </a:rPr>
              <a:t>CONTEXTO</a:t>
            </a:r>
            <a:endParaRPr lang="en-US" sz="900" dirty="0"/>
          </a:p>
        </p:txBody>
      </p:sp>
      <p:sp>
        <p:nvSpPr>
          <p:cNvPr id="11" name="Text 9"/>
          <p:cNvSpPr txBox="1"/>
          <p:nvPr/>
        </p:nvSpPr>
        <p:spPr>
          <a:xfrm>
            <a:off x="594360" y="777240"/>
            <a:ext cx="11002975" cy="731520"/>
          </a:xfrm>
          <a:prstGeom prst="rect">
            <a:avLst/>
          </a:prstGeom>
          <a:noFill/>
          <a:ln/>
        </p:spPr>
        <p:txBody>
          <a:bodyPr wrap="square" lIns="0" tIns="0" rIns="0" bIns="0" rtlCol="0" anchor="t"/>
          <a:lstStyle/>
          <a:p>
            <a:pPr indent="0" marL="0">
              <a:buNone/>
            </a:pPr>
            <a:r>
              <a:rPr lang="en-US" sz="3000" b="1" dirty="0">
                <a:solidFill>
                  <a:srgbClr val="0B132B"/>
                </a:solidFill>
                <a:latin typeface="Arial" pitchFamily="34" charset="0"/>
                <a:ea typeface="Arial" pitchFamily="34" charset="-122"/>
                <a:cs typeface="Arial" pitchFamily="34" charset="-120"/>
              </a:rPr>
              <a:t>Plausible no alcanza.</a:t>
            </a:r>
            <a:endParaRPr lang="en-US" sz="3000" dirty="0"/>
          </a:p>
        </p:txBody>
      </p:sp>
      <p:sp>
        <p:nvSpPr>
          <p:cNvPr id="12" name="Text 10"/>
          <p:cNvSpPr txBox="1"/>
          <p:nvPr/>
        </p:nvSpPr>
        <p:spPr>
          <a:xfrm>
            <a:off x="594360" y="6473952"/>
            <a:ext cx="7315200" cy="182880"/>
          </a:xfrm>
          <a:prstGeom prst="rect">
            <a:avLst/>
          </a:prstGeom>
          <a:noFill/>
          <a:ln/>
        </p:spPr>
        <p:txBody>
          <a:bodyPr wrap="square" lIns="0" tIns="0" rIns="0" bIns="0" rtlCol="0" anchor="t"/>
          <a:lstStyle/>
          <a:p>
            <a:pPr indent="0" marL="0">
              <a:buNone/>
            </a:pPr>
            <a:r>
              <a:rPr lang="en-US" sz="850" dirty="0">
                <a:solidFill>
                  <a:srgbClr val="6B7385"/>
                </a:solidFill>
                <a:latin typeface="Arial" pitchFamily="34" charset="0"/>
                <a:ea typeface="Arial" pitchFamily="34" charset="-122"/>
                <a:cs typeface="Arial" pitchFamily="34" charset="-120"/>
              </a:rPr>
              <a:t>Zig-Zag · Business, Product &amp; Strategy Update · Septiembre 2026</a:t>
            </a:r>
            <a:endParaRPr lang="en-US" sz="850" dirty="0"/>
          </a:p>
        </p:txBody>
      </p:sp>
      <p:sp>
        <p:nvSpPr>
          <p:cNvPr id="13" name="Text 11"/>
          <p:cNvSpPr txBox="1"/>
          <p:nvPr/>
        </p:nvSpPr>
        <p:spPr>
          <a:xfrm>
            <a:off x="11048695" y="6473952"/>
            <a:ext cx="548640" cy="182880"/>
          </a:xfrm>
          <a:prstGeom prst="rect">
            <a:avLst/>
          </a:prstGeom>
          <a:noFill/>
          <a:ln/>
        </p:spPr>
        <p:txBody>
          <a:bodyPr wrap="square" lIns="0" tIns="0" rIns="0" bIns="0" rtlCol="0" anchor="t"/>
          <a:lstStyle/>
          <a:p>
            <a:pPr algn="r" indent="0" marL="0">
              <a:buNone/>
            </a:pPr>
            <a:r>
              <a:rPr lang="en-US" sz="850" dirty="0">
                <a:solidFill>
                  <a:srgbClr val="6B7385"/>
                </a:solidFill>
                <a:latin typeface="Arial" pitchFamily="34" charset="0"/>
                <a:ea typeface="Arial" pitchFamily="34" charset="-122"/>
                <a:cs typeface="Arial" pitchFamily="34" charset="-120"/>
              </a:rPr>
              <a:t>3</a:t>
            </a:r>
            <a:endParaRPr lang="en-US" sz="850" dirty="0"/>
          </a:p>
        </p:txBody>
      </p:sp>
      <p:sp>
        <p:nvSpPr>
          <p:cNvPr id="14" name="Shape 12"/>
          <p:cNvSpPr/>
          <p:nvPr/>
        </p:nvSpPr>
        <p:spPr>
          <a:xfrm>
            <a:off x="594360" y="1737360"/>
            <a:ext cx="5303520" cy="4343400"/>
          </a:xfrm>
          <a:prstGeom prst="roundRect">
            <a:avLst>
              <a:gd name="adj" fmla="val 2526"/>
            </a:avLst>
          </a:prstGeom>
          <a:solidFill>
            <a:srgbClr val="ECE6D8"/>
          </a:solidFill>
          <a:ln w="9525">
            <a:solidFill>
              <a:srgbClr val="ECE6D8"/>
            </a:solidFill>
            <a:prstDash val="solid"/>
          </a:ln>
        </p:spPr>
      </p:sp>
      <p:sp>
        <p:nvSpPr>
          <p:cNvPr id="15" name="Text 13"/>
          <p:cNvSpPr txBox="1"/>
          <p:nvPr/>
        </p:nvSpPr>
        <p:spPr>
          <a:xfrm>
            <a:off x="960120" y="1965960"/>
            <a:ext cx="4572000" cy="411480"/>
          </a:xfrm>
          <a:prstGeom prst="rect">
            <a:avLst/>
          </a:prstGeom>
          <a:noFill/>
          <a:ln/>
        </p:spPr>
        <p:txBody>
          <a:bodyPr wrap="square" lIns="0" tIns="0" rIns="0" bIns="0" rtlCol="0" anchor="t"/>
          <a:lstStyle/>
          <a:p>
            <a:pPr indent="0" marL="0">
              <a:buNone/>
            </a:pPr>
            <a:r>
              <a:rPr lang="en-US" sz="2000" b="1" dirty="0">
                <a:solidFill>
                  <a:srgbClr val="3D4659"/>
                </a:solidFill>
                <a:latin typeface="Arial" pitchFamily="34" charset="0"/>
                <a:ea typeface="Arial" pitchFamily="34" charset="-122"/>
                <a:cs typeface="Arial" pitchFamily="34" charset="-120"/>
              </a:rPr>
              <a:t>IA generativa genérica</a:t>
            </a:r>
            <a:endParaRPr lang="en-US" sz="2000" dirty="0"/>
          </a:p>
        </p:txBody>
      </p:sp>
      <p:pic>
        <p:nvPicPr>
          <p:cNvPr id="16" name="Image 0" descr="preencoded.png">    </p:cNvPr>
          <p:cNvPicPr>
            <a:picLocks noChangeAspect="1"/>
          </p:cNvPicPr>
          <p:nvPr/>
        </p:nvPicPr>
        <p:blipFill>
          <a:blip r:embed="rId1"/>
          <a:stretch>
            <a:fillRect/>
          </a:stretch>
        </p:blipFill>
        <p:spPr>
          <a:xfrm>
            <a:off x="1005840" y="2697480"/>
            <a:ext cx="182880" cy="182880"/>
          </a:xfrm>
          <a:prstGeom prst="rect">
            <a:avLst/>
          </a:prstGeom>
        </p:spPr>
      </p:pic>
      <p:sp>
        <p:nvSpPr>
          <p:cNvPr id="17" name="Text 14"/>
          <p:cNvSpPr txBox="1"/>
          <p:nvPr/>
        </p:nvSpPr>
        <p:spPr>
          <a:xfrm>
            <a:off x="1371600" y="2606040"/>
            <a:ext cx="4297680" cy="384048"/>
          </a:xfrm>
          <a:prstGeom prst="rect">
            <a:avLst/>
          </a:prstGeom>
          <a:noFill/>
          <a:ln/>
        </p:spPr>
        <p:txBody>
          <a:bodyPr wrap="square" lIns="0" tIns="0" rIns="0" bIns="0" rtlCol="0" anchor="ctr"/>
          <a:lstStyle/>
          <a:p>
            <a:pPr indent="0" marL="0">
              <a:buNone/>
            </a:pPr>
            <a:r>
              <a:rPr lang="en-US" sz="1500" dirty="0">
                <a:solidFill>
                  <a:srgbClr val="3D4659"/>
                </a:solidFill>
                <a:latin typeface="Arial" pitchFamily="34" charset="0"/>
                <a:ea typeface="Arial" pitchFamily="34" charset="-122"/>
                <a:cs typeface="Arial" pitchFamily="34" charset="-120"/>
              </a:rPr>
              <a:t>Plausible y rápida</a:t>
            </a:r>
            <a:endParaRPr lang="en-US" sz="1500" dirty="0"/>
          </a:p>
        </p:txBody>
      </p:sp>
      <p:pic>
        <p:nvPicPr>
          <p:cNvPr id="18" name="Image 1" descr="preencoded.png">    </p:cNvPr>
          <p:cNvPicPr>
            <a:picLocks noChangeAspect="1"/>
          </p:cNvPicPr>
          <p:nvPr/>
        </p:nvPicPr>
        <p:blipFill>
          <a:blip r:embed="rId2"/>
          <a:stretch>
            <a:fillRect/>
          </a:stretch>
        </p:blipFill>
        <p:spPr>
          <a:xfrm>
            <a:off x="1005840" y="3300984"/>
            <a:ext cx="182880" cy="182880"/>
          </a:xfrm>
          <a:prstGeom prst="rect">
            <a:avLst/>
          </a:prstGeom>
        </p:spPr>
      </p:pic>
      <p:sp>
        <p:nvSpPr>
          <p:cNvPr id="19" name="Text 15"/>
          <p:cNvSpPr txBox="1"/>
          <p:nvPr/>
        </p:nvSpPr>
        <p:spPr>
          <a:xfrm>
            <a:off x="1371600" y="3209544"/>
            <a:ext cx="4297680" cy="384048"/>
          </a:xfrm>
          <a:prstGeom prst="rect">
            <a:avLst/>
          </a:prstGeom>
          <a:noFill/>
          <a:ln/>
        </p:spPr>
        <p:txBody>
          <a:bodyPr wrap="square" lIns="0" tIns="0" rIns="0" bIns="0" rtlCol="0" anchor="ctr"/>
          <a:lstStyle/>
          <a:p>
            <a:pPr indent="0" marL="0">
              <a:buNone/>
            </a:pPr>
            <a:r>
              <a:rPr lang="en-US" sz="1500" dirty="0">
                <a:solidFill>
                  <a:srgbClr val="3D4659"/>
                </a:solidFill>
                <a:latin typeface="Arial" pitchFamily="34" charset="0"/>
                <a:ea typeface="Arial" pitchFamily="34" charset="-122"/>
                <a:cs typeface="Arial" pitchFamily="34" charset="-120"/>
              </a:rPr>
              <a:t>Flexible</a:t>
            </a:r>
            <a:endParaRPr lang="en-US" sz="1500" dirty="0"/>
          </a:p>
        </p:txBody>
      </p:sp>
      <p:pic>
        <p:nvPicPr>
          <p:cNvPr id="20" name="Image 2" descr="preencoded.png">    </p:cNvPr>
          <p:cNvPicPr>
            <a:picLocks noChangeAspect="1"/>
          </p:cNvPicPr>
          <p:nvPr/>
        </p:nvPicPr>
        <p:blipFill>
          <a:blip r:embed="rId3"/>
          <a:stretch>
            <a:fillRect/>
          </a:stretch>
        </p:blipFill>
        <p:spPr>
          <a:xfrm>
            <a:off x="1005840" y="3904488"/>
            <a:ext cx="182880" cy="182880"/>
          </a:xfrm>
          <a:prstGeom prst="rect">
            <a:avLst/>
          </a:prstGeom>
        </p:spPr>
      </p:pic>
      <p:sp>
        <p:nvSpPr>
          <p:cNvPr id="21" name="Text 16"/>
          <p:cNvSpPr txBox="1"/>
          <p:nvPr/>
        </p:nvSpPr>
        <p:spPr>
          <a:xfrm>
            <a:off x="1371600" y="3813048"/>
            <a:ext cx="4297680" cy="384048"/>
          </a:xfrm>
          <a:prstGeom prst="rect">
            <a:avLst/>
          </a:prstGeom>
          <a:noFill/>
          <a:ln/>
        </p:spPr>
        <p:txBody>
          <a:bodyPr wrap="square" lIns="0" tIns="0" rIns="0" bIns="0" rtlCol="0" anchor="ctr"/>
          <a:lstStyle/>
          <a:p>
            <a:pPr indent="0" marL="0">
              <a:buNone/>
            </a:pPr>
            <a:r>
              <a:rPr lang="en-US" sz="1500" dirty="0">
                <a:solidFill>
                  <a:srgbClr val="3D4659"/>
                </a:solidFill>
                <a:latin typeface="Arial" pitchFamily="34" charset="0"/>
                <a:ea typeface="Arial" pitchFamily="34" charset="-122"/>
                <a:cs typeface="Arial" pitchFamily="34" charset="-120"/>
              </a:rPr>
              <a:t>Puede alucinar lugares o recorridos</a:t>
            </a:r>
            <a:endParaRPr lang="en-US" sz="1500" dirty="0"/>
          </a:p>
        </p:txBody>
      </p:sp>
      <p:pic>
        <p:nvPicPr>
          <p:cNvPr id="22" name="Image 3" descr="preencoded.png">    </p:cNvPr>
          <p:cNvPicPr>
            <a:picLocks noChangeAspect="1"/>
          </p:cNvPicPr>
          <p:nvPr/>
        </p:nvPicPr>
        <p:blipFill>
          <a:blip r:embed="rId4"/>
          <a:stretch>
            <a:fillRect/>
          </a:stretch>
        </p:blipFill>
        <p:spPr>
          <a:xfrm>
            <a:off x="1005840" y="4507992"/>
            <a:ext cx="182880" cy="182880"/>
          </a:xfrm>
          <a:prstGeom prst="rect">
            <a:avLst/>
          </a:prstGeom>
        </p:spPr>
      </p:pic>
      <p:sp>
        <p:nvSpPr>
          <p:cNvPr id="23" name="Text 17"/>
          <p:cNvSpPr txBox="1"/>
          <p:nvPr/>
        </p:nvSpPr>
        <p:spPr>
          <a:xfrm>
            <a:off x="1371600" y="4416552"/>
            <a:ext cx="4297680" cy="384048"/>
          </a:xfrm>
          <a:prstGeom prst="rect">
            <a:avLst/>
          </a:prstGeom>
          <a:noFill/>
          <a:ln/>
        </p:spPr>
        <p:txBody>
          <a:bodyPr wrap="square" lIns="0" tIns="0" rIns="0" bIns="0" rtlCol="0" anchor="ctr"/>
          <a:lstStyle/>
          <a:p>
            <a:pPr indent="0" marL="0">
              <a:buNone/>
            </a:pPr>
            <a:r>
              <a:rPr lang="en-US" sz="1500" dirty="0">
                <a:solidFill>
                  <a:srgbClr val="3D4659"/>
                </a:solidFill>
                <a:latin typeface="Arial" pitchFamily="34" charset="0"/>
                <a:ea typeface="Arial" pitchFamily="34" charset="-122"/>
                <a:cs typeface="Arial" pitchFamily="34" charset="-120"/>
              </a:rPr>
              <a:t>No construye conocimiento durable del mundo</a:t>
            </a:r>
            <a:endParaRPr lang="en-US" sz="1500" dirty="0"/>
          </a:p>
        </p:txBody>
      </p:sp>
      <p:pic>
        <p:nvPicPr>
          <p:cNvPr id="24" name="Image 4" descr="preencoded.png">    </p:cNvPr>
          <p:cNvPicPr>
            <a:picLocks noChangeAspect="1"/>
          </p:cNvPicPr>
          <p:nvPr/>
        </p:nvPicPr>
        <p:blipFill>
          <a:blip r:embed="rId5"/>
          <a:stretch>
            <a:fillRect/>
          </a:stretch>
        </p:blipFill>
        <p:spPr>
          <a:xfrm>
            <a:off x="1005840" y="5111496"/>
            <a:ext cx="182880" cy="182880"/>
          </a:xfrm>
          <a:prstGeom prst="rect">
            <a:avLst/>
          </a:prstGeom>
        </p:spPr>
      </p:pic>
      <p:sp>
        <p:nvSpPr>
          <p:cNvPr id="25" name="Text 18"/>
          <p:cNvSpPr txBox="1"/>
          <p:nvPr/>
        </p:nvSpPr>
        <p:spPr>
          <a:xfrm>
            <a:off x="1371600" y="5020056"/>
            <a:ext cx="4297680" cy="384048"/>
          </a:xfrm>
          <a:prstGeom prst="rect">
            <a:avLst/>
          </a:prstGeom>
          <a:noFill/>
          <a:ln/>
        </p:spPr>
        <p:txBody>
          <a:bodyPr wrap="square" lIns="0" tIns="0" rIns="0" bIns="0" rtlCol="0" anchor="ctr"/>
          <a:lstStyle/>
          <a:p>
            <a:pPr indent="0" marL="0">
              <a:buNone/>
            </a:pPr>
            <a:r>
              <a:rPr lang="en-US" sz="1500" dirty="0">
                <a:solidFill>
                  <a:srgbClr val="3D4659"/>
                </a:solidFill>
                <a:latin typeface="Arial" pitchFamily="34" charset="0"/>
                <a:ea typeface="Arial" pitchFamily="34" charset="-122"/>
                <a:cs typeface="Arial" pitchFamily="34" charset="-120"/>
              </a:rPr>
              <a:t>Rara vez puede explicar de dónde sale cada dato</a:t>
            </a:r>
            <a:endParaRPr lang="en-US" sz="1500" dirty="0"/>
          </a:p>
        </p:txBody>
      </p:sp>
      <p:sp>
        <p:nvSpPr>
          <p:cNvPr id="26" name="Shape 19"/>
          <p:cNvSpPr/>
          <p:nvPr/>
        </p:nvSpPr>
        <p:spPr>
          <a:xfrm>
            <a:off x="6291072" y="1737360"/>
            <a:ext cx="5303520" cy="4343400"/>
          </a:xfrm>
          <a:prstGeom prst="roundRect">
            <a:avLst>
              <a:gd name="adj" fmla="val 2526"/>
            </a:avLst>
          </a:prstGeom>
          <a:solidFill>
            <a:srgbClr val="0B132B"/>
          </a:solidFill>
          <a:ln w="9525">
            <a:solidFill>
              <a:srgbClr val="0B132B"/>
            </a:solidFill>
            <a:prstDash val="solid"/>
          </a:ln>
        </p:spPr>
      </p:sp>
      <p:sp>
        <p:nvSpPr>
          <p:cNvPr id="27" name="Text 20"/>
          <p:cNvSpPr txBox="1"/>
          <p:nvPr/>
        </p:nvSpPr>
        <p:spPr>
          <a:xfrm>
            <a:off x="6656832" y="1965960"/>
            <a:ext cx="4572000" cy="411480"/>
          </a:xfrm>
          <a:prstGeom prst="rect">
            <a:avLst/>
          </a:prstGeom>
          <a:noFill/>
          <a:ln/>
        </p:spPr>
        <p:txBody>
          <a:bodyPr wrap="square" lIns="0" tIns="0" rIns="0" bIns="0" rtlCol="0" anchor="t"/>
          <a:lstStyle/>
          <a:p>
            <a:pPr indent="0" marL="0">
              <a:buNone/>
            </a:pPr>
            <a:r>
              <a:rPr lang="en-US" sz="2000" b="1" dirty="0">
                <a:solidFill>
                  <a:srgbClr val="5BC0BE"/>
                </a:solidFill>
                <a:latin typeface="Arial" pitchFamily="34" charset="0"/>
                <a:ea typeface="Arial" pitchFamily="34" charset="-122"/>
                <a:cs typeface="Arial" pitchFamily="34" charset="-120"/>
              </a:rPr>
              <a:t>Zig-Zag</a:t>
            </a:r>
            <a:endParaRPr lang="en-US" sz="2000" dirty="0"/>
          </a:p>
        </p:txBody>
      </p:sp>
      <p:pic>
        <p:nvPicPr>
          <p:cNvPr id="28" name="Image 5" descr="preencoded.png">    </p:cNvPr>
          <p:cNvPicPr>
            <a:picLocks noChangeAspect="1"/>
          </p:cNvPicPr>
          <p:nvPr/>
        </p:nvPicPr>
        <p:blipFill>
          <a:blip r:embed="rId6"/>
          <a:stretch>
            <a:fillRect/>
          </a:stretch>
        </p:blipFill>
        <p:spPr>
          <a:xfrm>
            <a:off x="6702552" y="2697480"/>
            <a:ext cx="201168" cy="201168"/>
          </a:xfrm>
          <a:prstGeom prst="rect">
            <a:avLst/>
          </a:prstGeom>
        </p:spPr>
      </p:pic>
      <p:sp>
        <p:nvSpPr>
          <p:cNvPr id="29" name="Text 21"/>
          <p:cNvSpPr txBox="1"/>
          <p:nvPr/>
        </p:nvSpPr>
        <p:spPr>
          <a:xfrm>
            <a:off x="7086600" y="2606040"/>
            <a:ext cx="4389120" cy="384048"/>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Basado en fuentes reales</a:t>
            </a:r>
            <a:endParaRPr lang="en-US" sz="1500" dirty="0"/>
          </a:p>
        </p:txBody>
      </p:sp>
      <p:pic>
        <p:nvPicPr>
          <p:cNvPr id="30" name="Image 6" descr="preencoded.png">    </p:cNvPr>
          <p:cNvPicPr>
            <a:picLocks noChangeAspect="1"/>
          </p:cNvPicPr>
          <p:nvPr/>
        </p:nvPicPr>
        <p:blipFill>
          <a:blip r:embed="rId7"/>
          <a:stretch>
            <a:fillRect/>
          </a:stretch>
        </p:blipFill>
        <p:spPr>
          <a:xfrm>
            <a:off x="6702552" y="3246120"/>
            <a:ext cx="201168" cy="201168"/>
          </a:xfrm>
          <a:prstGeom prst="rect">
            <a:avLst/>
          </a:prstGeom>
        </p:spPr>
      </p:pic>
      <p:sp>
        <p:nvSpPr>
          <p:cNvPr id="31" name="Text 22"/>
          <p:cNvSpPr txBox="1"/>
          <p:nvPr/>
        </p:nvSpPr>
        <p:spPr>
          <a:xfrm>
            <a:off x="7086600" y="3154680"/>
            <a:ext cx="4389120" cy="384048"/>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Verifica que cada lugar exista y sea el correcto</a:t>
            </a:r>
            <a:endParaRPr lang="en-US" sz="1500" dirty="0"/>
          </a:p>
        </p:txBody>
      </p:sp>
      <p:pic>
        <p:nvPicPr>
          <p:cNvPr id="32" name="Image 7" descr="preencoded.png">    </p:cNvPr>
          <p:cNvPicPr>
            <a:picLocks noChangeAspect="1"/>
          </p:cNvPicPr>
          <p:nvPr/>
        </p:nvPicPr>
        <p:blipFill>
          <a:blip r:embed="rId8"/>
          <a:stretch>
            <a:fillRect/>
          </a:stretch>
        </p:blipFill>
        <p:spPr>
          <a:xfrm>
            <a:off x="6702552" y="3794760"/>
            <a:ext cx="201168" cy="201168"/>
          </a:xfrm>
          <a:prstGeom prst="rect">
            <a:avLst/>
          </a:prstGeom>
        </p:spPr>
      </p:pic>
      <p:sp>
        <p:nvSpPr>
          <p:cNvPr id="33" name="Text 23"/>
          <p:cNvSpPr txBox="1"/>
          <p:nvPr/>
        </p:nvSpPr>
        <p:spPr>
          <a:xfrm>
            <a:off x="7086600" y="3703320"/>
            <a:ext cx="4389120" cy="384048"/>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Consciente de la geografía</a:t>
            </a:r>
            <a:endParaRPr lang="en-US" sz="1500" dirty="0"/>
          </a:p>
        </p:txBody>
      </p:sp>
      <p:pic>
        <p:nvPicPr>
          <p:cNvPr id="34" name="Image 8" descr="preencoded.png">    </p:cNvPr>
          <p:cNvPicPr>
            <a:picLocks noChangeAspect="1"/>
          </p:cNvPicPr>
          <p:nvPr/>
        </p:nvPicPr>
        <p:blipFill>
          <a:blip r:embed="rId9"/>
          <a:stretch>
            <a:fillRect/>
          </a:stretch>
        </p:blipFill>
        <p:spPr>
          <a:xfrm>
            <a:off x="6702552" y="4343400"/>
            <a:ext cx="201168" cy="201168"/>
          </a:xfrm>
          <a:prstGeom prst="rect">
            <a:avLst/>
          </a:prstGeom>
        </p:spPr>
      </p:pic>
      <p:sp>
        <p:nvSpPr>
          <p:cNvPr id="35" name="Text 24"/>
          <p:cNvSpPr txBox="1"/>
          <p:nvPr/>
        </p:nvSpPr>
        <p:spPr>
          <a:xfrm>
            <a:off x="7086600" y="4251960"/>
            <a:ext cx="4389120" cy="384048"/>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Parte de tus preferencias</a:t>
            </a:r>
            <a:endParaRPr lang="en-US" sz="1500" dirty="0"/>
          </a:p>
        </p:txBody>
      </p:sp>
      <p:pic>
        <p:nvPicPr>
          <p:cNvPr id="36" name="Image 9" descr="preencoded.png">    </p:cNvPr>
          <p:cNvPicPr>
            <a:picLocks noChangeAspect="1"/>
          </p:cNvPicPr>
          <p:nvPr/>
        </p:nvPicPr>
        <p:blipFill>
          <a:blip r:embed="rId10"/>
          <a:stretch>
            <a:fillRect/>
          </a:stretch>
        </p:blipFill>
        <p:spPr>
          <a:xfrm>
            <a:off x="6702552" y="4892040"/>
            <a:ext cx="201168" cy="201168"/>
          </a:xfrm>
          <a:prstGeom prst="rect">
            <a:avLst/>
          </a:prstGeom>
        </p:spPr>
      </p:pic>
      <p:sp>
        <p:nvSpPr>
          <p:cNvPr id="37" name="Text 25"/>
          <p:cNvSpPr txBox="1"/>
          <p:nvPr/>
        </p:nvSpPr>
        <p:spPr>
          <a:xfrm>
            <a:off x="7086600" y="4800600"/>
            <a:ext cx="4389120" cy="384048"/>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Reutilizable: cada hallazgo se guarda</a:t>
            </a:r>
            <a:endParaRPr lang="en-US" sz="1500" dirty="0"/>
          </a:p>
        </p:txBody>
      </p:sp>
      <p:pic>
        <p:nvPicPr>
          <p:cNvPr id="38" name="Image 10" descr="preencoded.png">    </p:cNvPr>
          <p:cNvPicPr>
            <a:picLocks noChangeAspect="1"/>
          </p:cNvPicPr>
          <p:nvPr/>
        </p:nvPicPr>
        <p:blipFill>
          <a:blip r:embed="rId11"/>
          <a:stretch>
            <a:fillRect/>
          </a:stretch>
        </p:blipFill>
        <p:spPr>
          <a:xfrm>
            <a:off x="6702552" y="5440680"/>
            <a:ext cx="201168" cy="201168"/>
          </a:xfrm>
          <a:prstGeom prst="rect">
            <a:avLst/>
          </a:prstGeom>
        </p:spPr>
      </p:pic>
      <p:sp>
        <p:nvSpPr>
          <p:cNvPr id="39" name="Text 26"/>
          <p:cNvSpPr txBox="1"/>
          <p:nvPr/>
        </p:nvSpPr>
        <p:spPr>
          <a:xfrm>
            <a:off x="7086600" y="5349240"/>
            <a:ext cx="4389120" cy="384048"/>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Trazable: cada decisión se explica</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132B"/>
        </a:solidFill>
      </p:bgPr>
    </p:bg>
    <p:spTree>
      <p:nvGrpSpPr>
        <p:cNvPr id="1" name=""/>
        <p:cNvGrpSpPr/>
        <p:nvPr/>
      </p:nvGrpSpPr>
      <p:grpSpPr>
        <a:xfrm>
          <a:off x="0" y="0"/>
          <a:ext cx="0" cy="0"/>
          <a:chOff x="0" y="0"/>
          <a:chExt cx="0" cy="0"/>
        </a:xfrm>
      </p:grpSpPr>
      <p:sp>
        <p:nvSpPr>
          <p:cNvPr id="2" name="Shape 0"/>
          <p:cNvSpPr/>
          <p:nvPr/>
        </p:nvSpPr>
        <p:spPr>
          <a:xfrm flipV="1">
            <a:off x="594360" y="384048"/>
            <a:ext cx="120701" cy="98755"/>
          </a:xfrm>
          <a:prstGeom prst="line">
            <a:avLst/>
          </a:prstGeom>
          <a:noFill/>
          <a:ln w="22225">
            <a:solidFill>
              <a:srgbClr val="5BC0BE"/>
            </a:solidFill>
            <a:prstDash val="solid"/>
          </a:ln>
        </p:spPr>
      </p:sp>
      <p:sp>
        <p:nvSpPr>
          <p:cNvPr id="3" name="Shape 1"/>
          <p:cNvSpPr/>
          <p:nvPr/>
        </p:nvSpPr>
        <p:spPr>
          <a:xfrm>
            <a:off x="715061" y="384048"/>
            <a:ext cx="120701" cy="98755"/>
          </a:xfrm>
          <a:prstGeom prst="line">
            <a:avLst/>
          </a:prstGeom>
          <a:noFill/>
          <a:ln w="22225">
            <a:solidFill>
              <a:srgbClr val="5BC0BE"/>
            </a:solidFill>
            <a:prstDash val="solid"/>
          </a:ln>
        </p:spPr>
      </p:sp>
      <p:sp>
        <p:nvSpPr>
          <p:cNvPr id="4" name="Shape 2"/>
          <p:cNvSpPr/>
          <p:nvPr/>
        </p:nvSpPr>
        <p:spPr>
          <a:xfrm flipV="1">
            <a:off x="835762" y="384048"/>
            <a:ext cx="120701" cy="98755"/>
          </a:xfrm>
          <a:prstGeom prst="line">
            <a:avLst/>
          </a:prstGeom>
          <a:noFill/>
          <a:ln w="22225">
            <a:solidFill>
              <a:srgbClr val="5BC0BE"/>
            </a:solidFill>
            <a:prstDash val="solid"/>
          </a:ln>
        </p:spPr>
      </p:sp>
      <p:sp>
        <p:nvSpPr>
          <p:cNvPr id="5" name="Shape 3"/>
          <p:cNvSpPr/>
          <p:nvPr/>
        </p:nvSpPr>
        <p:spPr>
          <a:xfrm>
            <a:off x="566928" y="455371"/>
            <a:ext cx="54864" cy="54864"/>
          </a:xfrm>
          <a:prstGeom prst="ellipse">
            <a:avLst/>
          </a:prstGeom>
          <a:solidFill>
            <a:srgbClr val="5BC0BE"/>
          </a:solidFill>
          <a:ln w="12700">
            <a:solidFill>
              <a:srgbClr val="5BC0BE"/>
            </a:solidFill>
            <a:prstDash val="solid"/>
          </a:ln>
        </p:spPr>
      </p:sp>
      <p:sp>
        <p:nvSpPr>
          <p:cNvPr id="6" name="Shape 4"/>
          <p:cNvSpPr/>
          <p:nvPr/>
        </p:nvSpPr>
        <p:spPr>
          <a:xfrm>
            <a:off x="687629" y="356616"/>
            <a:ext cx="54864" cy="54864"/>
          </a:xfrm>
          <a:prstGeom prst="ellipse">
            <a:avLst/>
          </a:prstGeom>
          <a:solidFill>
            <a:srgbClr val="5BC0BE"/>
          </a:solidFill>
          <a:ln w="12700">
            <a:solidFill>
              <a:srgbClr val="5BC0BE"/>
            </a:solidFill>
            <a:prstDash val="solid"/>
          </a:ln>
        </p:spPr>
      </p:sp>
      <p:sp>
        <p:nvSpPr>
          <p:cNvPr id="7" name="Shape 5"/>
          <p:cNvSpPr/>
          <p:nvPr/>
        </p:nvSpPr>
        <p:spPr>
          <a:xfrm>
            <a:off x="808330" y="455371"/>
            <a:ext cx="54864" cy="54864"/>
          </a:xfrm>
          <a:prstGeom prst="ellipse">
            <a:avLst/>
          </a:prstGeom>
          <a:solidFill>
            <a:srgbClr val="5BC0BE"/>
          </a:solidFill>
          <a:ln w="12700">
            <a:solidFill>
              <a:srgbClr val="5BC0BE"/>
            </a:solidFill>
            <a:prstDash val="solid"/>
          </a:ln>
        </p:spPr>
      </p:sp>
      <p:sp>
        <p:nvSpPr>
          <p:cNvPr id="8" name="Shape 6"/>
          <p:cNvSpPr/>
          <p:nvPr/>
        </p:nvSpPr>
        <p:spPr>
          <a:xfrm>
            <a:off x="929030" y="356616"/>
            <a:ext cx="54864" cy="54864"/>
          </a:xfrm>
          <a:prstGeom prst="ellipse">
            <a:avLst/>
          </a:prstGeom>
          <a:solidFill>
            <a:srgbClr val="5BC0BE"/>
          </a:solidFill>
          <a:ln w="12700">
            <a:solidFill>
              <a:srgbClr val="5BC0BE"/>
            </a:solidFill>
            <a:prstDash val="solid"/>
          </a:ln>
        </p:spPr>
      </p:sp>
      <p:sp>
        <p:nvSpPr>
          <p:cNvPr id="9" name="Shape 7"/>
          <p:cNvSpPr/>
          <p:nvPr/>
        </p:nvSpPr>
        <p:spPr>
          <a:xfrm>
            <a:off x="1143000" y="329184"/>
            <a:ext cx="786384" cy="274320"/>
          </a:xfrm>
          <a:prstGeom prst="roundRect">
            <a:avLst>
              <a:gd name="adj" fmla="val 50000"/>
            </a:avLst>
          </a:prstGeom>
          <a:solidFill>
            <a:srgbClr val="E8E0F3"/>
          </a:solidFill>
          <a:ln w="12700">
            <a:solidFill>
              <a:srgbClr val="E8E0F3"/>
            </a:solidFill>
            <a:prstDash val="solid"/>
          </a:ln>
        </p:spPr>
      </p:sp>
      <p:sp>
        <p:nvSpPr>
          <p:cNvPr id="10" name="Text 8"/>
          <p:cNvSpPr txBox="1"/>
          <p:nvPr/>
        </p:nvSpPr>
        <p:spPr>
          <a:xfrm>
            <a:off x="1143000" y="329184"/>
            <a:ext cx="786384" cy="274320"/>
          </a:xfrm>
          <a:prstGeom prst="rect">
            <a:avLst/>
          </a:prstGeom>
          <a:noFill/>
          <a:ln/>
        </p:spPr>
        <p:txBody>
          <a:bodyPr wrap="square" lIns="0" tIns="0" rIns="0" bIns="0" rtlCol="0" anchor="ctr"/>
          <a:lstStyle/>
          <a:p>
            <a:pPr algn="ctr" indent="0" marL="0">
              <a:buNone/>
            </a:pPr>
            <a:r>
              <a:rPr lang="en-US" sz="900" b="1" spc="150" kern="0" dirty="0">
                <a:solidFill>
                  <a:srgbClr val="6B4FA0"/>
                </a:solidFill>
                <a:latin typeface="Arial" pitchFamily="34" charset="0"/>
                <a:ea typeface="Arial" pitchFamily="34" charset="-122"/>
                <a:cs typeface="Arial" pitchFamily="34" charset="-120"/>
              </a:rPr>
              <a:t>FUTURO</a:t>
            </a:r>
            <a:endParaRPr lang="en-US" sz="900" dirty="0"/>
          </a:p>
        </p:txBody>
      </p:sp>
      <p:sp>
        <p:nvSpPr>
          <p:cNvPr id="11" name="Text 9"/>
          <p:cNvSpPr txBox="1"/>
          <p:nvPr/>
        </p:nvSpPr>
        <p:spPr>
          <a:xfrm>
            <a:off x="594360" y="777240"/>
            <a:ext cx="11002975" cy="1005840"/>
          </a:xfrm>
          <a:prstGeom prst="rect">
            <a:avLst/>
          </a:prstGeom>
          <a:noFill/>
          <a:ln/>
        </p:spPr>
        <p:txBody>
          <a:bodyPr wrap="square" lIns="0" tIns="0" rIns="0" bIns="0" rtlCol="0" anchor="t"/>
          <a:lstStyle/>
          <a:p>
            <a:pPr indent="0" marL="0">
              <a:buNone/>
            </a:pPr>
            <a:r>
              <a:rPr lang="en-US" sz="3000" b="1" dirty="0">
                <a:solidFill>
                  <a:srgbClr val="FFFFFF"/>
                </a:solidFill>
                <a:latin typeface="Arial" pitchFamily="34" charset="0"/>
                <a:ea typeface="Arial" pitchFamily="34" charset="-122"/>
                <a:cs typeface="Arial" pitchFamily="34" charset="-120"/>
              </a:rPr>
              <a:t>Una capa inteligente entre la intención del viajero y el mundo real</a:t>
            </a:r>
            <a:endParaRPr lang="en-US" sz="3000" dirty="0"/>
          </a:p>
        </p:txBody>
      </p:sp>
      <p:sp>
        <p:nvSpPr>
          <p:cNvPr id="12" name="Text 10"/>
          <p:cNvSpPr txBox="1"/>
          <p:nvPr/>
        </p:nvSpPr>
        <p:spPr>
          <a:xfrm>
            <a:off x="594360" y="6473952"/>
            <a:ext cx="7315200" cy="182880"/>
          </a:xfrm>
          <a:prstGeom prst="rect">
            <a:avLst/>
          </a:prstGeom>
          <a:noFill/>
          <a:ln/>
        </p:spPr>
        <p:txBody>
          <a:bodyPr wrap="square" lIns="0" tIns="0" rIns="0" bIns="0" rtlCol="0" anchor="t"/>
          <a:lstStyle/>
          <a:p>
            <a:pPr indent="0" marL="0">
              <a:buNone/>
            </a:pPr>
            <a:r>
              <a:rPr lang="en-US" sz="850" dirty="0">
                <a:solidFill>
                  <a:srgbClr val="8391AE"/>
                </a:solidFill>
                <a:latin typeface="Arial" pitchFamily="34" charset="0"/>
                <a:ea typeface="Arial" pitchFamily="34" charset="-122"/>
                <a:cs typeface="Arial" pitchFamily="34" charset="-120"/>
              </a:rPr>
              <a:t>Zig-Zag · Business, Product &amp; Strategy Update · Septiembre 2026</a:t>
            </a:r>
            <a:endParaRPr lang="en-US" sz="850" dirty="0"/>
          </a:p>
        </p:txBody>
      </p:sp>
      <p:sp>
        <p:nvSpPr>
          <p:cNvPr id="13" name="Text 11"/>
          <p:cNvSpPr txBox="1"/>
          <p:nvPr/>
        </p:nvSpPr>
        <p:spPr>
          <a:xfrm>
            <a:off x="11048695" y="6473952"/>
            <a:ext cx="548640" cy="182880"/>
          </a:xfrm>
          <a:prstGeom prst="rect">
            <a:avLst/>
          </a:prstGeom>
          <a:noFill/>
          <a:ln/>
        </p:spPr>
        <p:txBody>
          <a:bodyPr wrap="square" lIns="0" tIns="0" rIns="0" bIns="0" rtlCol="0" anchor="t"/>
          <a:lstStyle/>
          <a:p>
            <a:pPr algn="r" indent="0" marL="0">
              <a:buNone/>
            </a:pPr>
            <a:r>
              <a:rPr lang="en-US" sz="850" dirty="0">
                <a:solidFill>
                  <a:srgbClr val="8391AE"/>
                </a:solidFill>
                <a:latin typeface="Arial" pitchFamily="34" charset="0"/>
                <a:ea typeface="Arial" pitchFamily="34" charset="-122"/>
                <a:cs typeface="Arial" pitchFamily="34" charset="-120"/>
              </a:rPr>
              <a:t>4</a:t>
            </a:r>
            <a:endParaRPr lang="en-US" sz="850" dirty="0"/>
          </a:p>
        </p:txBody>
      </p:sp>
      <p:sp>
        <p:nvSpPr>
          <p:cNvPr id="14" name="Shape 12"/>
          <p:cNvSpPr/>
          <p:nvPr/>
        </p:nvSpPr>
        <p:spPr>
          <a:xfrm>
            <a:off x="594360" y="2148840"/>
            <a:ext cx="5852160" cy="2103120"/>
          </a:xfrm>
          <a:prstGeom prst="roundRect">
            <a:avLst>
              <a:gd name="adj" fmla="val 5217"/>
            </a:avLst>
          </a:prstGeom>
          <a:solidFill>
            <a:srgbClr val="243054"/>
          </a:solidFill>
          <a:ln w="9525">
            <a:solidFill>
              <a:srgbClr val="34426A"/>
            </a:solidFill>
            <a:prstDash val="solid"/>
          </a:ln>
        </p:spPr>
      </p:sp>
      <p:sp>
        <p:nvSpPr>
          <p:cNvPr id="15" name="Text 13"/>
          <p:cNvSpPr txBox="1"/>
          <p:nvPr/>
        </p:nvSpPr>
        <p:spPr>
          <a:xfrm>
            <a:off x="960120" y="2148840"/>
            <a:ext cx="5120640" cy="2103120"/>
          </a:xfrm>
          <a:prstGeom prst="rect">
            <a:avLst/>
          </a:prstGeom>
          <a:noFill/>
          <a:ln/>
        </p:spPr>
        <p:txBody>
          <a:bodyPr wrap="square" lIns="0" tIns="0" rIns="0" bIns="0" rtlCol="0" anchor="ctr"/>
          <a:lstStyle/>
          <a:p>
            <a:pPr indent="0" marL="0">
              <a:buNone/>
            </a:pPr>
            <a:r>
              <a:rPr lang="en-US" sz="1800" i="1" dirty="0">
                <a:solidFill>
                  <a:srgbClr val="E4E9F2"/>
                </a:solidFill>
                <a:latin typeface="Arial" pitchFamily="34" charset="0"/>
                <a:ea typeface="Arial" pitchFamily="34" charset="-122"/>
                <a:cs typeface="Arial" pitchFamily="34" charset="-120"/>
              </a:rPr>
              <a:t>“Voy cuatro días a Buenos Aires. Me interesan historia, arquitectura y barrios con identidad. Quiero caminar, pero no quiero perder tiempo cruzando toda la ciudad.”</a:t>
            </a:r>
            <a:endParaRPr lang="en-US" sz="1800" dirty="0"/>
          </a:p>
        </p:txBody>
      </p:sp>
      <p:sp>
        <p:nvSpPr>
          <p:cNvPr id="16" name="Text 14"/>
          <p:cNvSpPr txBox="1"/>
          <p:nvPr/>
        </p:nvSpPr>
        <p:spPr>
          <a:xfrm>
            <a:off x="594360" y="4389120"/>
            <a:ext cx="4572000" cy="274320"/>
          </a:xfrm>
          <a:prstGeom prst="rect">
            <a:avLst/>
          </a:prstGeom>
          <a:noFill/>
          <a:ln/>
        </p:spPr>
        <p:txBody>
          <a:bodyPr wrap="square" lIns="0" tIns="0" rIns="0" bIns="0" rtlCol="0" anchor="t"/>
          <a:lstStyle/>
          <a:p>
            <a:pPr indent="0" marL="0">
              <a:buNone/>
            </a:pPr>
            <a:r>
              <a:rPr lang="en-US" sz="1100" i="1" dirty="0">
                <a:solidFill>
                  <a:srgbClr val="8391AE"/>
                </a:solidFill>
                <a:latin typeface="Arial" pitchFamily="34" charset="0"/>
                <a:ea typeface="Arial" pitchFamily="34" charset="-122"/>
                <a:cs typeface="Arial" pitchFamily="34" charset="-120"/>
              </a:rPr>
              <a:t>Ejemplo de interacción futura</a:t>
            </a:r>
            <a:endParaRPr lang="en-US" sz="1100" dirty="0"/>
          </a:p>
        </p:txBody>
      </p:sp>
      <p:sp>
        <p:nvSpPr>
          <p:cNvPr id="17" name="Shape 15"/>
          <p:cNvSpPr/>
          <p:nvPr/>
        </p:nvSpPr>
        <p:spPr>
          <a:xfrm>
            <a:off x="6949440" y="2148840"/>
            <a:ext cx="4645152" cy="457200"/>
          </a:xfrm>
          <a:prstGeom prst="roundRect">
            <a:avLst>
              <a:gd name="adj" fmla="val 16000"/>
            </a:avLst>
          </a:prstGeom>
          <a:solidFill>
            <a:srgbClr val="243054"/>
          </a:solidFill>
          <a:ln w="9525">
            <a:solidFill>
              <a:srgbClr val="34426A"/>
            </a:solidFill>
            <a:prstDash val="solid"/>
          </a:ln>
        </p:spPr>
      </p:sp>
      <p:sp>
        <p:nvSpPr>
          <p:cNvPr id="18" name="Text 16"/>
          <p:cNvSpPr txBox="1"/>
          <p:nvPr/>
        </p:nvSpPr>
        <p:spPr>
          <a:xfrm>
            <a:off x="7132320" y="2148840"/>
            <a:ext cx="365760" cy="457200"/>
          </a:xfrm>
          <a:prstGeom prst="rect">
            <a:avLst/>
          </a:prstGeom>
          <a:noFill/>
          <a:ln/>
        </p:spPr>
        <p:txBody>
          <a:bodyPr wrap="square" lIns="0" tIns="0" rIns="0" bIns="0" rtlCol="0" anchor="ctr"/>
          <a:lstStyle/>
          <a:p>
            <a:pPr indent="0" marL="0">
              <a:buNone/>
            </a:pPr>
            <a:r>
              <a:rPr lang="en-US" sz="1400" b="1" dirty="0">
                <a:solidFill>
                  <a:srgbClr val="5BC0BE"/>
                </a:solidFill>
                <a:latin typeface="Arial" pitchFamily="34" charset="0"/>
                <a:ea typeface="Arial" pitchFamily="34" charset="-122"/>
                <a:cs typeface="Arial" pitchFamily="34" charset="-120"/>
              </a:rPr>
              <a:t>1</a:t>
            </a:r>
            <a:endParaRPr lang="en-US" sz="1400" dirty="0"/>
          </a:p>
        </p:txBody>
      </p:sp>
      <p:sp>
        <p:nvSpPr>
          <p:cNvPr id="19" name="Text 17"/>
          <p:cNvSpPr txBox="1"/>
          <p:nvPr/>
        </p:nvSpPr>
        <p:spPr>
          <a:xfrm>
            <a:off x="7589520" y="2148840"/>
            <a:ext cx="3657600" cy="457200"/>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Entiende</a:t>
            </a:r>
            <a:endParaRPr lang="en-US" sz="1600" dirty="0"/>
          </a:p>
        </p:txBody>
      </p:sp>
      <p:sp>
        <p:nvSpPr>
          <p:cNvPr id="20" name="Shape 18"/>
          <p:cNvSpPr/>
          <p:nvPr/>
        </p:nvSpPr>
        <p:spPr>
          <a:xfrm>
            <a:off x="6949440" y="2697480"/>
            <a:ext cx="4645152" cy="457200"/>
          </a:xfrm>
          <a:prstGeom prst="roundRect">
            <a:avLst>
              <a:gd name="adj" fmla="val 16000"/>
            </a:avLst>
          </a:prstGeom>
          <a:solidFill>
            <a:srgbClr val="243054"/>
          </a:solidFill>
          <a:ln w="9525">
            <a:solidFill>
              <a:srgbClr val="34426A"/>
            </a:solidFill>
            <a:prstDash val="solid"/>
          </a:ln>
        </p:spPr>
      </p:sp>
      <p:sp>
        <p:nvSpPr>
          <p:cNvPr id="21" name="Text 19"/>
          <p:cNvSpPr txBox="1"/>
          <p:nvPr/>
        </p:nvSpPr>
        <p:spPr>
          <a:xfrm>
            <a:off x="7132320" y="2697480"/>
            <a:ext cx="365760" cy="457200"/>
          </a:xfrm>
          <a:prstGeom prst="rect">
            <a:avLst/>
          </a:prstGeom>
          <a:noFill/>
          <a:ln/>
        </p:spPr>
        <p:txBody>
          <a:bodyPr wrap="square" lIns="0" tIns="0" rIns="0" bIns="0" rtlCol="0" anchor="ctr"/>
          <a:lstStyle/>
          <a:p>
            <a:pPr indent="0" marL="0">
              <a:buNone/>
            </a:pPr>
            <a:r>
              <a:rPr lang="en-US" sz="1400" b="1" dirty="0">
                <a:solidFill>
                  <a:srgbClr val="5BC0BE"/>
                </a:solidFill>
                <a:latin typeface="Arial" pitchFamily="34" charset="0"/>
                <a:ea typeface="Arial" pitchFamily="34" charset="-122"/>
                <a:cs typeface="Arial" pitchFamily="34" charset="-120"/>
              </a:rPr>
              <a:t>2</a:t>
            </a:r>
            <a:endParaRPr lang="en-US" sz="1400" dirty="0"/>
          </a:p>
        </p:txBody>
      </p:sp>
      <p:sp>
        <p:nvSpPr>
          <p:cNvPr id="22" name="Text 20"/>
          <p:cNvSpPr txBox="1"/>
          <p:nvPr/>
        </p:nvSpPr>
        <p:spPr>
          <a:xfrm>
            <a:off x="7589520" y="2697480"/>
            <a:ext cx="3657600" cy="457200"/>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Investiga</a:t>
            </a:r>
            <a:endParaRPr lang="en-US" sz="1600" dirty="0"/>
          </a:p>
        </p:txBody>
      </p:sp>
      <p:sp>
        <p:nvSpPr>
          <p:cNvPr id="23" name="Shape 21"/>
          <p:cNvSpPr/>
          <p:nvPr/>
        </p:nvSpPr>
        <p:spPr>
          <a:xfrm>
            <a:off x="6949440" y="3246120"/>
            <a:ext cx="4645152" cy="457200"/>
          </a:xfrm>
          <a:prstGeom prst="roundRect">
            <a:avLst>
              <a:gd name="adj" fmla="val 16000"/>
            </a:avLst>
          </a:prstGeom>
          <a:solidFill>
            <a:srgbClr val="243054"/>
          </a:solidFill>
          <a:ln w="9525">
            <a:solidFill>
              <a:srgbClr val="34426A"/>
            </a:solidFill>
            <a:prstDash val="solid"/>
          </a:ln>
        </p:spPr>
      </p:sp>
      <p:sp>
        <p:nvSpPr>
          <p:cNvPr id="24" name="Text 22"/>
          <p:cNvSpPr txBox="1"/>
          <p:nvPr/>
        </p:nvSpPr>
        <p:spPr>
          <a:xfrm>
            <a:off x="7132320" y="3246120"/>
            <a:ext cx="365760" cy="457200"/>
          </a:xfrm>
          <a:prstGeom prst="rect">
            <a:avLst/>
          </a:prstGeom>
          <a:noFill/>
          <a:ln/>
        </p:spPr>
        <p:txBody>
          <a:bodyPr wrap="square" lIns="0" tIns="0" rIns="0" bIns="0" rtlCol="0" anchor="ctr"/>
          <a:lstStyle/>
          <a:p>
            <a:pPr indent="0" marL="0">
              <a:buNone/>
            </a:pPr>
            <a:r>
              <a:rPr lang="en-US" sz="1400" b="1" dirty="0">
                <a:solidFill>
                  <a:srgbClr val="5BC0BE"/>
                </a:solidFill>
                <a:latin typeface="Arial" pitchFamily="34" charset="0"/>
                <a:ea typeface="Arial" pitchFamily="34" charset="-122"/>
                <a:cs typeface="Arial" pitchFamily="34" charset="-120"/>
              </a:rPr>
              <a:t>3</a:t>
            </a:r>
            <a:endParaRPr lang="en-US" sz="1400" dirty="0"/>
          </a:p>
        </p:txBody>
      </p:sp>
      <p:sp>
        <p:nvSpPr>
          <p:cNvPr id="25" name="Text 23"/>
          <p:cNvSpPr txBox="1"/>
          <p:nvPr/>
        </p:nvSpPr>
        <p:spPr>
          <a:xfrm>
            <a:off x="7589520" y="3246120"/>
            <a:ext cx="3657600" cy="457200"/>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Verifica</a:t>
            </a:r>
            <a:endParaRPr lang="en-US" sz="1600" dirty="0"/>
          </a:p>
        </p:txBody>
      </p:sp>
      <p:sp>
        <p:nvSpPr>
          <p:cNvPr id="26" name="Shape 24"/>
          <p:cNvSpPr/>
          <p:nvPr/>
        </p:nvSpPr>
        <p:spPr>
          <a:xfrm>
            <a:off x="6949440" y="3794760"/>
            <a:ext cx="4645152" cy="457200"/>
          </a:xfrm>
          <a:prstGeom prst="roundRect">
            <a:avLst>
              <a:gd name="adj" fmla="val 16000"/>
            </a:avLst>
          </a:prstGeom>
          <a:solidFill>
            <a:srgbClr val="243054"/>
          </a:solidFill>
          <a:ln w="9525">
            <a:solidFill>
              <a:srgbClr val="34426A"/>
            </a:solidFill>
            <a:prstDash val="solid"/>
          </a:ln>
        </p:spPr>
      </p:sp>
      <p:sp>
        <p:nvSpPr>
          <p:cNvPr id="27" name="Text 25"/>
          <p:cNvSpPr txBox="1"/>
          <p:nvPr/>
        </p:nvSpPr>
        <p:spPr>
          <a:xfrm>
            <a:off x="7132320" y="3794760"/>
            <a:ext cx="365760" cy="457200"/>
          </a:xfrm>
          <a:prstGeom prst="rect">
            <a:avLst/>
          </a:prstGeom>
          <a:noFill/>
          <a:ln/>
        </p:spPr>
        <p:txBody>
          <a:bodyPr wrap="square" lIns="0" tIns="0" rIns="0" bIns="0" rtlCol="0" anchor="ctr"/>
          <a:lstStyle/>
          <a:p>
            <a:pPr indent="0" marL="0">
              <a:buNone/>
            </a:pPr>
            <a:r>
              <a:rPr lang="en-US" sz="1400" b="1" dirty="0">
                <a:solidFill>
                  <a:srgbClr val="5BC0BE"/>
                </a:solidFill>
                <a:latin typeface="Arial" pitchFamily="34" charset="0"/>
                <a:ea typeface="Arial" pitchFamily="34" charset="-122"/>
                <a:cs typeface="Arial" pitchFamily="34" charset="-120"/>
              </a:rPr>
              <a:t>4</a:t>
            </a:r>
            <a:endParaRPr lang="en-US" sz="1400" dirty="0"/>
          </a:p>
        </p:txBody>
      </p:sp>
      <p:sp>
        <p:nvSpPr>
          <p:cNvPr id="28" name="Text 26"/>
          <p:cNvSpPr txBox="1"/>
          <p:nvPr/>
        </p:nvSpPr>
        <p:spPr>
          <a:xfrm>
            <a:off x="7589520" y="3794760"/>
            <a:ext cx="3657600" cy="457200"/>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Aprende</a:t>
            </a:r>
            <a:endParaRPr lang="en-US" sz="1600" dirty="0"/>
          </a:p>
        </p:txBody>
      </p:sp>
      <p:sp>
        <p:nvSpPr>
          <p:cNvPr id="29" name="Shape 27"/>
          <p:cNvSpPr/>
          <p:nvPr/>
        </p:nvSpPr>
        <p:spPr>
          <a:xfrm>
            <a:off x="6949440" y="4343400"/>
            <a:ext cx="4645152" cy="457200"/>
          </a:xfrm>
          <a:prstGeom prst="roundRect">
            <a:avLst>
              <a:gd name="adj" fmla="val 16000"/>
            </a:avLst>
          </a:prstGeom>
          <a:solidFill>
            <a:srgbClr val="243054"/>
          </a:solidFill>
          <a:ln w="9525">
            <a:solidFill>
              <a:srgbClr val="34426A"/>
            </a:solidFill>
            <a:prstDash val="solid"/>
          </a:ln>
        </p:spPr>
      </p:sp>
      <p:sp>
        <p:nvSpPr>
          <p:cNvPr id="30" name="Text 28"/>
          <p:cNvSpPr txBox="1"/>
          <p:nvPr/>
        </p:nvSpPr>
        <p:spPr>
          <a:xfrm>
            <a:off x="7132320" y="4343400"/>
            <a:ext cx="365760" cy="457200"/>
          </a:xfrm>
          <a:prstGeom prst="rect">
            <a:avLst/>
          </a:prstGeom>
          <a:noFill/>
          <a:ln/>
        </p:spPr>
        <p:txBody>
          <a:bodyPr wrap="square" lIns="0" tIns="0" rIns="0" bIns="0" rtlCol="0" anchor="ctr"/>
          <a:lstStyle/>
          <a:p>
            <a:pPr indent="0" marL="0">
              <a:buNone/>
            </a:pPr>
            <a:r>
              <a:rPr lang="en-US" sz="1400" b="1" dirty="0">
                <a:solidFill>
                  <a:srgbClr val="5BC0BE"/>
                </a:solidFill>
                <a:latin typeface="Arial" pitchFamily="34" charset="0"/>
                <a:ea typeface="Arial" pitchFamily="34" charset="-122"/>
                <a:cs typeface="Arial" pitchFamily="34" charset="-120"/>
              </a:rPr>
              <a:t>5</a:t>
            </a:r>
            <a:endParaRPr lang="en-US" sz="1400" dirty="0"/>
          </a:p>
        </p:txBody>
      </p:sp>
      <p:sp>
        <p:nvSpPr>
          <p:cNvPr id="31" name="Text 29"/>
          <p:cNvSpPr txBox="1"/>
          <p:nvPr/>
        </p:nvSpPr>
        <p:spPr>
          <a:xfrm>
            <a:off x="7589520" y="4343400"/>
            <a:ext cx="3657600" cy="457200"/>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Elige</a:t>
            </a:r>
            <a:endParaRPr lang="en-US" sz="1600" dirty="0"/>
          </a:p>
        </p:txBody>
      </p:sp>
      <p:sp>
        <p:nvSpPr>
          <p:cNvPr id="32" name="Shape 30"/>
          <p:cNvSpPr/>
          <p:nvPr/>
        </p:nvSpPr>
        <p:spPr>
          <a:xfrm>
            <a:off x="6949440" y="4892040"/>
            <a:ext cx="4645152" cy="457200"/>
          </a:xfrm>
          <a:prstGeom prst="roundRect">
            <a:avLst>
              <a:gd name="adj" fmla="val 16000"/>
            </a:avLst>
          </a:prstGeom>
          <a:solidFill>
            <a:srgbClr val="243054"/>
          </a:solidFill>
          <a:ln w="9525">
            <a:solidFill>
              <a:srgbClr val="34426A"/>
            </a:solidFill>
            <a:prstDash val="solid"/>
          </a:ln>
        </p:spPr>
      </p:sp>
      <p:sp>
        <p:nvSpPr>
          <p:cNvPr id="33" name="Text 31"/>
          <p:cNvSpPr txBox="1"/>
          <p:nvPr/>
        </p:nvSpPr>
        <p:spPr>
          <a:xfrm>
            <a:off x="7132320" y="4892040"/>
            <a:ext cx="365760" cy="457200"/>
          </a:xfrm>
          <a:prstGeom prst="rect">
            <a:avLst/>
          </a:prstGeom>
          <a:noFill/>
          <a:ln/>
        </p:spPr>
        <p:txBody>
          <a:bodyPr wrap="square" lIns="0" tIns="0" rIns="0" bIns="0" rtlCol="0" anchor="ctr"/>
          <a:lstStyle/>
          <a:p>
            <a:pPr indent="0" marL="0">
              <a:buNone/>
            </a:pPr>
            <a:r>
              <a:rPr lang="en-US" sz="1400" b="1" dirty="0">
                <a:solidFill>
                  <a:srgbClr val="5BC0BE"/>
                </a:solidFill>
                <a:latin typeface="Arial" pitchFamily="34" charset="0"/>
                <a:ea typeface="Arial" pitchFamily="34" charset="-122"/>
                <a:cs typeface="Arial" pitchFamily="34" charset="-120"/>
              </a:rPr>
              <a:t>6</a:t>
            </a:r>
            <a:endParaRPr lang="en-US" sz="1400" dirty="0"/>
          </a:p>
        </p:txBody>
      </p:sp>
      <p:sp>
        <p:nvSpPr>
          <p:cNvPr id="34" name="Text 32"/>
          <p:cNvSpPr txBox="1"/>
          <p:nvPr/>
        </p:nvSpPr>
        <p:spPr>
          <a:xfrm>
            <a:off x="7589520" y="4892040"/>
            <a:ext cx="3657600" cy="457200"/>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Planifica</a:t>
            </a:r>
            <a:endParaRPr lang="en-US" sz="1600" dirty="0"/>
          </a:p>
        </p:txBody>
      </p:sp>
      <p:sp>
        <p:nvSpPr>
          <p:cNvPr id="35" name="Shape 33"/>
          <p:cNvSpPr/>
          <p:nvPr/>
        </p:nvSpPr>
        <p:spPr>
          <a:xfrm>
            <a:off x="6949440" y="5440680"/>
            <a:ext cx="4645152" cy="457200"/>
          </a:xfrm>
          <a:prstGeom prst="roundRect">
            <a:avLst>
              <a:gd name="adj" fmla="val 16000"/>
            </a:avLst>
          </a:prstGeom>
          <a:solidFill>
            <a:srgbClr val="5BC0BE"/>
          </a:solidFill>
          <a:ln w="9525">
            <a:solidFill>
              <a:srgbClr val="5BC0BE"/>
            </a:solidFill>
            <a:prstDash val="solid"/>
          </a:ln>
        </p:spPr>
      </p:sp>
      <p:sp>
        <p:nvSpPr>
          <p:cNvPr id="36" name="Text 34"/>
          <p:cNvSpPr txBox="1"/>
          <p:nvPr/>
        </p:nvSpPr>
        <p:spPr>
          <a:xfrm>
            <a:off x="7132320" y="5440680"/>
            <a:ext cx="365760" cy="457200"/>
          </a:xfrm>
          <a:prstGeom prst="rect">
            <a:avLst/>
          </a:prstGeom>
          <a:noFill/>
          <a:ln/>
        </p:spPr>
        <p:txBody>
          <a:bodyPr wrap="square" lIns="0" tIns="0" rIns="0" bIns="0" rtlCol="0" anchor="ctr"/>
          <a:lstStyle/>
          <a:p>
            <a:pPr indent="0" marL="0">
              <a:buNone/>
            </a:pPr>
            <a:r>
              <a:rPr lang="en-US" sz="1400" b="1" dirty="0">
                <a:solidFill>
                  <a:srgbClr val="0B132B"/>
                </a:solidFill>
                <a:latin typeface="Arial" pitchFamily="34" charset="0"/>
                <a:ea typeface="Arial" pitchFamily="34" charset="-122"/>
                <a:cs typeface="Arial" pitchFamily="34" charset="-120"/>
              </a:rPr>
              <a:t>7</a:t>
            </a:r>
            <a:endParaRPr lang="en-US" sz="1400" dirty="0"/>
          </a:p>
        </p:txBody>
      </p:sp>
      <p:sp>
        <p:nvSpPr>
          <p:cNvPr id="37" name="Text 35"/>
          <p:cNvSpPr txBox="1"/>
          <p:nvPr/>
        </p:nvSpPr>
        <p:spPr>
          <a:xfrm>
            <a:off x="7589520" y="5440680"/>
            <a:ext cx="3657600" cy="457200"/>
          </a:xfrm>
          <a:prstGeom prst="rect">
            <a:avLst/>
          </a:prstGeom>
          <a:noFill/>
          <a:ln/>
        </p:spPr>
        <p:txBody>
          <a:bodyPr wrap="square" lIns="0" tIns="0" rIns="0" bIns="0" rtlCol="0" anchor="ctr"/>
          <a:lstStyle/>
          <a:p>
            <a:pPr indent="0" marL="0">
              <a:buNone/>
            </a:pPr>
            <a:r>
              <a:rPr lang="en-US" sz="1600" b="1" dirty="0">
                <a:solidFill>
                  <a:srgbClr val="0B132B"/>
                </a:solidFill>
                <a:latin typeface="Arial" pitchFamily="34" charset="0"/>
                <a:ea typeface="Arial" pitchFamily="34" charset="-122"/>
                <a:cs typeface="Arial" pitchFamily="34" charset="-120"/>
              </a:rPr>
              <a:t>Explica</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1E8"/>
        </a:solidFill>
      </p:bgPr>
    </p:bg>
    <p:spTree>
      <p:nvGrpSpPr>
        <p:cNvPr id="1" name=""/>
        <p:cNvGrpSpPr/>
        <p:nvPr/>
      </p:nvGrpSpPr>
      <p:grpSpPr>
        <a:xfrm>
          <a:off x="0" y="0"/>
          <a:ext cx="0" cy="0"/>
          <a:chOff x="0" y="0"/>
          <a:chExt cx="0" cy="0"/>
        </a:xfrm>
      </p:grpSpPr>
      <p:sp>
        <p:nvSpPr>
          <p:cNvPr id="2" name="Shape 0"/>
          <p:cNvSpPr/>
          <p:nvPr/>
        </p:nvSpPr>
        <p:spPr>
          <a:xfrm flipV="1">
            <a:off x="594360" y="384048"/>
            <a:ext cx="120701" cy="98755"/>
          </a:xfrm>
          <a:prstGeom prst="line">
            <a:avLst/>
          </a:prstGeom>
          <a:noFill/>
          <a:ln w="22225">
            <a:solidFill>
              <a:srgbClr val="5BC0BE"/>
            </a:solidFill>
            <a:prstDash val="solid"/>
          </a:ln>
        </p:spPr>
      </p:sp>
      <p:sp>
        <p:nvSpPr>
          <p:cNvPr id="3" name="Shape 1"/>
          <p:cNvSpPr/>
          <p:nvPr/>
        </p:nvSpPr>
        <p:spPr>
          <a:xfrm>
            <a:off x="715061" y="384048"/>
            <a:ext cx="120701" cy="98755"/>
          </a:xfrm>
          <a:prstGeom prst="line">
            <a:avLst/>
          </a:prstGeom>
          <a:noFill/>
          <a:ln w="22225">
            <a:solidFill>
              <a:srgbClr val="5BC0BE"/>
            </a:solidFill>
            <a:prstDash val="solid"/>
          </a:ln>
        </p:spPr>
      </p:sp>
      <p:sp>
        <p:nvSpPr>
          <p:cNvPr id="4" name="Shape 2"/>
          <p:cNvSpPr/>
          <p:nvPr/>
        </p:nvSpPr>
        <p:spPr>
          <a:xfrm flipV="1">
            <a:off x="835762" y="384048"/>
            <a:ext cx="120701" cy="98755"/>
          </a:xfrm>
          <a:prstGeom prst="line">
            <a:avLst/>
          </a:prstGeom>
          <a:noFill/>
          <a:ln w="22225">
            <a:solidFill>
              <a:srgbClr val="5BC0BE"/>
            </a:solidFill>
            <a:prstDash val="solid"/>
          </a:ln>
        </p:spPr>
      </p:sp>
      <p:sp>
        <p:nvSpPr>
          <p:cNvPr id="5" name="Shape 3"/>
          <p:cNvSpPr/>
          <p:nvPr/>
        </p:nvSpPr>
        <p:spPr>
          <a:xfrm>
            <a:off x="566928" y="455371"/>
            <a:ext cx="54864" cy="54864"/>
          </a:xfrm>
          <a:prstGeom prst="ellipse">
            <a:avLst/>
          </a:prstGeom>
          <a:solidFill>
            <a:srgbClr val="5BC0BE"/>
          </a:solidFill>
          <a:ln w="12700">
            <a:solidFill>
              <a:srgbClr val="5BC0BE"/>
            </a:solidFill>
            <a:prstDash val="solid"/>
          </a:ln>
        </p:spPr>
      </p:sp>
      <p:sp>
        <p:nvSpPr>
          <p:cNvPr id="6" name="Shape 4"/>
          <p:cNvSpPr/>
          <p:nvPr/>
        </p:nvSpPr>
        <p:spPr>
          <a:xfrm>
            <a:off x="687629" y="356616"/>
            <a:ext cx="54864" cy="54864"/>
          </a:xfrm>
          <a:prstGeom prst="ellipse">
            <a:avLst/>
          </a:prstGeom>
          <a:solidFill>
            <a:srgbClr val="5BC0BE"/>
          </a:solidFill>
          <a:ln w="12700">
            <a:solidFill>
              <a:srgbClr val="5BC0BE"/>
            </a:solidFill>
            <a:prstDash val="solid"/>
          </a:ln>
        </p:spPr>
      </p:sp>
      <p:sp>
        <p:nvSpPr>
          <p:cNvPr id="7" name="Shape 5"/>
          <p:cNvSpPr/>
          <p:nvPr/>
        </p:nvSpPr>
        <p:spPr>
          <a:xfrm>
            <a:off x="808330" y="455371"/>
            <a:ext cx="54864" cy="54864"/>
          </a:xfrm>
          <a:prstGeom prst="ellipse">
            <a:avLst/>
          </a:prstGeom>
          <a:solidFill>
            <a:srgbClr val="5BC0BE"/>
          </a:solidFill>
          <a:ln w="12700">
            <a:solidFill>
              <a:srgbClr val="5BC0BE"/>
            </a:solidFill>
            <a:prstDash val="solid"/>
          </a:ln>
        </p:spPr>
      </p:sp>
      <p:sp>
        <p:nvSpPr>
          <p:cNvPr id="8" name="Shape 6"/>
          <p:cNvSpPr/>
          <p:nvPr/>
        </p:nvSpPr>
        <p:spPr>
          <a:xfrm>
            <a:off x="929030" y="356616"/>
            <a:ext cx="54864" cy="54864"/>
          </a:xfrm>
          <a:prstGeom prst="ellipse">
            <a:avLst/>
          </a:prstGeom>
          <a:solidFill>
            <a:srgbClr val="5BC0BE"/>
          </a:solidFill>
          <a:ln w="12700">
            <a:solidFill>
              <a:srgbClr val="5BC0BE"/>
            </a:solidFill>
            <a:prstDash val="solid"/>
          </a:ln>
        </p:spPr>
      </p:sp>
      <p:sp>
        <p:nvSpPr>
          <p:cNvPr id="9" name="Shape 7"/>
          <p:cNvSpPr/>
          <p:nvPr/>
        </p:nvSpPr>
        <p:spPr>
          <a:xfrm>
            <a:off x="1143000" y="329184"/>
            <a:ext cx="1019556" cy="274320"/>
          </a:xfrm>
          <a:prstGeom prst="roundRect">
            <a:avLst>
              <a:gd name="adj" fmla="val 50000"/>
            </a:avLst>
          </a:prstGeom>
          <a:solidFill>
            <a:srgbClr val="DDE4EE"/>
          </a:solidFill>
          <a:ln w="12700">
            <a:solidFill>
              <a:srgbClr val="DDE4EE"/>
            </a:solidFill>
            <a:prstDash val="solid"/>
          </a:ln>
        </p:spPr>
      </p:sp>
      <p:sp>
        <p:nvSpPr>
          <p:cNvPr id="10" name="Text 8"/>
          <p:cNvSpPr txBox="1"/>
          <p:nvPr/>
        </p:nvSpPr>
        <p:spPr>
          <a:xfrm>
            <a:off x="1143000" y="329184"/>
            <a:ext cx="1019556" cy="274320"/>
          </a:xfrm>
          <a:prstGeom prst="rect">
            <a:avLst/>
          </a:prstGeom>
          <a:noFill/>
          <a:ln/>
        </p:spPr>
        <p:txBody>
          <a:bodyPr wrap="square" lIns="0" tIns="0" rIns="0" bIns="0" rtlCol="0" anchor="ctr"/>
          <a:lstStyle/>
          <a:p>
            <a:pPr algn="ctr" indent="0" marL="0">
              <a:buNone/>
            </a:pPr>
            <a:r>
              <a:rPr lang="en-US" sz="900" b="1" spc="150" kern="0" dirty="0">
                <a:solidFill>
                  <a:srgbClr val="3A506B"/>
                </a:solidFill>
                <a:latin typeface="Arial" pitchFamily="34" charset="0"/>
                <a:ea typeface="Arial" pitchFamily="34" charset="-122"/>
                <a:cs typeface="Arial" pitchFamily="34" charset="-120"/>
              </a:rPr>
              <a:t>PROPUESTO</a:t>
            </a:r>
            <a:endParaRPr lang="en-US" sz="900" dirty="0"/>
          </a:p>
        </p:txBody>
      </p:sp>
      <p:sp>
        <p:nvSpPr>
          <p:cNvPr id="11" name="Text 9"/>
          <p:cNvSpPr txBox="1"/>
          <p:nvPr/>
        </p:nvSpPr>
        <p:spPr>
          <a:xfrm>
            <a:off x="594360" y="777240"/>
            <a:ext cx="11002975" cy="731520"/>
          </a:xfrm>
          <a:prstGeom prst="rect">
            <a:avLst/>
          </a:prstGeom>
          <a:noFill/>
          <a:ln/>
        </p:spPr>
        <p:txBody>
          <a:bodyPr wrap="square" lIns="0" tIns="0" rIns="0" bIns="0" rtlCol="0" anchor="t"/>
          <a:lstStyle/>
          <a:p>
            <a:pPr indent="0" marL="0">
              <a:buNone/>
            </a:pPr>
            <a:r>
              <a:rPr lang="en-US" sz="3000" b="1" dirty="0">
                <a:solidFill>
                  <a:srgbClr val="0B132B"/>
                </a:solidFill>
                <a:latin typeface="Arial" pitchFamily="34" charset="0"/>
                <a:ea typeface="Arial" pitchFamily="34" charset="-122"/>
                <a:cs typeface="Arial" pitchFamily="34" charset="-120"/>
              </a:rPr>
              <a:t>El círculo virtuoso del producto</a:t>
            </a:r>
            <a:endParaRPr lang="en-US" sz="3000" dirty="0"/>
          </a:p>
        </p:txBody>
      </p:sp>
      <p:sp>
        <p:nvSpPr>
          <p:cNvPr id="12" name="Text 10"/>
          <p:cNvSpPr txBox="1"/>
          <p:nvPr/>
        </p:nvSpPr>
        <p:spPr>
          <a:xfrm>
            <a:off x="594360" y="6473952"/>
            <a:ext cx="7315200" cy="182880"/>
          </a:xfrm>
          <a:prstGeom prst="rect">
            <a:avLst/>
          </a:prstGeom>
          <a:noFill/>
          <a:ln/>
        </p:spPr>
        <p:txBody>
          <a:bodyPr wrap="square" lIns="0" tIns="0" rIns="0" bIns="0" rtlCol="0" anchor="t"/>
          <a:lstStyle/>
          <a:p>
            <a:pPr indent="0" marL="0">
              <a:buNone/>
            </a:pPr>
            <a:r>
              <a:rPr lang="en-US" sz="850" dirty="0">
                <a:solidFill>
                  <a:srgbClr val="6B7385"/>
                </a:solidFill>
                <a:latin typeface="Arial" pitchFamily="34" charset="0"/>
                <a:ea typeface="Arial" pitchFamily="34" charset="-122"/>
                <a:cs typeface="Arial" pitchFamily="34" charset="-120"/>
              </a:rPr>
              <a:t>Zig-Zag · Business, Product &amp; Strategy Update · Septiembre 2026</a:t>
            </a:r>
            <a:endParaRPr lang="en-US" sz="850" dirty="0"/>
          </a:p>
        </p:txBody>
      </p:sp>
      <p:sp>
        <p:nvSpPr>
          <p:cNvPr id="13" name="Text 11"/>
          <p:cNvSpPr txBox="1"/>
          <p:nvPr/>
        </p:nvSpPr>
        <p:spPr>
          <a:xfrm>
            <a:off x="11048695" y="6473952"/>
            <a:ext cx="548640" cy="182880"/>
          </a:xfrm>
          <a:prstGeom prst="rect">
            <a:avLst/>
          </a:prstGeom>
          <a:noFill/>
          <a:ln/>
        </p:spPr>
        <p:txBody>
          <a:bodyPr wrap="square" lIns="0" tIns="0" rIns="0" bIns="0" rtlCol="0" anchor="t"/>
          <a:lstStyle/>
          <a:p>
            <a:pPr algn="r" indent="0" marL="0">
              <a:buNone/>
            </a:pPr>
            <a:r>
              <a:rPr lang="en-US" sz="850" dirty="0">
                <a:solidFill>
                  <a:srgbClr val="6B7385"/>
                </a:solidFill>
                <a:latin typeface="Arial" pitchFamily="34" charset="0"/>
                <a:ea typeface="Arial" pitchFamily="34" charset="-122"/>
                <a:cs typeface="Arial" pitchFamily="34" charset="-120"/>
              </a:rPr>
              <a:t>5</a:t>
            </a:r>
            <a:endParaRPr lang="en-US" sz="850" dirty="0"/>
          </a:p>
        </p:txBody>
      </p:sp>
      <p:sp>
        <p:nvSpPr>
          <p:cNvPr id="14" name="Shape 12"/>
          <p:cNvSpPr/>
          <p:nvPr/>
        </p:nvSpPr>
        <p:spPr>
          <a:xfrm>
            <a:off x="1554480" y="2103120"/>
            <a:ext cx="3749040" cy="3749040"/>
          </a:xfrm>
          <a:prstGeom prst="ellipse">
            <a:avLst/>
          </a:prstGeom>
          <a:solidFill>
            <a:srgbClr val="F5F1E8"/>
          </a:solidFill>
          <a:ln w="25400">
            <a:solidFill>
              <a:srgbClr val="5BC0BE"/>
            </a:solidFill>
            <a:prstDash val="dash"/>
          </a:ln>
        </p:spPr>
      </p:sp>
      <p:sp>
        <p:nvSpPr>
          <p:cNvPr id="15" name="Shape 13"/>
          <p:cNvSpPr/>
          <p:nvPr/>
        </p:nvSpPr>
        <p:spPr>
          <a:xfrm>
            <a:off x="2697480" y="3246120"/>
            <a:ext cx="1463040" cy="1463040"/>
          </a:xfrm>
          <a:prstGeom prst="ellipse">
            <a:avLst/>
          </a:prstGeom>
          <a:solidFill>
            <a:srgbClr val="0B132B"/>
          </a:solidFill>
          <a:ln w="12700">
            <a:solidFill>
              <a:srgbClr val="0B132B"/>
            </a:solidFill>
            <a:prstDash val="solid"/>
          </a:ln>
        </p:spPr>
      </p:sp>
      <p:sp>
        <p:nvSpPr>
          <p:cNvPr id="16" name="Text 14"/>
          <p:cNvSpPr txBox="1"/>
          <p:nvPr/>
        </p:nvSpPr>
        <p:spPr>
          <a:xfrm>
            <a:off x="2697480" y="3246120"/>
            <a:ext cx="1463040" cy="146304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Zig-Zag</a:t>
            </a:r>
            <a:endParaRPr lang="en-US" sz="1600" dirty="0"/>
          </a:p>
        </p:txBody>
      </p:sp>
      <p:sp>
        <p:nvSpPr>
          <p:cNvPr id="17" name="Shape 15"/>
          <p:cNvSpPr/>
          <p:nvPr/>
        </p:nvSpPr>
        <p:spPr>
          <a:xfrm>
            <a:off x="2628900" y="1847088"/>
            <a:ext cx="1600200" cy="512064"/>
          </a:xfrm>
          <a:prstGeom prst="roundRect">
            <a:avLst>
              <a:gd name="adj" fmla="val 17857"/>
            </a:avLst>
          </a:prstGeom>
          <a:solidFill>
            <a:srgbClr val="FFFFFF"/>
          </a:solidFill>
          <a:ln w="15875">
            <a:solidFill>
              <a:srgbClr val="5BC0BE"/>
            </a:solidFill>
            <a:prstDash val="solid"/>
          </a:ln>
        </p:spPr>
      </p:sp>
      <p:sp>
        <p:nvSpPr>
          <p:cNvPr id="18" name="Text 16"/>
          <p:cNvSpPr txBox="1"/>
          <p:nvPr/>
        </p:nvSpPr>
        <p:spPr>
          <a:xfrm>
            <a:off x="2674620" y="1847088"/>
            <a:ext cx="1508760" cy="512064"/>
          </a:xfrm>
          <a:prstGeom prst="rect">
            <a:avLst/>
          </a:prstGeom>
          <a:noFill/>
          <a:ln/>
        </p:spPr>
        <p:txBody>
          <a:bodyPr wrap="square" lIns="0" tIns="0" rIns="0" bIns="0" rtlCol="0" anchor="ctr"/>
          <a:lstStyle/>
          <a:p>
            <a:pPr algn="ctr" indent="0" marL="0">
              <a:buNone/>
            </a:pPr>
            <a:r>
              <a:rPr lang="en-US" sz="1050" b="1" dirty="0">
                <a:solidFill>
                  <a:srgbClr val="0B132B"/>
                </a:solidFill>
                <a:latin typeface="Arial" pitchFamily="34" charset="0"/>
                <a:ea typeface="Arial" pitchFamily="34" charset="-122"/>
                <a:cs typeface="Arial" pitchFamily="34" charset="-120"/>
              </a:rPr>
              <a:t>Intención del viajero</a:t>
            </a:r>
            <a:endParaRPr lang="en-US" sz="1050" dirty="0"/>
          </a:p>
        </p:txBody>
      </p:sp>
      <p:sp>
        <p:nvSpPr>
          <p:cNvPr id="19" name="Shape 17"/>
          <p:cNvSpPr/>
          <p:nvPr/>
        </p:nvSpPr>
        <p:spPr>
          <a:xfrm>
            <a:off x="3954386" y="2396122"/>
            <a:ext cx="1600200" cy="512064"/>
          </a:xfrm>
          <a:prstGeom prst="roundRect">
            <a:avLst>
              <a:gd name="adj" fmla="val 17857"/>
            </a:avLst>
          </a:prstGeom>
          <a:solidFill>
            <a:srgbClr val="FFFFFF"/>
          </a:solidFill>
          <a:ln w="15875">
            <a:solidFill>
              <a:srgbClr val="5BC0BE"/>
            </a:solidFill>
            <a:prstDash val="solid"/>
          </a:ln>
        </p:spPr>
      </p:sp>
      <p:sp>
        <p:nvSpPr>
          <p:cNvPr id="20" name="Text 18"/>
          <p:cNvSpPr txBox="1"/>
          <p:nvPr/>
        </p:nvSpPr>
        <p:spPr>
          <a:xfrm>
            <a:off x="4000106" y="2396122"/>
            <a:ext cx="1508760" cy="512064"/>
          </a:xfrm>
          <a:prstGeom prst="rect">
            <a:avLst/>
          </a:prstGeom>
          <a:noFill/>
          <a:ln/>
        </p:spPr>
        <p:txBody>
          <a:bodyPr wrap="square" lIns="0" tIns="0" rIns="0" bIns="0" rtlCol="0" anchor="ctr"/>
          <a:lstStyle/>
          <a:p>
            <a:pPr algn="ctr" indent="0" marL="0">
              <a:buNone/>
            </a:pPr>
            <a:r>
              <a:rPr lang="en-US" sz="1050" b="1" dirty="0">
                <a:solidFill>
                  <a:srgbClr val="0B132B"/>
                </a:solidFill>
                <a:latin typeface="Arial" pitchFamily="34" charset="0"/>
                <a:ea typeface="Arial" pitchFamily="34" charset="-122"/>
                <a:cs typeface="Arial" pitchFamily="34" charset="-120"/>
              </a:rPr>
              <a:t>Investigación con fuentes reales</a:t>
            </a:r>
            <a:endParaRPr lang="en-US" sz="1050" dirty="0"/>
          </a:p>
        </p:txBody>
      </p:sp>
      <p:sp>
        <p:nvSpPr>
          <p:cNvPr id="21" name="Shape 19"/>
          <p:cNvSpPr/>
          <p:nvPr/>
        </p:nvSpPr>
        <p:spPr>
          <a:xfrm>
            <a:off x="4503420" y="3721608"/>
            <a:ext cx="1600200" cy="512064"/>
          </a:xfrm>
          <a:prstGeom prst="roundRect">
            <a:avLst>
              <a:gd name="adj" fmla="val 17857"/>
            </a:avLst>
          </a:prstGeom>
          <a:solidFill>
            <a:srgbClr val="FFFFFF"/>
          </a:solidFill>
          <a:ln w="15875">
            <a:solidFill>
              <a:srgbClr val="5BC0BE"/>
            </a:solidFill>
            <a:prstDash val="solid"/>
          </a:ln>
        </p:spPr>
      </p:sp>
      <p:sp>
        <p:nvSpPr>
          <p:cNvPr id="22" name="Text 20"/>
          <p:cNvSpPr txBox="1"/>
          <p:nvPr/>
        </p:nvSpPr>
        <p:spPr>
          <a:xfrm>
            <a:off x="4549140" y="3721608"/>
            <a:ext cx="1508760" cy="512064"/>
          </a:xfrm>
          <a:prstGeom prst="rect">
            <a:avLst/>
          </a:prstGeom>
          <a:noFill/>
          <a:ln/>
        </p:spPr>
        <p:txBody>
          <a:bodyPr wrap="square" lIns="0" tIns="0" rIns="0" bIns="0" rtlCol="0" anchor="ctr"/>
          <a:lstStyle/>
          <a:p>
            <a:pPr algn="ctr" indent="0" marL="0">
              <a:buNone/>
            </a:pPr>
            <a:r>
              <a:rPr lang="en-US" sz="1050" b="1" dirty="0">
                <a:solidFill>
                  <a:srgbClr val="0B132B"/>
                </a:solidFill>
                <a:latin typeface="Arial" pitchFamily="34" charset="0"/>
                <a:ea typeface="Arial" pitchFamily="34" charset="-122"/>
                <a:cs typeface="Arial" pitchFamily="34" charset="-120"/>
              </a:rPr>
              <a:t>Experiencias verificadas</a:t>
            </a:r>
            <a:endParaRPr lang="en-US" sz="1050" dirty="0"/>
          </a:p>
        </p:txBody>
      </p:sp>
      <p:sp>
        <p:nvSpPr>
          <p:cNvPr id="23" name="Shape 21"/>
          <p:cNvSpPr/>
          <p:nvPr/>
        </p:nvSpPr>
        <p:spPr>
          <a:xfrm>
            <a:off x="3954386" y="5047094"/>
            <a:ext cx="1600200" cy="512064"/>
          </a:xfrm>
          <a:prstGeom prst="roundRect">
            <a:avLst>
              <a:gd name="adj" fmla="val 17857"/>
            </a:avLst>
          </a:prstGeom>
          <a:solidFill>
            <a:srgbClr val="FFFFFF"/>
          </a:solidFill>
          <a:ln w="15875">
            <a:solidFill>
              <a:srgbClr val="5BC0BE"/>
            </a:solidFill>
            <a:prstDash val="solid"/>
          </a:ln>
        </p:spPr>
      </p:sp>
      <p:sp>
        <p:nvSpPr>
          <p:cNvPr id="24" name="Text 22"/>
          <p:cNvSpPr txBox="1"/>
          <p:nvPr/>
        </p:nvSpPr>
        <p:spPr>
          <a:xfrm>
            <a:off x="4000106" y="5047094"/>
            <a:ext cx="1508760" cy="512064"/>
          </a:xfrm>
          <a:prstGeom prst="rect">
            <a:avLst/>
          </a:prstGeom>
          <a:noFill/>
          <a:ln/>
        </p:spPr>
        <p:txBody>
          <a:bodyPr wrap="square" lIns="0" tIns="0" rIns="0" bIns="0" rtlCol="0" anchor="ctr"/>
          <a:lstStyle/>
          <a:p>
            <a:pPr algn="ctr" indent="0" marL="0">
              <a:buNone/>
            </a:pPr>
            <a:r>
              <a:rPr lang="en-US" sz="1050" b="1" dirty="0">
                <a:solidFill>
                  <a:srgbClr val="0B132B"/>
                </a:solidFill>
                <a:latin typeface="Arial" pitchFamily="34" charset="0"/>
                <a:ea typeface="Arial" pitchFamily="34" charset="-122"/>
                <a:cs typeface="Arial" pitchFamily="34" charset="-120"/>
              </a:rPr>
              <a:t>Conocimiento reutilizable</a:t>
            </a:r>
            <a:endParaRPr lang="en-US" sz="1050" dirty="0"/>
          </a:p>
        </p:txBody>
      </p:sp>
      <p:sp>
        <p:nvSpPr>
          <p:cNvPr id="25" name="Shape 23"/>
          <p:cNvSpPr/>
          <p:nvPr/>
        </p:nvSpPr>
        <p:spPr>
          <a:xfrm>
            <a:off x="2628900" y="5596128"/>
            <a:ext cx="1600200" cy="512064"/>
          </a:xfrm>
          <a:prstGeom prst="roundRect">
            <a:avLst>
              <a:gd name="adj" fmla="val 17857"/>
            </a:avLst>
          </a:prstGeom>
          <a:solidFill>
            <a:srgbClr val="FFFFFF"/>
          </a:solidFill>
          <a:ln w="15875">
            <a:solidFill>
              <a:srgbClr val="5BC0BE"/>
            </a:solidFill>
            <a:prstDash val="solid"/>
          </a:ln>
        </p:spPr>
      </p:sp>
      <p:sp>
        <p:nvSpPr>
          <p:cNvPr id="26" name="Text 24"/>
          <p:cNvSpPr txBox="1"/>
          <p:nvPr/>
        </p:nvSpPr>
        <p:spPr>
          <a:xfrm>
            <a:off x="2674620" y="5596128"/>
            <a:ext cx="1508760" cy="512064"/>
          </a:xfrm>
          <a:prstGeom prst="rect">
            <a:avLst/>
          </a:prstGeom>
          <a:noFill/>
          <a:ln/>
        </p:spPr>
        <p:txBody>
          <a:bodyPr wrap="square" lIns="0" tIns="0" rIns="0" bIns="0" rtlCol="0" anchor="ctr"/>
          <a:lstStyle/>
          <a:p>
            <a:pPr algn="ctr" indent="0" marL="0">
              <a:buNone/>
            </a:pPr>
            <a:r>
              <a:rPr lang="en-US" sz="1050" b="1" dirty="0">
                <a:solidFill>
                  <a:srgbClr val="0B132B"/>
                </a:solidFill>
                <a:latin typeface="Arial" pitchFamily="34" charset="0"/>
                <a:ea typeface="Arial" pitchFamily="34" charset="-122"/>
                <a:cs typeface="Arial" pitchFamily="34" charset="-120"/>
              </a:rPr>
              <a:t>Mejor recuperación</a:t>
            </a:r>
            <a:endParaRPr lang="en-US" sz="1050" dirty="0"/>
          </a:p>
        </p:txBody>
      </p:sp>
      <p:sp>
        <p:nvSpPr>
          <p:cNvPr id="27" name="Shape 25"/>
          <p:cNvSpPr/>
          <p:nvPr/>
        </p:nvSpPr>
        <p:spPr>
          <a:xfrm>
            <a:off x="1303414" y="5047094"/>
            <a:ext cx="1600200" cy="512064"/>
          </a:xfrm>
          <a:prstGeom prst="roundRect">
            <a:avLst>
              <a:gd name="adj" fmla="val 17857"/>
            </a:avLst>
          </a:prstGeom>
          <a:solidFill>
            <a:srgbClr val="FFFFFF"/>
          </a:solidFill>
          <a:ln w="15875">
            <a:solidFill>
              <a:srgbClr val="5BC0BE"/>
            </a:solidFill>
            <a:prstDash val="solid"/>
          </a:ln>
        </p:spPr>
      </p:sp>
      <p:sp>
        <p:nvSpPr>
          <p:cNvPr id="28" name="Text 26"/>
          <p:cNvSpPr txBox="1"/>
          <p:nvPr/>
        </p:nvSpPr>
        <p:spPr>
          <a:xfrm>
            <a:off x="1349134" y="5047094"/>
            <a:ext cx="1508760" cy="512064"/>
          </a:xfrm>
          <a:prstGeom prst="rect">
            <a:avLst/>
          </a:prstGeom>
          <a:noFill/>
          <a:ln/>
        </p:spPr>
        <p:txBody>
          <a:bodyPr wrap="square" lIns="0" tIns="0" rIns="0" bIns="0" rtlCol="0" anchor="ctr"/>
          <a:lstStyle/>
          <a:p>
            <a:pPr algn="ctr" indent="0" marL="0">
              <a:buNone/>
            </a:pPr>
            <a:r>
              <a:rPr lang="en-US" sz="1050" b="1" dirty="0">
                <a:solidFill>
                  <a:srgbClr val="0B132B"/>
                </a:solidFill>
                <a:latin typeface="Arial" pitchFamily="34" charset="0"/>
                <a:ea typeface="Arial" pitchFamily="34" charset="-122"/>
                <a:cs typeface="Arial" pitchFamily="34" charset="-120"/>
              </a:rPr>
              <a:t>Mejor personalización</a:t>
            </a:r>
            <a:endParaRPr lang="en-US" sz="1050" dirty="0"/>
          </a:p>
        </p:txBody>
      </p:sp>
      <p:sp>
        <p:nvSpPr>
          <p:cNvPr id="29" name="Shape 27"/>
          <p:cNvSpPr/>
          <p:nvPr/>
        </p:nvSpPr>
        <p:spPr>
          <a:xfrm>
            <a:off x="754380" y="3721608"/>
            <a:ext cx="1600200" cy="512064"/>
          </a:xfrm>
          <a:prstGeom prst="roundRect">
            <a:avLst>
              <a:gd name="adj" fmla="val 17857"/>
            </a:avLst>
          </a:prstGeom>
          <a:solidFill>
            <a:srgbClr val="FFFFFF"/>
          </a:solidFill>
          <a:ln w="15875">
            <a:solidFill>
              <a:srgbClr val="5BC0BE"/>
            </a:solidFill>
            <a:prstDash val="solid"/>
          </a:ln>
        </p:spPr>
      </p:sp>
      <p:sp>
        <p:nvSpPr>
          <p:cNvPr id="30" name="Text 28"/>
          <p:cNvSpPr txBox="1"/>
          <p:nvPr/>
        </p:nvSpPr>
        <p:spPr>
          <a:xfrm>
            <a:off x="800100" y="3721608"/>
            <a:ext cx="1508760" cy="512064"/>
          </a:xfrm>
          <a:prstGeom prst="rect">
            <a:avLst/>
          </a:prstGeom>
          <a:noFill/>
          <a:ln/>
        </p:spPr>
        <p:txBody>
          <a:bodyPr wrap="square" lIns="0" tIns="0" rIns="0" bIns="0" rtlCol="0" anchor="ctr"/>
          <a:lstStyle/>
          <a:p>
            <a:pPr algn="ctr" indent="0" marL="0">
              <a:buNone/>
            </a:pPr>
            <a:r>
              <a:rPr lang="en-US" sz="1050" b="1" dirty="0">
                <a:solidFill>
                  <a:srgbClr val="0B132B"/>
                </a:solidFill>
                <a:latin typeface="Arial" pitchFamily="34" charset="0"/>
                <a:ea typeface="Arial" pitchFamily="34" charset="-122"/>
                <a:cs typeface="Arial" pitchFamily="34" charset="-120"/>
              </a:rPr>
              <a:t>Mejor viaje</a:t>
            </a:r>
            <a:endParaRPr lang="en-US" sz="1050" dirty="0"/>
          </a:p>
        </p:txBody>
      </p:sp>
      <p:sp>
        <p:nvSpPr>
          <p:cNvPr id="31" name="Shape 29"/>
          <p:cNvSpPr/>
          <p:nvPr/>
        </p:nvSpPr>
        <p:spPr>
          <a:xfrm>
            <a:off x="1303414" y="2396122"/>
            <a:ext cx="1600200" cy="512064"/>
          </a:xfrm>
          <a:prstGeom prst="roundRect">
            <a:avLst>
              <a:gd name="adj" fmla="val 17857"/>
            </a:avLst>
          </a:prstGeom>
          <a:solidFill>
            <a:srgbClr val="FFFFFF"/>
          </a:solidFill>
          <a:ln w="15875">
            <a:solidFill>
              <a:srgbClr val="5BC0BE"/>
            </a:solidFill>
            <a:prstDash val="solid"/>
          </a:ln>
        </p:spPr>
      </p:sp>
      <p:sp>
        <p:nvSpPr>
          <p:cNvPr id="32" name="Text 30"/>
          <p:cNvSpPr txBox="1"/>
          <p:nvPr/>
        </p:nvSpPr>
        <p:spPr>
          <a:xfrm>
            <a:off x="1349134" y="2396122"/>
            <a:ext cx="1508760" cy="512064"/>
          </a:xfrm>
          <a:prstGeom prst="rect">
            <a:avLst/>
          </a:prstGeom>
          <a:noFill/>
          <a:ln/>
        </p:spPr>
        <p:txBody>
          <a:bodyPr wrap="square" lIns="0" tIns="0" rIns="0" bIns="0" rtlCol="0" anchor="ctr"/>
          <a:lstStyle/>
          <a:p>
            <a:pPr algn="ctr" indent="0" marL="0">
              <a:buNone/>
            </a:pPr>
            <a:r>
              <a:rPr lang="en-US" sz="1050" b="1" dirty="0">
                <a:solidFill>
                  <a:srgbClr val="0B132B"/>
                </a:solidFill>
                <a:latin typeface="Arial" pitchFamily="34" charset="0"/>
                <a:ea typeface="Arial" pitchFamily="34" charset="-122"/>
                <a:cs typeface="Arial" pitchFamily="34" charset="-120"/>
              </a:rPr>
              <a:t>Más conocimiento</a:t>
            </a:r>
            <a:endParaRPr lang="en-US" sz="1050" dirty="0"/>
          </a:p>
        </p:txBody>
      </p:sp>
      <p:sp>
        <p:nvSpPr>
          <p:cNvPr id="33" name="Text 31"/>
          <p:cNvSpPr txBox="1"/>
          <p:nvPr/>
        </p:nvSpPr>
        <p:spPr>
          <a:xfrm>
            <a:off x="6675120" y="1828800"/>
            <a:ext cx="4937760" cy="1188720"/>
          </a:xfrm>
          <a:prstGeom prst="rect">
            <a:avLst/>
          </a:prstGeom>
          <a:noFill/>
          <a:ln/>
        </p:spPr>
        <p:txBody>
          <a:bodyPr wrap="square" lIns="0" tIns="0" rIns="0" bIns="0" rtlCol="0" anchor="t"/>
          <a:lstStyle/>
          <a:p>
            <a:pPr indent="0" marL="0">
              <a:buNone/>
            </a:pPr>
            <a:r>
              <a:rPr lang="en-US" sz="2400" b="1" dirty="0">
                <a:solidFill>
                  <a:srgbClr val="0B132B"/>
                </a:solidFill>
                <a:latin typeface="Arial" pitchFamily="34" charset="0"/>
                <a:ea typeface="Arial" pitchFamily="34" charset="-122"/>
                <a:cs typeface="Arial" pitchFamily="34" charset="-120"/>
              </a:rPr>
              <a:t>Las búsquedas son temporales.</a:t>
            </a:r>
            <a:endParaRPr lang="en-US" sz="2400" dirty="0"/>
          </a:p>
          <a:p>
            <a:pPr indent="0" marL="0">
              <a:buNone/>
            </a:pPr>
            <a:r>
              <a:rPr lang="en-US" sz="2400" b="1" dirty="0">
                <a:solidFill>
                  <a:srgbClr val="1F7A73"/>
                </a:solidFill>
                <a:latin typeface="Arial" pitchFamily="34" charset="0"/>
                <a:ea typeface="Arial" pitchFamily="34" charset="-122"/>
                <a:cs typeface="Arial" pitchFamily="34" charset="-120"/>
              </a:rPr>
              <a:t>El conocimiento verificado se acumula.</a:t>
            </a:r>
            <a:endParaRPr lang="en-US" sz="2400" dirty="0"/>
          </a:p>
        </p:txBody>
      </p:sp>
      <p:sp>
        <p:nvSpPr>
          <p:cNvPr id="34" name="Text 32"/>
          <p:cNvSpPr txBox="1"/>
          <p:nvPr/>
        </p:nvSpPr>
        <p:spPr>
          <a:xfrm>
            <a:off x="6675120" y="3154680"/>
            <a:ext cx="4937760" cy="1005840"/>
          </a:xfrm>
          <a:prstGeom prst="rect">
            <a:avLst/>
          </a:prstGeom>
          <a:noFill/>
          <a:ln/>
        </p:spPr>
        <p:txBody>
          <a:bodyPr wrap="square" lIns="0" tIns="0" rIns="0" bIns="0" rtlCol="0" anchor="t"/>
          <a:lstStyle/>
          <a:p>
            <a:pPr indent="0" marL="0">
              <a:buNone/>
            </a:pPr>
            <a:r>
              <a:rPr lang="en-US" sz="1350" dirty="0">
                <a:solidFill>
                  <a:srgbClr val="3D4659"/>
                </a:solidFill>
                <a:latin typeface="Arial" pitchFamily="34" charset="0"/>
                <a:ea typeface="Arial" pitchFamily="34" charset="-122"/>
                <a:cs typeface="Arial" pitchFamily="34" charset="-120"/>
              </a:rPr>
              <a:t>Cada experiencia descubierta y verificada se guarda en un catálogo compartido, aunque no se use en ese viaje. La próxima solicitud parte de ese conocimiento en lugar de investigar de cero.</a:t>
            </a:r>
            <a:endParaRPr lang="en-US" sz="1350" dirty="0"/>
          </a:p>
        </p:txBody>
      </p:sp>
      <p:sp>
        <p:nvSpPr>
          <p:cNvPr id="35" name="Shape 33"/>
          <p:cNvSpPr/>
          <p:nvPr/>
        </p:nvSpPr>
        <p:spPr>
          <a:xfrm>
            <a:off x="6675120" y="4343400"/>
            <a:ext cx="4919472" cy="1737360"/>
          </a:xfrm>
          <a:prstGeom prst="roundRect">
            <a:avLst>
              <a:gd name="adj" fmla="val 5263"/>
            </a:avLst>
          </a:prstGeom>
          <a:solidFill>
            <a:srgbClr val="D5F0EE"/>
          </a:solidFill>
          <a:ln w="9525">
            <a:solidFill>
              <a:srgbClr val="D5F0EE"/>
            </a:solidFill>
            <a:prstDash val="solid"/>
          </a:ln>
        </p:spPr>
      </p:sp>
      <p:sp>
        <p:nvSpPr>
          <p:cNvPr id="36" name="Shape 34"/>
          <p:cNvSpPr/>
          <p:nvPr/>
        </p:nvSpPr>
        <p:spPr>
          <a:xfrm>
            <a:off x="6903720" y="4526280"/>
            <a:ext cx="864108" cy="274320"/>
          </a:xfrm>
          <a:prstGeom prst="roundRect">
            <a:avLst>
              <a:gd name="adj" fmla="val 50000"/>
            </a:avLst>
          </a:prstGeom>
          <a:solidFill>
            <a:srgbClr val="D5F0EE"/>
          </a:solidFill>
          <a:ln w="12700">
            <a:solidFill>
              <a:srgbClr val="D5F0EE"/>
            </a:solidFill>
            <a:prstDash val="solid"/>
          </a:ln>
        </p:spPr>
      </p:sp>
      <p:sp>
        <p:nvSpPr>
          <p:cNvPr id="37" name="Text 35"/>
          <p:cNvSpPr txBox="1"/>
          <p:nvPr/>
        </p:nvSpPr>
        <p:spPr>
          <a:xfrm>
            <a:off x="6903720" y="4526280"/>
            <a:ext cx="864108" cy="274320"/>
          </a:xfrm>
          <a:prstGeom prst="rect">
            <a:avLst/>
          </a:prstGeom>
          <a:noFill/>
          <a:ln/>
        </p:spPr>
        <p:txBody>
          <a:bodyPr wrap="square" lIns="0" tIns="0" rIns="0" bIns="0" rtlCol="0" anchor="ctr"/>
          <a:lstStyle/>
          <a:p>
            <a:pPr algn="ctr" indent="0" marL="0">
              <a:buNone/>
            </a:pPr>
            <a:r>
              <a:rPr lang="en-US" sz="900" b="1" spc="150" kern="0" dirty="0">
                <a:solidFill>
                  <a:srgbClr val="1F7A73"/>
                </a:solidFill>
                <a:latin typeface="Arial" pitchFamily="34" charset="0"/>
                <a:ea typeface="Arial" pitchFamily="34" charset="-122"/>
                <a:cs typeface="Arial" pitchFamily="34" charset="-120"/>
              </a:rPr>
              <a:t>PROBADO</a:t>
            </a:r>
            <a:endParaRPr lang="en-US" sz="900" dirty="0"/>
          </a:p>
        </p:txBody>
      </p:sp>
      <p:sp>
        <p:nvSpPr>
          <p:cNvPr id="38" name="Text 36"/>
          <p:cNvSpPr txBox="1"/>
          <p:nvPr/>
        </p:nvSpPr>
        <p:spPr>
          <a:xfrm>
            <a:off x="6903720" y="4937760"/>
            <a:ext cx="4480560" cy="1051560"/>
          </a:xfrm>
          <a:prstGeom prst="rect">
            <a:avLst/>
          </a:prstGeom>
          <a:noFill/>
          <a:ln/>
        </p:spPr>
        <p:txBody>
          <a:bodyPr wrap="square" lIns="0" tIns="0" rIns="0" bIns="0" rtlCol="0" anchor="t"/>
          <a:lstStyle/>
          <a:p>
            <a:pPr indent="0" marL="0">
              <a:buNone/>
            </a:pPr>
            <a:r>
              <a:rPr lang="en-US" sz="1250" dirty="0">
                <a:solidFill>
                  <a:srgbClr val="0B132B"/>
                </a:solidFill>
                <a:latin typeface="Arial" pitchFamily="34" charset="0"/>
                <a:ea typeface="Arial" pitchFamily="34" charset="-122"/>
                <a:cs typeface="Arial" pitchFamily="34" charset="-120"/>
              </a:rPr>
              <a:t>Caso real en Buenos Aires: al repetir el mismo pedido, Zig-Zag reutilizó la caminata que ya había verificado, sin volver a investigar. Primera vez: unos 4 minutos. Segunda vez: 34 segundos (entorno de pruebas, una medición).</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1E8"/>
        </a:solidFill>
      </p:bgPr>
    </p:bg>
    <p:spTree>
      <p:nvGrpSpPr>
        <p:cNvPr id="1" name=""/>
        <p:cNvGrpSpPr/>
        <p:nvPr/>
      </p:nvGrpSpPr>
      <p:grpSpPr>
        <a:xfrm>
          <a:off x="0" y="0"/>
          <a:ext cx="0" cy="0"/>
          <a:chOff x="0" y="0"/>
          <a:chExt cx="0" cy="0"/>
        </a:xfrm>
      </p:grpSpPr>
      <p:sp>
        <p:nvSpPr>
          <p:cNvPr id="2" name="Shape 0"/>
          <p:cNvSpPr/>
          <p:nvPr/>
        </p:nvSpPr>
        <p:spPr>
          <a:xfrm flipV="1">
            <a:off x="594360" y="384048"/>
            <a:ext cx="120701" cy="98755"/>
          </a:xfrm>
          <a:prstGeom prst="line">
            <a:avLst/>
          </a:prstGeom>
          <a:noFill/>
          <a:ln w="22225">
            <a:solidFill>
              <a:srgbClr val="5BC0BE"/>
            </a:solidFill>
            <a:prstDash val="solid"/>
          </a:ln>
        </p:spPr>
      </p:sp>
      <p:sp>
        <p:nvSpPr>
          <p:cNvPr id="3" name="Shape 1"/>
          <p:cNvSpPr/>
          <p:nvPr/>
        </p:nvSpPr>
        <p:spPr>
          <a:xfrm>
            <a:off x="715061" y="384048"/>
            <a:ext cx="120701" cy="98755"/>
          </a:xfrm>
          <a:prstGeom prst="line">
            <a:avLst/>
          </a:prstGeom>
          <a:noFill/>
          <a:ln w="22225">
            <a:solidFill>
              <a:srgbClr val="5BC0BE"/>
            </a:solidFill>
            <a:prstDash val="solid"/>
          </a:ln>
        </p:spPr>
      </p:sp>
      <p:sp>
        <p:nvSpPr>
          <p:cNvPr id="4" name="Shape 2"/>
          <p:cNvSpPr/>
          <p:nvPr/>
        </p:nvSpPr>
        <p:spPr>
          <a:xfrm flipV="1">
            <a:off x="835762" y="384048"/>
            <a:ext cx="120701" cy="98755"/>
          </a:xfrm>
          <a:prstGeom prst="line">
            <a:avLst/>
          </a:prstGeom>
          <a:noFill/>
          <a:ln w="22225">
            <a:solidFill>
              <a:srgbClr val="5BC0BE"/>
            </a:solidFill>
            <a:prstDash val="solid"/>
          </a:ln>
        </p:spPr>
      </p:sp>
      <p:sp>
        <p:nvSpPr>
          <p:cNvPr id="5" name="Shape 3"/>
          <p:cNvSpPr/>
          <p:nvPr/>
        </p:nvSpPr>
        <p:spPr>
          <a:xfrm>
            <a:off x="566928" y="455371"/>
            <a:ext cx="54864" cy="54864"/>
          </a:xfrm>
          <a:prstGeom prst="ellipse">
            <a:avLst/>
          </a:prstGeom>
          <a:solidFill>
            <a:srgbClr val="5BC0BE"/>
          </a:solidFill>
          <a:ln w="12700">
            <a:solidFill>
              <a:srgbClr val="5BC0BE"/>
            </a:solidFill>
            <a:prstDash val="solid"/>
          </a:ln>
        </p:spPr>
      </p:sp>
      <p:sp>
        <p:nvSpPr>
          <p:cNvPr id="6" name="Shape 4"/>
          <p:cNvSpPr/>
          <p:nvPr/>
        </p:nvSpPr>
        <p:spPr>
          <a:xfrm>
            <a:off x="687629" y="356616"/>
            <a:ext cx="54864" cy="54864"/>
          </a:xfrm>
          <a:prstGeom prst="ellipse">
            <a:avLst/>
          </a:prstGeom>
          <a:solidFill>
            <a:srgbClr val="5BC0BE"/>
          </a:solidFill>
          <a:ln w="12700">
            <a:solidFill>
              <a:srgbClr val="5BC0BE"/>
            </a:solidFill>
            <a:prstDash val="solid"/>
          </a:ln>
        </p:spPr>
      </p:sp>
      <p:sp>
        <p:nvSpPr>
          <p:cNvPr id="7" name="Shape 5"/>
          <p:cNvSpPr/>
          <p:nvPr/>
        </p:nvSpPr>
        <p:spPr>
          <a:xfrm>
            <a:off x="808330" y="455371"/>
            <a:ext cx="54864" cy="54864"/>
          </a:xfrm>
          <a:prstGeom prst="ellipse">
            <a:avLst/>
          </a:prstGeom>
          <a:solidFill>
            <a:srgbClr val="5BC0BE"/>
          </a:solidFill>
          <a:ln w="12700">
            <a:solidFill>
              <a:srgbClr val="5BC0BE"/>
            </a:solidFill>
            <a:prstDash val="solid"/>
          </a:ln>
        </p:spPr>
      </p:sp>
      <p:sp>
        <p:nvSpPr>
          <p:cNvPr id="8" name="Shape 6"/>
          <p:cNvSpPr/>
          <p:nvPr/>
        </p:nvSpPr>
        <p:spPr>
          <a:xfrm>
            <a:off x="929030" y="356616"/>
            <a:ext cx="54864" cy="54864"/>
          </a:xfrm>
          <a:prstGeom prst="ellipse">
            <a:avLst/>
          </a:prstGeom>
          <a:solidFill>
            <a:srgbClr val="5BC0BE"/>
          </a:solidFill>
          <a:ln w="12700">
            <a:solidFill>
              <a:srgbClr val="5BC0BE"/>
            </a:solidFill>
            <a:prstDash val="solid"/>
          </a:ln>
        </p:spPr>
      </p:sp>
      <p:sp>
        <p:nvSpPr>
          <p:cNvPr id="9" name="Shape 7"/>
          <p:cNvSpPr/>
          <p:nvPr/>
        </p:nvSpPr>
        <p:spPr>
          <a:xfrm>
            <a:off x="1143000" y="329184"/>
            <a:ext cx="1019556" cy="274320"/>
          </a:xfrm>
          <a:prstGeom prst="roundRect">
            <a:avLst>
              <a:gd name="adj" fmla="val 50000"/>
            </a:avLst>
          </a:prstGeom>
          <a:solidFill>
            <a:srgbClr val="DDE4EE"/>
          </a:solidFill>
          <a:ln w="12700">
            <a:solidFill>
              <a:srgbClr val="DDE4EE"/>
            </a:solidFill>
            <a:prstDash val="solid"/>
          </a:ln>
        </p:spPr>
      </p:sp>
      <p:sp>
        <p:nvSpPr>
          <p:cNvPr id="10" name="Text 8"/>
          <p:cNvSpPr txBox="1"/>
          <p:nvPr/>
        </p:nvSpPr>
        <p:spPr>
          <a:xfrm>
            <a:off x="1143000" y="329184"/>
            <a:ext cx="1019556" cy="274320"/>
          </a:xfrm>
          <a:prstGeom prst="rect">
            <a:avLst/>
          </a:prstGeom>
          <a:noFill/>
          <a:ln/>
        </p:spPr>
        <p:txBody>
          <a:bodyPr wrap="square" lIns="0" tIns="0" rIns="0" bIns="0" rtlCol="0" anchor="ctr"/>
          <a:lstStyle/>
          <a:p>
            <a:pPr algn="ctr" indent="0" marL="0">
              <a:buNone/>
            </a:pPr>
            <a:r>
              <a:rPr lang="en-US" sz="900" b="1" spc="150" kern="0" dirty="0">
                <a:solidFill>
                  <a:srgbClr val="3A506B"/>
                </a:solidFill>
                <a:latin typeface="Arial" pitchFamily="34" charset="0"/>
                <a:ea typeface="Arial" pitchFamily="34" charset="-122"/>
                <a:cs typeface="Arial" pitchFamily="34" charset="-120"/>
              </a:rPr>
              <a:t>PROPUESTO</a:t>
            </a:r>
            <a:endParaRPr lang="en-US" sz="900" dirty="0"/>
          </a:p>
        </p:txBody>
      </p:sp>
      <p:sp>
        <p:nvSpPr>
          <p:cNvPr id="11" name="Text 9"/>
          <p:cNvSpPr txBox="1"/>
          <p:nvPr/>
        </p:nvSpPr>
        <p:spPr>
          <a:xfrm>
            <a:off x="594360" y="777240"/>
            <a:ext cx="11002975" cy="731520"/>
          </a:xfrm>
          <a:prstGeom prst="rect">
            <a:avLst/>
          </a:prstGeom>
          <a:noFill/>
          <a:ln/>
        </p:spPr>
        <p:txBody>
          <a:bodyPr wrap="square" lIns="0" tIns="0" rIns="0" bIns="0" rtlCol="0" anchor="t"/>
          <a:lstStyle/>
          <a:p>
            <a:pPr indent="0" marL="0">
              <a:buNone/>
            </a:pPr>
            <a:r>
              <a:rPr lang="en-US" sz="3000" b="1" dirty="0">
                <a:solidFill>
                  <a:srgbClr val="0B132B"/>
                </a:solidFill>
                <a:latin typeface="Arial" pitchFamily="34" charset="0"/>
                <a:ea typeface="Arial" pitchFamily="34" charset="-122"/>
                <a:cs typeface="Arial" pitchFamily="34" charset="-120"/>
              </a:rPr>
              <a:t>Cada viaje puede mejorar el próximo</a:t>
            </a:r>
            <a:endParaRPr lang="en-US" sz="3000" dirty="0"/>
          </a:p>
        </p:txBody>
      </p:sp>
      <p:sp>
        <p:nvSpPr>
          <p:cNvPr id="12" name="Text 10"/>
          <p:cNvSpPr txBox="1"/>
          <p:nvPr/>
        </p:nvSpPr>
        <p:spPr>
          <a:xfrm>
            <a:off x="594360" y="6473952"/>
            <a:ext cx="7315200" cy="182880"/>
          </a:xfrm>
          <a:prstGeom prst="rect">
            <a:avLst/>
          </a:prstGeom>
          <a:noFill/>
          <a:ln/>
        </p:spPr>
        <p:txBody>
          <a:bodyPr wrap="square" lIns="0" tIns="0" rIns="0" bIns="0" rtlCol="0" anchor="t"/>
          <a:lstStyle/>
          <a:p>
            <a:pPr indent="0" marL="0">
              <a:buNone/>
            </a:pPr>
            <a:r>
              <a:rPr lang="en-US" sz="850" dirty="0">
                <a:solidFill>
                  <a:srgbClr val="6B7385"/>
                </a:solidFill>
                <a:latin typeface="Arial" pitchFamily="34" charset="0"/>
                <a:ea typeface="Arial" pitchFamily="34" charset="-122"/>
                <a:cs typeface="Arial" pitchFamily="34" charset="-120"/>
              </a:rPr>
              <a:t>Zig-Zag · Business, Product &amp; Strategy Update · Septiembre 2026</a:t>
            </a:r>
            <a:endParaRPr lang="en-US" sz="850" dirty="0"/>
          </a:p>
        </p:txBody>
      </p:sp>
      <p:sp>
        <p:nvSpPr>
          <p:cNvPr id="13" name="Text 11"/>
          <p:cNvSpPr txBox="1"/>
          <p:nvPr/>
        </p:nvSpPr>
        <p:spPr>
          <a:xfrm>
            <a:off x="11048695" y="6473952"/>
            <a:ext cx="548640" cy="182880"/>
          </a:xfrm>
          <a:prstGeom prst="rect">
            <a:avLst/>
          </a:prstGeom>
          <a:noFill/>
          <a:ln/>
        </p:spPr>
        <p:txBody>
          <a:bodyPr wrap="square" lIns="0" tIns="0" rIns="0" bIns="0" rtlCol="0" anchor="t"/>
          <a:lstStyle/>
          <a:p>
            <a:pPr algn="r" indent="0" marL="0">
              <a:buNone/>
            </a:pPr>
            <a:r>
              <a:rPr lang="en-US" sz="850" dirty="0">
                <a:solidFill>
                  <a:srgbClr val="6B7385"/>
                </a:solidFill>
                <a:latin typeface="Arial" pitchFamily="34" charset="0"/>
                <a:ea typeface="Arial" pitchFamily="34" charset="-122"/>
                <a:cs typeface="Arial" pitchFamily="34" charset="-120"/>
              </a:rPr>
              <a:t>6</a:t>
            </a:r>
            <a:endParaRPr lang="en-US" sz="850" dirty="0"/>
          </a:p>
        </p:txBody>
      </p:sp>
      <p:sp>
        <p:nvSpPr>
          <p:cNvPr id="14" name="Text 12"/>
          <p:cNvSpPr txBox="1"/>
          <p:nvPr/>
        </p:nvSpPr>
        <p:spPr>
          <a:xfrm>
            <a:off x="594360" y="1600200"/>
            <a:ext cx="10972800" cy="365760"/>
          </a:xfrm>
          <a:prstGeom prst="rect">
            <a:avLst/>
          </a:prstGeom>
          <a:noFill/>
          <a:ln/>
        </p:spPr>
        <p:txBody>
          <a:bodyPr wrap="square" lIns="0" tIns="0" rIns="0" bIns="0" rtlCol="0" anchor="t"/>
          <a:lstStyle/>
          <a:p>
            <a:pPr indent="0" marL="0">
              <a:buNone/>
            </a:pPr>
            <a:r>
              <a:rPr lang="en-US" sz="1500" dirty="0">
                <a:solidFill>
                  <a:srgbClr val="3D4659"/>
                </a:solidFill>
                <a:latin typeface="Arial" pitchFamily="34" charset="0"/>
                <a:ea typeface="Arial" pitchFamily="34" charset="-122"/>
                <a:cs typeface="Arial" pitchFamily="34" charset="-120"/>
              </a:rPr>
              <a:t>Ventaja acumulativa potencial: en vez de empezar de cero en cada solicitud, Zig-Zag puede acumular…</a:t>
            </a:r>
            <a:endParaRPr lang="en-US" sz="1500" dirty="0"/>
          </a:p>
        </p:txBody>
      </p:sp>
      <p:sp>
        <p:nvSpPr>
          <p:cNvPr id="15" name="Shape 13"/>
          <p:cNvSpPr/>
          <p:nvPr/>
        </p:nvSpPr>
        <p:spPr>
          <a:xfrm>
            <a:off x="594360" y="2194560"/>
            <a:ext cx="2606040" cy="1143000"/>
          </a:xfrm>
          <a:prstGeom prst="roundRect">
            <a:avLst>
              <a:gd name="adj" fmla="val 8000"/>
            </a:avLst>
          </a:prstGeom>
          <a:solidFill>
            <a:srgbClr val="FFFFFF"/>
          </a:solidFill>
          <a:ln w="9525">
            <a:solidFill>
              <a:srgbClr val="D8D2C4"/>
            </a:solidFill>
            <a:prstDash val="solid"/>
          </a:ln>
        </p:spPr>
      </p:sp>
      <p:sp>
        <p:nvSpPr>
          <p:cNvPr id="16" name="Shape 14"/>
          <p:cNvSpPr/>
          <p:nvPr/>
        </p:nvSpPr>
        <p:spPr>
          <a:xfrm>
            <a:off x="822960" y="2450592"/>
            <a:ext cx="164592" cy="164592"/>
          </a:xfrm>
          <a:prstGeom prst="ellipse">
            <a:avLst/>
          </a:prstGeom>
          <a:solidFill>
            <a:srgbClr val="5BC0BE"/>
          </a:solidFill>
          <a:ln w="12700">
            <a:solidFill>
              <a:srgbClr val="5BC0BE"/>
            </a:solidFill>
            <a:prstDash val="solid"/>
          </a:ln>
        </p:spPr>
      </p:sp>
      <p:sp>
        <p:nvSpPr>
          <p:cNvPr id="17" name="Text 15"/>
          <p:cNvSpPr txBox="1"/>
          <p:nvPr/>
        </p:nvSpPr>
        <p:spPr>
          <a:xfrm>
            <a:off x="1097280" y="2377440"/>
            <a:ext cx="1965960" cy="365760"/>
          </a:xfrm>
          <a:prstGeom prst="rect">
            <a:avLst/>
          </a:prstGeom>
          <a:noFill/>
          <a:ln/>
        </p:spPr>
        <p:txBody>
          <a:bodyPr wrap="square" lIns="0" tIns="0" rIns="0" bIns="0" rtlCol="0" anchor="t"/>
          <a:lstStyle/>
          <a:p>
            <a:pPr indent="0" marL="0">
              <a:buNone/>
            </a:pPr>
            <a:r>
              <a:rPr lang="en-US" sz="1300" b="1" dirty="0">
                <a:solidFill>
                  <a:srgbClr val="0B132B"/>
                </a:solidFill>
                <a:latin typeface="Arial" pitchFamily="34" charset="0"/>
                <a:ea typeface="Arial" pitchFamily="34" charset="-122"/>
                <a:cs typeface="Arial" pitchFamily="34" charset="-120"/>
              </a:rPr>
              <a:t>Experiencias únicas</a:t>
            </a:r>
            <a:endParaRPr lang="en-US" sz="1300" dirty="0"/>
          </a:p>
        </p:txBody>
      </p:sp>
      <p:sp>
        <p:nvSpPr>
          <p:cNvPr id="18" name="Text 16"/>
          <p:cNvSpPr txBox="1"/>
          <p:nvPr/>
        </p:nvSpPr>
        <p:spPr>
          <a:xfrm>
            <a:off x="1097280" y="2761488"/>
            <a:ext cx="1965960" cy="457200"/>
          </a:xfrm>
          <a:prstGeom prst="rect">
            <a:avLst/>
          </a:prstGeom>
          <a:noFill/>
          <a:ln/>
        </p:spPr>
        <p:txBody>
          <a:bodyPr wrap="square" lIns="0" tIns="0" rIns="0" bIns="0" rtlCol="0" anchor="t"/>
          <a:lstStyle/>
          <a:p>
            <a:pPr indent="0" marL="0">
              <a:buNone/>
            </a:pPr>
            <a:r>
              <a:rPr lang="en-US" sz="1100" dirty="0">
                <a:solidFill>
                  <a:srgbClr val="3D4659"/>
                </a:solidFill>
                <a:latin typeface="Arial" pitchFamily="34" charset="0"/>
                <a:ea typeface="Arial" pitchFamily="34" charset="-122"/>
                <a:cs typeface="Arial" pitchFamily="34" charset="-120"/>
              </a:rPr>
              <a:t>Cada experiencia existe una sola vez, sin duplicados</a:t>
            </a:r>
            <a:endParaRPr lang="en-US" sz="1100" dirty="0"/>
          </a:p>
        </p:txBody>
      </p:sp>
      <p:sp>
        <p:nvSpPr>
          <p:cNvPr id="19" name="Shape 17"/>
          <p:cNvSpPr/>
          <p:nvPr/>
        </p:nvSpPr>
        <p:spPr>
          <a:xfrm>
            <a:off x="3383280" y="2194560"/>
            <a:ext cx="2606040" cy="1143000"/>
          </a:xfrm>
          <a:prstGeom prst="roundRect">
            <a:avLst>
              <a:gd name="adj" fmla="val 8000"/>
            </a:avLst>
          </a:prstGeom>
          <a:solidFill>
            <a:srgbClr val="FFFFFF"/>
          </a:solidFill>
          <a:ln w="9525">
            <a:solidFill>
              <a:srgbClr val="D8D2C4"/>
            </a:solidFill>
            <a:prstDash val="solid"/>
          </a:ln>
        </p:spPr>
      </p:sp>
      <p:sp>
        <p:nvSpPr>
          <p:cNvPr id="20" name="Shape 18"/>
          <p:cNvSpPr/>
          <p:nvPr/>
        </p:nvSpPr>
        <p:spPr>
          <a:xfrm>
            <a:off x="3611880" y="2450592"/>
            <a:ext cx="164592" cy="164592"/>
          </a:xfrm>
          <a:prstGeom prst="ellipse">
            <a:avLst/>
          </a:prstGeom>
          <a:solidFill>
            <a:srgbClr val="5BC0BE"/>
          </a:solidFill>
          <a:ln w="12700">
            <a:solidFill>
              <a:srgbClr val="5BC0BE"/>
            </a:solidFill>
            <a:prstDash val="solid"/>
          </a:ln>
        </p:spPr>
      </p:sp>
      <p:sp>
        <p:nvSpPr>
          <p:cNvPr id="21" name="Text 19"/>
          <p:cNvSpPr txBox="1"/>
          <p:nvPr/>
        </p:nvSpPr>
        <p:spPr>
          <a:xfrm>
            <a:off x="3886200" y="2377440"/>
            <a:ext cx="1965960" cy="365760"/>
          </a:xfrm>
          <a:prstGeom prst="rect">
            <a:avLst/>
          </a:prstGeom>
          <a:noFill/>
          <a:ln/>
        </p:spPr>
        <p:txBody>
          <a:bodyPr wrap="square" lIns="0" tIns="0" rIns="0" bIns="0" rtlCol="0" anchor="t"/>
          <a:lstStyle/>
          <a:p>
            <a:pPr indent="0" marL="0">
              <a:buNone/>
            </a:pPr>
            <a:r>
              <a:rPr lang="en-US" sz="1300" b="1" dirty="0">
                <a:solidFill>
                  <a:srgbClr val="0B132B"/>
                </a:solidFill>
                <a:latin typeface="Arial" pitchFamily="34" charset="0"/>
                <a:ea typeface="Arial" pitchFamily="34" charset="-122"/>
                <a:cs typeface="Arial" pitchFamily="34" charset="-120"/>
              </a:rPr>
              <a:t>Entidades geográficas verificadas</a:t>
            </a:r>
            <a:endParaRPr lang="en-US" sz="1300" dirty="0"/>
          </a:p>
        </p:txBody>
      </p:sp>
      <p:sp>
        <p:nvSpPr>
          <p:cNvPr id="22" name="Text 20"/>
          <p:cNvSpPr txBox="1"/>
          <p:nvPr/>
        </p:nvSpPr>
        <p:spPr>
          <a:xfrm>
            <a:off x="3886200" y="2761488"/>
            <a:ext cx="1965960" cy="457200"/>
          </a:xfrm>
          <a:prstGeom prst="rect">
            <a:avLst/>
          </a:prstGeom>
          <a:noFill/>
          <a:ln/>
        </p:spPr>
        <p:txBody>
          <a:bodyPr wrap="square" lIns="0" tIns="0" rIns="0" bIns="0" rtlCol="0" anchor="t"/>
          <a:lstStyle/>
          <a:p>
            <a:pPr indent="0" marL="0">
              <a:buNone/>
            </a:pPr>
            <a:r>
              <a:rPr lang="en-US" sz="1100" dirty="0">
                <a:solidFill>
                  <a:srgbClr val="3D4659"/>
                </a:solidFill>
                <a:latin typeface="Arial" pitchFamily="34" charset="0"/>
                <a:ea typeface="Arial" pitchFamily="34" charset="-122"/>
                <a:cs typeface="Arial" pitchFamily="34" charset="-120"/>
              </a:rPr>
              <a:t>Lugares, áreas y rutas reales</a:t>
            </a:r>
            <a:endParaRPr lang="en-US" sz="1100" dirty="0"/>
          </a:p>
        </p:txBody>
      </p:sp>
      <p:sp>
        <p:nvSpPr>
          <p:cNvPr id="23" name="Shape 21"/>
          <p:cNvSpPr/>
          <p:nvPr/>
        </p:nvSpPr>
        <p:spPr>
          <a:xfrm>
            <a:off x="6172200" y="2194560"/>
            <a:ext cx="2606040" cy="1143000"/>
          </a:xfrm>
          <a:prstGeom prst="roundRect">
            <a:avLst>
              <a:gd name="adj" fmla="val 8000"/>
            </a:avLst>
          </a:prstGeom>
          <a:solidFill>
            <a:srgbClr val="FFFFFF"/>
          </a:solidFill>
          <a:ln w="9525">
            <a:solidFill>
              <a:srgbClr val="D8D2C4"/>
            </a:solidFill>
            <a:prstDash val="solid"/>
          </a:ln>
        </p:spPr>
      </p:sp>
      <p:sp>
        <p:nvSpPr>
          <p:cNvPr id="24" name="Shape 22"/>
          <p:cNvSpPr/>
          <p:nvPr/>
        </p:nvSpPr>
        <p:spPr>
          <a:xfrm>
            <a:off x="6400800" y="2450592"/>
            <a:ext cx="164592" cy="164592"/>
          </a:xfrm>
          <a:prstGeom prst="ellipse">
            <a:avLst/>
          </a:prstGeom>
          <a:solidFill>
            <a:srgbClr val="5BC0BE"/>
          </a:solidFill>
          <a:ln w="12700">
            <a:solidFill>
              <a:srgbClr val="5BC0BE"/>
            </a:solidFill>
            <a:prstDash val="solid"/>
          </a:ln>
        </p:spPr>
      </p:sp>
      <p:sp>
        <p:nvSpPr>
          <p:cNvPr id="25" name="Text 23"/>
          <p:cNvSpPr txBox="1"/>
          <p:nvPr/>
        </p:nvSpPr>
        <p:spPr>
          <a:xfrm>
            <a:off x="6675120" y="2377440"/>
            <a:ext cx="1965960" cy="365760"/>
          </a:xfrm>
          <a:prstGeom prst="rect">
            <a:avLst/>
          </a:prstGeom>
          <a:noFill/>
          <a:ln/>
        </p:spPr>
        <p:txBody>
          <a:bodyPr wrap="square" lIns="0" tIns="0" rIns="0" bIns="0" rtlCol="0" anchor="t"/>
          <a:lstStyle/>
          <a:p>
            <a:pPr indent="0" marL="0">
              <a:buNone/>
            </a:pPr>
            <a:r>
              <a:rPr lang="en-US" sz="1300" b="1" dirty="0">
                <a:solidFill>
                  <a:srgbClr val="0B132B"/>
                </a:solidFill>
                <a:latin typeface="Arial" pitchFamily="34" charset="0"/>
                <a:ea typeface="Arial" pitchFamily="34" charset="-122"/>
                <a:cs typeface="Arial" pitchFamily="34" charset="-120"/>
              </a:rPr>
              <a:t>Procedencia de fuentes</a:t>
            </a:r>
            <a:endParaRPr lang="en-US" sz="1300" dirty="0"/>
          </a:p>
        </p:txBody>
      </p:sp>
      <p:sp>
        <p:nvSpPr>
          <p:cNvPr id="26" name="Text 24"/>
          <p:cNvSpPr txBox="1"/>
          <p:nvPr/>
        </p:nvSpPr>
        <p:spPr>
          <a:xfrm>
            <a:off x="6675120" y="2761488"/>
            <a:ext cx="1965960" cy="457200"/>
          </a:xfrm>
          <a:prstGeom prst="rect">
            <a:avLst/>
          </a:prstGeom>
          <a:noFill/>
          <a:ln/>
        </p:spPr>
        <p:txBody>
          <a:bodyPr wrap="square" lIns="0" tIns="0" rIns="0" bIns="0" rtlCol="0" anchor="t"/>
          <a:lstStyle/>
          <a:p>
            <a:pPr indent="0" marL="0">
              <a:buNone/>
            </a:pPr>
            <a:r>
              <a:rPr lang="en-US" sz="1100" dirty="0">
                <a:solidFill>
                  <a:srgbClr val="3D4659"/>
                </a:solidFill>
                <a:latin typeface="Arial" pitchFamily="34" charset="0"/>
                <a:ea typeface="Arial" pitchFamily="34" charset="-122"/>
                <a:cs typeface="Arial" pitchFamily="34" charset="-120"/>
              </a:rPr>
              <a:t>De dónde sale cada afirmación</a:t>
            </a:r>
            <a:endParaRPr lang="en-US" sz="1100" dirty="0"/>
          </a:p>
        </p:txBody>
      </p:sp>
      <p:sp>
        <p:nvSpPr>
          <p:cNvPr id="27" name="Shape 25"/>
          <p:cNvSpPr/>
          <p:nvPr/>
        </p:nvSpPr>
        <p:spPr>
          <a:xfrm>
            <a:off x="8961120" y="2194560"/>
            <a:ext cx="2606040" cy="1143000"/>
          </a:xfrm>
          <a:prstGeom prst="roundRect">
            <a:avLst>
              <a:gd name="adj" fmla="val 8000"/>
            </a:avLst>
          </a:prstGeom>
          <a:solidFill>
            <a:srgbClr val="FFFFFF"/>
          </a:solidFill>
          <a:ln w="9525">
            <a:solidFill>
              <a:srgbClr val="D8D2C4"/>
            </a:solidFill>
            <a:prstDash val="solid"/>
          </a:ln>
        </p:spPr>
      </p:sp>
      <p:sp>
        <p:nvSpPr>
          <p:cNvPr id="28" name="Shape 26"/>
          <p:cNvSpPr/>
          <p:nvPr/>
        </p:nvSpPr>
        <p:spPr>
          <a:xfrm>
            <a:off x="9189720" y="2450592"/>
            <a:ext cx="164592" cy="164592"/>
          </a:xfrm>
          <a:prstGeom prst="ellipse">
            <a:avLst/>
          </a:prstGeom>
          <a:solidFill>
            <a:srgbClr val="5BC0BE"/>
          </a:solidFill>
          <a:ln w="12700">
            <a:solidFill>
              <a:srgbClr val="5BC0BE"/>
            </a:solidFill>
            <a:prstDash val="solid"/>
          </a:ln>
        </p:spPr>
      </p:sp>
      <p:sp>
        <p:nvSpPr>
          <p:cNvPr id="29" name="Text 27"/>
          <p:cNvSpPr txBox="1"/>
          <p:nvPr/>
        </p:nvSpPr>
        <p:spPr>
          <a:xfrm>
            <a:off x="9464040" y="2377440"/>
            <a:ext cx="1965960" cy="365760"/>
          </a:xfrm>
          <a:prstGeom prst="rect">
            <a:avLst/>
          </a:prstGeom>
          <a:noFill/>
          <a:ln/>
        </p:spPr>
        <p:txBody>
          <a:bodyPr wrap="square" lIns="0" tIns="0" rIns="0" bIns="0" rtlCol="0" anchor="t"/>
          <a:lstStyle/>
          <a:p>
            <a:pPr indent="0" marL="0">
              <a:buNone/>
            </a:pPr>
            <a:r>
              <a:rPr lang="en-US" sz="1300" b="1" dirty="0">
                <a:solidFill>
                  <a:srgbClr val="0B132B"/>
                </a:solidFill>
                <a:latin typeface="Arial" pitchFamily="34" charset="0"/>
                <a:ea typeface="Arial" pitchFamily="34" charset="-122"/>
                <a:cs typeface="Arial" pitchFamily="34" charset="-120"/>
              </a:rPr>
              <a:t>Clasificación</a:t>
            </a:r>
            <a:endParaRPr lang="en-US" sz="1300" dirty="0"/>
          </a:p>
        </p:txBody>
      </p:sp>
      <p:sp>
        <p:nvSpPr>
          <p:cNvPr id="30" name="Text 28"/>
          <p:cNvSpPr txBox="1"/>
          <p:nvPr/>
        </p:nvSpPr>
        <p:spPr>
          <a:xfrm>
            <a:off x="9464040" y="2761488"/>
            <a:ext cx="1965960" cy="457200"/>
          </a:xfrm>
          <a:prstGeom prst="rect">
            <a:avLst/>
          </a:prstGeom>
          <a:noFill/>
          <a:ln/>
        </p:spPr>
        <p:txBody>
          <a:bodyPr wrap="square" lIns="0" tIns="0" rIns="0" bIns="0" rtlCol="0" anchor="t"/>
          <a:lstStyle/>
          <a:p>
            <a:pPr indent="0" marL="0">
              <a:buNone/>
            </a:pPr>
            <a:r>
              <a:rPr lang="en-US" sz="1100" dirty="0">
                <a:solidFill>
                  <a:srgbClr val="3D4659"/>
                </a:solidFill>
                <a:latin typeface="Arial" pitchFamily="34" charset="0"/>
                <a:ea typeface="Arial" pitchFamily="34" charset="-122"/>
                <a:cs typeface="Arial" pitchFamily="34" charset="-120"/>
              </a:rPr>
              <a:t>Temas e intenciones desde evidencia</a:t>
            </a:r>
            <a:endParaRPr lang="en-US" sz="1100" dirty="0"/>
          </a:p>
        </p:txBody>
      </p:sp>
      <p:sp>
        <p:nvSpPr>
          <p:cNvPr id="31" name="Shape 29"/>
          <p:cNvSpPr/>
          <p:nvPr/>
        </p:nvSpPr>
        <p:spPr>
          <a:xfrm>
            <a:off x="594360" y="3520440"/>
            <a:ext cx="2606040" cy="1143000"/>
          </a:xfrm>
          <a:prstGeom prst="roundRect">
            <a:avLst>
              <a:gd name="adj" fmla="val 8000"/>
            </a:avLst>
          </a:prstGeom>
          <a:solidFill>
            <a:srgbClr val="FFFFFF"/>
          </a:solidFill>
          <a:ln w="9525">
            <a:solidFill>
              <a:srgbClr val="D8D2C4"/>
            </a:solidFill>
            <a:prstDash val="solid"/>
          </a:ln>
        </p:spPr>
      </p:sp>
      <p:sp>
        <p:nvSpPr>
          <p:cNvPr id="32" name="Shape 30"/>
          <p:cNvSpPr/>
          <p:nvPr/>
        </p:nvSpPr>
        <p:spPr>
          <a:xfrm>
            <a:off x="822960" y="3776472"/>
            <a:ext cx="164592" cy="164592"/>
          </a:xfrm>
          <a:prstGeom prst="ellipse">
            <a:avLst/>
          </a:prstGeom>
          <a:solidFill>
            <a:srgbClr val="5BC0BE"/>
          </a:solidFill>
          <a:ln w="12700">
            <a:solidFill>
              <a:srgbClr val="5BC0BE"/>
            </a:solidFill>
            <a:prstDash val="solid"/>
          </a:ln>
        </p:spPr>
      </p:sp>
      <p:sp>
        <p:nvSpPr>
          <p:cNvPr id="33" name="Text 31"/>
          <p:cNvSpPr txBox="1"/>
          <p:nvPr/>
        </p:nvSpPr>
        <p:spPr>
          <a:xfrm>
            <a:off x="1097280" y="3703320"/>
            <a:ext cx="1965960" cy="365760"/>
          </a:xfrm>
          <a:prstGeom prst="rect">
            <a:avLst/>
          </a:prstGeom>
          <a:noFill/>
          <a:ln/>
        </p:spPr>
        <p:txBody>
          <a:bodyPr wrap="square" lIns="0" tIns="0" rIns="0" bIns="0" rtlCol="0" anchor="t"/>
          <a:lstStyle/>
          <a:p>
            <a:pPr indent="0" marL="0">
              <a:buNone/>
            </a:pPr>
            <a:r>
              <a:rPr lang="en-US" sz="1300" b="1" dirty="0">
                <a:solidFill>
                  <a:srgbClr val="0B132B"/>
                </a:solidFill>
                <a:latin typeface="Arial" pitchFamily="34" charset="0"/>
                <a:ea typeface="Arial" pitchFamily="34" charset="-122"/>
                <a:cs typeface="Arial" pitchFamily="34" charset="-120"/>
              </a:rPr>
              <a:t>Relaciones entre componentes</a:t>
            </a:r>
            <a:endParaRPr lang="en-US" sz="1300" dirty="0"/>
          </a:p>
        </p:txBody>
      </p:sp>
      <p:sp>
        <p:nvSpPr>
          <p:cNvPr id="34" name="Text 32"/>
          <p:cNvSpPr txBox="1"/>
          <p:nvPr/>
        </p:nvSpPr>
        <p:spPr>
          <a:xfrm>
            <a:off x="1097280" y="4087368"/>
            <a:ext cx="1965960" cy="457200"/>
          </a:xfrm>
          <a:prstGeom prst="rect">
            <a:avLst/>
          </a:prstGeom>
          <a:noFill/>
          <a:ln/>
        </p:spPr>
        <p:txBody>
          <a:bodyPr wrap="square" lIns="0" tIns="0" rIns="0" bIns="0" rtlCol="0" anchor="t"/>
          <a:lstStyle/>
          <a:p>
            <a:pPr indent="0" marL="0">
              <a:buNone/>
            </a:pPr>
            <a:r>
              <a:rPr lang="en-US" sz="1100" dirty="0">
                <a:solidFill>
                  <a:srgbClr val="3D4659"/>
                </a:solidFill>
                <a:latin typeface="Arial" pitchFamily="34" charset="0"/>
                <a:ea typeface="Arial" pitchFamily="34" charset="-122"/>
                <a:cs typeface="Arial" pitchFamily="34" charset="-120"/>
              </a:rPr>
              <a:t>Qué paradas forman una experiencia</a:t>
            </a:r>
            <a:endParaRPr lang="en-US" sz="1100" dirty="0"/>
          </a:p>
        </p:txBody>
      </p:sp>
      <p:sp>
        <p:nvSpPr>
          <p:cNvPr id="35" name="Shape 33"/>
          <p:cNvSpPr/>
          <p:nvPr/>
        </p:nvSpPr>
        <p:spPr>
          <a:xfrm>
            <a:off x="3383280" y="3520440"/>
            <a:ext cx="2606040" cy="1143000"/>
          </a:xfrm>
          <a:prstGeom prst="roundRect">
            <a:avLst>
              <a:gd name="adj" fmla="val 8000"/>
            </a:avLst>
          </a:prstGeom>
          <a:solidFill>
            <a:srgbClr val="FFFFFF"/>
          </a:solidFill>
          <a:ln w="9525">
            <a:solidFill>
              <a:srgbClr val="D8D2C4"/>
            </a:solidFill>
            <a:prstDash val="solid"/>
          </a:ln>
        </p:spPr>
      </p:sp>
      <p:sp>
        <p:nvSpPr>
          <p:cNvPr id="36" name="Shape 34"/>
          <p:cNvSpPr/>
          <p:nvPr/>
        </p:nvSpPr>
        <p:spPr>
          <a:xfrm>
            <a:off x="3611880" y="3776472"/>
            <a:ext cx="164592" cy="164592"/>
          </a:xfrm>
          <a:prstGeom prst="ellipse">
            <a:avLst/>
          </a:prstGeom>
          <a:solidFill>
            <a:srgbClr val="5BC0BE"/>
          </a:solidFill>
          <a:ln w="12700">
            <a:solidFill>
              <a:srgbClr val="5BC0BE"/>
            </a:solidFill>
            <a:prstDash val="solid"/>
          </a:ln>
        </p:spPr>
      </p:sp>
      <p:sp>
        <p:nvSpPr>
          <p:cNvPr id="37" name="Text 35"/>
          <p:cNvSpPr txBox="1"/>
          <p:nvPr/>
        </p:nvSpPr>
        <p:spPr>
          <a:xfrm>
            <a:off x="3886200" y="3703320"/>
            <a:ext cx="1965960" cy="365760"/>
          </a:xfrm>
          <a:prstGeom prst="rect">
            <a:avLst/>
          </a:prstGeom>
          <a:noFill/>
          <a:ln/>
        </p:spPr>
        <p:txBody>
          <a:bodyPr wrap="square" lIns="0" tIns="0" rIns="0" bIns="0" rtlCol="0" anchor="t"/>
          <a:lstStyle/>
          <a:p>
            <a:pPr indent="0" marL="0">
              <a:buNone/>
            </a:pPr>
            <a:r>
              <a:rPr lang="en-US" sz="1300" b="1" dirty="0">
                <a:solidFill>
                  <a:srgbClr val="0B132B"/>
                </a:solidFill>
                <a:latin typeface="Arial" pitchFamily="34" charset="0"/>
                <a:ea typeface="Arial" pitchFamily="34" charset="-122"/>
                <a:cs typeface="Arial" pitchFamily="34" charset="-120"/>
              </a:rPr>
              <a:t>Señales de calidad</a:t>
            </a:r>
            <a:endParaRPr lang="en-US" sz="1300" dirty="0"/>
          </a:p>
        </p:txBody>
      </p:sp>
      <p:sp>
        <p:nvSpPr>
          <p:cNvPr id="38" name="Text 36"/>
          <p:cNvSpPr txBox="1"/>
          <p:nvPr/>
        </p:nvSpPr>
        <p:spPr>
          <a:xfrm>
            <a:off x="3886200" y="4087368"/>
            <a:ext cx="1965960" cy="457200"/>
          </a:xfrm>
          <a:prstGeom prst="rect">
            <a:avLst/>
          </a:prstGeom>
          <a:noFill/>
          <a:ln/>
        </p:spPr>
        <p:txBody>
          <a:bodyPr wrap="square" lIns="0" tIns="0" rIns="0" bIns="0" rtlCol="0" anchor="t"/>
          <a:lstStyle/>
          <a:p>
            <a:pPr indent="0" marL="0">
              <a:buNone/>
            </a:pPr>
            <a:r>
              <a:rPr lang="en-US" sz="1100" dirty="0">
                <a:solidFill>
                  <a:srgbClr val="3D4659"/>
                </a:solidFill>
                <a:latin typeface="Arial" pitchFamily="34" charset="0"/>
                <a:ea typeface="Arial" pitchFamily="34" charset="-122"/>
                <a:cs typeface="Arial" pitchFamily="34" charset="-120"/>
              </a:rPr>
              <a:t>Qué vale la pena y por qué</a:t>
            </a:r>
            <a:endParaRPr lang="en-US" sz="1100" dirty="0"/>
          </a:p>
        </p:txBody>
      </p:sp>
      <p:sp>
        <p:nvSpPr>
          <p:cNvPr id="39" name="Shape 37"/>
          <p:cNvSpPr/>
          <p:nvPr/>
        </p:nvSpPr>
        <p:spPr>
          <a:xfrm>
            <a:off x="6172200" y="3520440"/>
            <a:ext cx="2606040" cy="1143000"/>
          </a:xfrm>
          <a:prstGeom prst="roundRect">
            <a:avLst>
              <a:gd name="adj" fmla="val 8000"/>
            </a:avLst>
          </a:prstGeom>
          <a:solidFill>
            <a:srgbClr val="FFFFFF"/>
          </a:solidFill>
          <a:ln w="9525">
            <a:solidFill>
              <a:srgbClr val="D8D2C4"/>
            </a:solidFill>
            <a:prstDash val="solid"/>
          </a:ln>
        </p:spPr>
      </p:sp>
      <p:sp>
        <p:nvSpPr>
          <p:cNvPr id="40" name="Shape 38"/>
          <p:cNvSpPr/>
          <p:nvPr/>
        </p:nvSpPr>
        <p:spPr>
          <a:xfrm>
            <a:off x="6400800" y="3776472"/>
            <a:ext cx="164592" cy="164592"/>
          </a:xfrm>
          <a:prstGeom prst="ellipse">
            <a:avLst/>
          </a:prstGeom>
          <a:solidFill>
            <a:srgbClr val="5BC0BE"/>
          </a:solidFill>
          <a:ln w="12700">
            <a:solidFill>
              <a:srgbClr val="5BC0BE"/>
            </a:solidFill>
            <a:prstDash val="solid"/>
          </a:ln>
        </p:spPr>
      </p:sp>
      <p:sp>
        <p:nvSpPr>
          <p:cNvPr id="41" name="Text 39"/>
          <p:cNvSpPr txBox="1"/>
          <p:nvPr/>
        </p:nvSpPr>
        <p:spPr>
          <a:xfrm>
            <a:off x="6675120" y="3703320"/>
            <a:ext cx="1965960" cy="365760"/>
          </a:xfrm>
          <a:prstGeom prst="rect">
            <a:avLst/>
          </a:prstGeom>
          <a:noFill/>
          <a:ln/>
        </p:spPr>
        <p:txBody>
          <a:bodyPr wrap="square" lIns="0" tIns="0" rIns="0" bIns="0" rtlCol="0" anchor="t"/>
          <a:lstStyle/>
          <a:p>
            <a:pPr indent="0" marL="0">
              <a:buNone/>
            </a:pPr>
            <a:r>
              <a:rPr lang="en-US" sz="1300" b="1" dirty="0">
                <a:solidFill>
                  <a:srgbClr val="0B132B"/>
                </a:solidFill>
                <a:latin typeface="Arial" pitchFamily="34" charset="0"/>
                <a:ea typeface="Arial" pitchFamily="34" charset="-122"/>
                <a:cs typeface="Arial" pitchFamily="34" charset="-120"/>
              </a:rPr>
              <a:t>Índices de búsqueda</a:t>
            </a:r>
            <a:endParaRPr lang="en-US" sz="1300" dirty="0"/>
          </a:p>
        </p:txBody>
      </p:sp>
      <p:sp>
        <p:nvSpPr>
          <p:cNvPr id="42" name="Text 40"/>
          <p:cNvSpPr txBox="1"/>
          <p:nvPr/>
        </p:nvSpPr>
        <p:spPr>
          <a:xfrm>
            <a:off x="6675120" y="4087368"/>
            <a:ext cx="1965960" cy="457200"/>
          </a:xfrm>
          <a:prstGeom prst="rect">
            <a:avLst/>
          </a:prstGeom>
          <a:noFill/>
          <a:ln/>
        </p:spPr>
        <p:txBody>
          <a:bodyPr wrap="square" lIns="0" tIns="0" rIns="0" bIns="0" rtlCol="0" anchor="t"/>
          <a:lstStyle/>
          <a:p>
            <a:pPr indent="0" marL="0">
              <a:buNone/>
            </a:pPr>
            <a:r>
              <a:rPr lang="en-US" sz="1100" dirty="0">
                <a:solidFill>
                  <a:srgbClr val="3D4659"/>
                </a:solidFill>
                <a:latin typeface="Arial" pitchFamily="34" charset="0"/>
                <a:ea typeface="Arial" pitchFamily="34" charset="-122"/>
                <a:cs typeface="Arial" pitchFamily="34" charset="-120"/>
              </a:rPr>
              <a:t>Encontrar por significado, no solo por nombre</a:t>
            </a:r>
            <a:endParaRPr lang="en-US" sz="1100" dirty="0"/>
          </a:p>
        </p:txBody>
      </p:sp>
      <p:sp>
        <p:nvSpPr>
          <p:cNvPr id="43" name="Shape 41"/>
          <p:cNvSpPr/>
          <p:nvPr/>
        </p:nvSpPr>
        <p:spPr>
          <a:xfrm>
            <a:off x="8961120" y="3520440"/>
            <a:ext cx="2606040" cy="1143000"/>
          </a:xfrm>
          <a:prstGeom prst="roundRect">
            <a:avLst>
              <a:gd name="adj" fmla="val 8000"/>
            </a:avLst>
          </a:prstGeom>
          <a:solidFill>
            <a:srgbClr val="FFFFFF"/>
          </a:solidFill>
          <a:ln w="9525">
            <a:solidFill>
              <a:srgbClr val="D8D2C4"/>
            </a:solidFill>
            <a:prstDash val="solid"/>
          </a:ln>
        </p:spPr>
      </p:sp>
      <p:sp>
        <p:nvSpPr>
          <p:cNvPr id="44" name="Shape 42"/>
          <p:cNvSpPr/>
          <p:nvPr/>
        </p:nvSpPr>
        <p:spPr>
          <a:xfrm>
            <a:off x="9189720" y="3776472"/>
            <a:ext cx="164592" cy="164592"/>
          </a:xfrm>
          <a:prstGeom prst="ellipse">
            <a:avLst/>
          </a:prstGeom>
          <a:solidFill>
            <a:srgbClr val="5BC0BE"/>
          </a:solidFill>
          <a:ln w="12700">
            <a:solidFill>
              <a:srgbClr val="5BC0BE"/>
            </a:solidFill>
            <a:prstDash val="solid"/>
          </a:ln>
        </p:spPr>
      </p:sp>
      <p:sp>
        <p:nvSpPr>
          <p:cNvPr id="45" name="Text 43"/>
          <p:cNvSpPr txBox="1"/>
          <p:nvPr/>
        </p:nvSpPr>
        <p:spPr>
          <a:xfrm>
            <a:off x="9464040" y="3703320"/>
            <a:ext cx="1965960" cy="365760"/>
          </a:xfrm>
          <a:prstGeom prst="rect">
            <a:avLst/>
          </a:prstGeom>
          <a:noFill/>
          <a:ln/>
        </p:spPr>
        <p:txBody>
          <a:bodyPr wrap="square" lIns="0" tIns="0" rIns="0" bIns="0" rtlCol="0" anchor="t"/>
          <a:lstStyle/>
          <a:p>
            <a:pPr indent="0" marL="0">
              <a:buNone/>
            </a:pPr>
            <a:r>
              <a:rPr lang="en-US" sz="1300" b="1" dirty="0">
                <a:solidFill>
                  <a:srgbClr val="0B132B"/>
                </a:solidFill>
                <a:latin typeface="Arial" pitchFamily="34" charset="0"/>
                <a:ea typeface="Arial" pitchFamily="34" charset="-122"/>
                <a:cs typeface="Arial" pitchFamily="34" charset="-120"/>
              </a:rPr>
              <a:t>Historial de decisiones</a:t>
            </a:r>
            <a:endParaRPr lang="en-US" sz="1300" dirty="0"/>
          </a:p>
        </p:txBody>
      </p:sp>
      <p:sp>
        <p:nvSpPr>
          <p:cNvPr id="46" name="Text 44"/>
          <p:cNvSpPr txBox="1"/>
          <p:nvPr/>
        </p:nvSpPr>
        <p:spPr>
          <a:xfrm>
            <a:off x="9464040" y="4087368"/>
            <a:ext cx="1965960" cy="457200"/>
          </a:xfrm>
          <a:prstGeom prst="rect">
            <a:avLst/>
          </a:prstGeom>
          <a:noFill/>
          <a:ln/>
        </p:spPr>
        <p:txBody>
          <a:bodyPr wrap="square" lIns="0" tIns="0" rIns="0" bIns="0" rtlCol="0" anchor="t"/>
          <a:lstStyle/>
          <a:p>
            <a:pPr indent="0" marL="0">
              <a:buNone/>
            </a:pPr>
            <a:r>
              <a:rPr lang="en-US" sz="1100" dirty="0">
                <a:solidFill>
                  <a:srgbClr val="3D4659"/>
                </a:solidFill>
                <a:latin typeface="Arial" pitchFamily="34" charset="0"/>
                <a:ea typeface="Arial" pitchFamily="34" charset="-122"/>
                <a:cs typeface="Arial" pitchFamily="34" charset="-120"/>
              </a:rPr>
              <a:t>Por qué se eligió o descartó cada cosa</a:t>
            </a:r>
            <a:endParaRPr lang="en-US" sz="1100" dirty="0"/>
          </a:p>
        </p:txBody>
      </p:sp>
      <p:sp>
        <p:nvSpPr>
          <p:cNvPr id="47" name="Shape 45"/>
          <p:cNvSpPr/>
          <p:nvPr/>
        </p:nvSpPr>
        <p:spPr>
          <a:xfrm>
            <a:off x="594360" y="4983480"/>
            <a:ext cx="5486400" cy="1097280"/>
          </a:xfrm>
          <a:prstGeom prst="roundRect">
            <a:avLst>
              <a:gd name="adj" fmla="val 8333"/>
            </a:avLst>
          </a:prstGeom>
          <a:solidFill>
            <a:srgbClr val="D5F0EE"/>
          </a:solidFill>
          <a:ln w="9525">
            <a:solidFill>
              <a:srgbClr val="D5F0EE"/>
            </a:solidFill>
            <a:prstDash val="solid"/>
          </a:ln>
        </p:spPr>
      </p:sp>
      <p:sp>
        <p:nvSpPr>
          <p:cNvPr id="48" name="Text 46"/>
          <p:cNvSpPr txBox="1"/>
          <p:nvPr/>
        </p:nvSpPr>
        <p:spPr>
          <a:xfrm>
            <a:off x="868680" y="4983480"/>
            <a:ext cx="4937760" cy="1097280"/>
          </a:xfrm>
          <a:prstGeom prst="rect">
            <a:avLst/>
          </a:prstGeom>
          <a:noFill/>
          <a:ln/>
        </p:spPr>
        <p:txBody>
          <a:bodyPr wrap="square" lIns="0" tIns="0" rIns="0" bIns="0" rtlCol="0" anchor="ctr"/>
          <a:lstStyle/>
          <a:p>
            <a:pPr indent="0" marL="0">
              <a:buNone/>
            </a:pPr>
            <a:r>
              <a:rPr lang="en-US" sz="1300" b="1" dirty="0">
                <a:solidFill>
                  <a:srgbClr val="1F7A73"/>
                </a:solidFill>
                <a:latin typeface="Arial" pitchFamily="34" charset="0"/>
                <a:ea typeface="Arial" pitchFamily="34" charset="-122"/>
                <a:cs typeface="Arial" pitchFamily="34" charset="-120"/>
              </a:rPr>
              <a:t>Hoy: </a:t>
            </a:r>
            <a:pPr indent="0" marL="0">
              <a:buNone/>
            </a:pPr>
            <a:r>
              <a:rPr lang="en-US" sz="1300" dirty="0">
                <a:solidFill>
                  <a:srgbClr val="0B132B"/>
                </a:solidFill>
                <a:latin typeface="Arial" pitchFamily="34" charset="0"/>
                <a:ea typeface="Arial" pitchFamily="34" charset="-122"/>
                <a:cs typeface="Arial" pitchFamily="34" charset="-120"/>
              </a:rPr>
              <a:t>el mecanismo existe y ya funcionó en un caso real en Buenos Aires.</a:t>
            </a:r>
            <a:endParaRPr lang="en-US" sz="1300" dirty="0"/>
          </a:p>
        </p:txBody>
      </p:sp>
      <p:sp>
        <p:nvSpPr>
          <p:cNvPr id="49" name="Shape 47"/>
          <p:cNvSpPr/>
          <p:nvPr/>
        </p:nvSpPr>
        <p:spPr>
          <a:xfrm>
            <a:off x="6245352" y="4983480"/>
            <a:ext cx="5349240" cy="1097280"/>
          </a:xfrm>
          <a:prstGeom prst="roundRect">
            <a:avLst>
              <a:gd name="adj" fmla="val 8333"/>
            </a:avLst>
          </a:prstGeom>
          <a:solidFill>
            <a:srgbClr val="DDE4EE"/>
          </a:solidFill>
          <a:ln w="9525">
            <a:solidFill>
              <a:srgbClr val="DDE4EE"/>
            </a:solidFill>
            <a:prstDash val="solid"/>
          </a:ln>
        </p:spPr>
      </p:sp>
      <p:sp>
        <p:nvSpPr>
          <p:cNvPr id="50" name="Text 48"/>
          <p:cNvSpPr txBox="1"/>
          <p:nvPr/>
        </p:nvSpPr>
        <p:spPr>
          <a:xfrm>
            <a:off x="6519672" y="4983480"/>
            <a:ext cx="4846320" cy="1097280"/>
          </a:xfrm>
          <a:prstGeom prst="rect">
            <a:avLst/>
          </a:prstGeom>
          <a:noFill/>
          <a:ln/>
        </p:spPr>
        <p:txBody>
          <a:bodyPr wrap="square" lIns="0" tIns="0" rIns="0" bIns="0" rtlCol="0" anchor="ctr"/>
          <a:lstStyle/>
          <a:p>
            <a:pPr indent="0" marL="0">
              <a:buNone/>
            </a:pPr>
            <a:r>
              <a:rPr lang="en-US" sz="1300" b="1" dirty="0">
                <a:solidFill>
                  <a:srgbClr val="3A506B"/>
                </a:solidFill>
                <a:latin typeface="Arial" pitchFamily="34" charset="0"/>
                <a:ea typeface="Arial" pitchFamily="34" charset="-122"/>
                <a:cs typeface="Arial" pitchFamily="34" charset="-120"/>
              </a:rPr>
              <a:t>Todavía no: </a:t>
            </a:r>
            <a:pPr indent="0" marL="0">
              <a:buNone/>
            </a:pPr>
            <a:r>
              <a:rPr lang="en-US" sz="1300" dirty="0">
                <a:solidFill>
                  <a:srgbClr val="0B132B"/>
                </a:solidFill>
                <a:latin typeface="Arial" pitchFamily="34" charset="0"/>
                <a:ea typeface="Arial" pitchFamily="34" charset="-122"/>
                <a:cs typeface="Arial" pitchFamily="34" charset="-120"/>
              </a:rPr>
              <a:t>no hay efectos de red a escala. Pasar de “generar siempre” a “buscar, validar frescura e instanciar” es la hipótesis.</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1E8"/>
        </a:solidFill>
      </p:bgPr>
    </p:bg>
    <p:spTree>
      <p:nvGrpSpPr>
        <p:cNvPr id="1" name=""/>
        <p:cNvGrpSpPr/>
        <p:nvPr/>
      </p:nvGrpSpPr>
      <p:grpSpPr>
        <a:xfrm>
          <a:off x="0" y="0"/>
          <a:ext cx="0" cy="0"/>
          <a:chOff x="0" y="0"/>
          <a:chExt cx="0" cy="0"/>
        </a:xfrm>
      </p:grpSpPr>
      <p:sp>
        <p:nvSpPr>
          <p:cNvPr id="2" name="Shape 0"/>
          <p:cNvSpPr/>
          <p:nvPr/>
        </p:nvSpPr>
        <p:spPr>
          <a:xfrm flipV="1">
            <a:off x="594360" y="384048"/>
            <a:ext cx="120701" cy="98755"/>
          </a:xfrm>
          <a:prstGeom prst="line">
            <a:avLst/>
          </a:prstGeom>
          <a:noFill/>
          <a:ln w="22225">
            <a:solidFill>
              <a:srgbClr val="5BC0BE"/>
            </a:solidFill>
            <a:prstDash val="solid"/>
          </a:ln>
        </p:spPr>
      </p:sp>
      <p:sp>
        <p:nvSpPr>
          <p:cNvPr id="3" name="Shape 1"/>
          <p:cNvSpPr/>
          <p:nvPr/>
        </p:nvSpPr>
        <p:spPr>
          <a:xfrm>
            <a:off x="715061" y="384048"/>
            <a:ext cx="120701" cy="98755"/>
          </a:xfrm>
          <a:prstGeom prst="line">
            <a:avLst/>
          </a:prstGeom>
          <a:noFill/>
          <a:ln w="22225">
            <a:solidFill>
              <a:srgbClr val="5BC0BE"/>
            </a:solidFill>
            <a:prstDash val="solid"/>
          </a:ln>
        </p:spPr>
      </p:sp>
      <p:sp>
        <p:nvSpPr>
          <p:cNvPr id="4" name="Shape 2"/>
          <p:cNvSpPr/>
          <p:nvPr/>
        </p:nvSpPr>
        <p:spPr>
          <a:xfrm flipV="1">
            <a:off x="835762" y="384048"/>
            <a:ext cx="120701" cy="98755"/>
          </a:xfrm>
          <a:prstGeom prst="line">
            <a:avLst/>
          </a:prstGeom>
          <a:noFill/>
          <a:ln w="22225">
            <a:solidFill>
              <a:srgbClr val="5BC0BE"/>
            </a:solidFill>
            <a:prstDash val="solid"/>
          </a:ln>
        </p:spPr>
      </p:sp>
      <p:sp>
        <p:nvSpPr>
          <p:cNvPr id="5" name="Shape 3"/>
          <p:cNvSpPr/>
          <p:nvPr/>
        </p:nvSpPr>
        <p:spPr>
          <a:xfrm>
            <a:off x="566928" y="455371"/>
            <a:ext cx="54864" cy="54864"/>
          </a:xfrm>
          <a:prstGeom prst="ellipse">
            <a:avLst/>
          </a:prstGeom>
          <a:solidFill>
            <a:srgbClr val="5BC0BE"/>
          </a:solidFill>
          <a:ln w="12700">
            <a:solidFill>
              <a:srgbClr val="5BC0BE"/>
            </a:solidFill>
            <a:prstDash val="solid"/>
          </a:ln>
        </p:spPr>
      </p:sp>
      <p:sp>
        <p:nvSpPr>
          <p:cNvPr id="6" name="Shape 4"/>
          <p:cNvSpPr/>
          <p:nvPr/>
        </p:nvSpPr>
        <p:spPr>
          <a:xfrm>
            <a:off x="687629" y="356616"/>
            <a:ext cx="54864" cy="54864"/>
          </a:xfrm>
          <a:prstGeom prst="ellipse">
            <a:avLst/>
          </a:prstGeom>
          <a:solidFill>
            <a:srgbClr val="5BC0BE"/>
          </a:solidFill>
          <a:ln w="12700">
            <a:solidFill>
              <a:srgbClr val="5BC0BE"/>
            </a:solidFill>
            <a:prstDash val="solid"/>
          </a:ln>
        </p:spPr>
      </p:sp>
      <p:sp>
        <p:nvSpPr>
          <p:cNvPr id="7" name="Shape 5"/>
          <p:cNvSpPr/>
          <p:nvPr/>
        </p:nvSpPr>
        <p:spPr>
          <a:xfrm>
            <a:off x="808330" y="455371"/>
            <a:ext cx="54864" cy="54864"/>
          </a:xfrm>
          <a:prstGeom prst="ellipse">
            <a:avLst/>
          </a:prstGeom>
          <a:solidFill>
            <a:srgbClr val="5BC0BE"/>
          </a:solidFill>
          <a:ln w="12700">
            <a:solidFill>
              <a:srgbClr val="5BC0BE"/>
            </a:solidFill>
            <a:prstDash val="solid"/>
          </a:ln>
        </p:spPr>
      </p:sp>
      <p:sp>
        <p:nvSpPr>
          <p:cNvPr id="8" name="Shape 6"/>
          <p:cNvSpPr/>
          <p:nvPr/>
        </p:nvSpPr>
        <p:spPr>
          <a:xfrm>
            <a:off x="929030" y="356616"/>
            <a:ext cx="54864" cy="54864"/>
          </a:xfrm>
          <a:prstGeom prst="ellipse">
            <a:avLst/>
          </a:prstGeom>
          <a:solidFill>
            <a:srgbClr val="5BC0BE"/>
          </a:solidFill>
          <a:ln w="12700">
            <a:solidFill>
              <a:srgbClr val="5BC0BE"/>
            </a:solidFill>
            <a:prstDash val="solid"/>
          </a:ln>
        </p:spPr>
      </p:sp>
      <p:sp>
        <p:nvSpPr>
          <p:cNvPr id="9" name="Text 7"/>
          <p:cNvSpPr txBox="1"/>
          <p:nvPr/>
        </p:nvSpPr>
        <p:spPr>
          <a:xfrm>
            <a:off x="594360" y="777240"/>
            <a:ext cx="11002975" cy="731520"/>
          </a:xfrm>
          <a:prstGeom prst="rect">
            <a:avLst/>
          </a:prstGeom>
          <a:noFill/>
          <a:ln/>
        </p:spPr>
        <p:txBody>
          <a:bodyPr wrap="square" lIns="0" tIns="0" rIns="0" bIns="0" rtlCol="0" anchor="t"/>
          <a:lstStyle/>
          <a:p>
            <a:pPr indent="0" marL="0">
              <a:buNone/>
            </a:pPr>
            <a:r>
              <a:rPr lang="en-US" sz="3000" b="1" dirty="0">
                <a:solidFill>
                  <a:srgbClr val="0B132B"/>
                </a:solidFill>
                <a:latin typeface="Arial" pitchFamily="34" charset="0"/>
                <a:ea typeface="Arial" pitchFamily="34" charset="-122"/>
                <a:cs typeface="Arial" pitchFamily="34" charset="-120"/>
              </a:rPr>
              <a:t>Qué hace diferente a Zig-Zag</a:t>
            </a:r>
            <a:endParaRPr lang="en-US" sz="3000" dirty="0"/>
          </a:p>
        </p:txBody>
      </p:sp>
      <p:sp>
        <p:nvSpPr>
          <p:cNvPr id="10" name="Text 8"/>
          <p:cNvSpPr txBox="1"/>
          <p:nvPr/>
        </p:nvSpPr>
        <p:spPr>
          <a:xfrm>
            <a:off x="594360" y="6473952"/>
            <a:ext cx="7315200" cy="182880"/>
          </a:xfrm>
          <a:prstGeom prst="rect">
            <a:avLst/>
          </a:prstGeom>
          <a:noFill/>
          <a:ln/>
        </p:spPr>
        <p:txBody>
          <a:bodyPr wrap="square" lIns="0" tIns="0" rIns="0" bIns="0" rtlCol="0" anchor="t"/>
          <a:lstStyle/>
          <a:p>
            <a:pPr indent="0" marL="0">
              <a:buNone/>
            </a:pPr>
            <a:r>
              <a:rPr lang="en-US" sz="850" dirty="0">
                <a:solidFill>
                  <a:srgbClr val="6B7385"/>
                </a:solidFill>
                <a:latin typeface="Arial" pitchFamily="34" charset="0"/>
                <a:ea typeface="Arial" pitchFamily="34" charset="-122"/>
                <a:cs typeface="Arial" pitchFamily="34" charset="-120"/>
              </a:rPr>
              <a:t>Zig-Zag · Business, Product &amp; Strategy Update · Septiembre 2026</a:t>
            </a:r>
            <a:endParaRPr lang="en-US" sz="850" dirty="0"/>
          </a:p>
        </p:txBody>
      </p:sp>
      <p:sp>
        <p:nvSpPr>
          <p:cNvPr id="11" name="Text 9"/>
          <p:cNvSpPr txBox="1"/>
          <p:nvPr/>
        </p:nvSpPr>
        <p:spPr>
          <a:xfrm>
            <a:off x="11048695" y="6473952"/>
            <a:ext cx="548640" cy="182880"/>
          </a:xfrm>
          <a:prstGeom prst="rect">
            <a:avLst/>
          </a:prstGeom>
          <a:noFill/>
          <a:ln/>
        </p:spPr>
        <p:txBody>
          <a:bodyPr wrap="square" lIns="0" tIns="0" rIns="0" bIns="0" rtlCol="0" anchor="t"/>
          <a:lstStyle/>
          <a:p>
            <a:pPr algn="r" indent="0" marL="0">
              <a:buNone/>
            </a:pPr>
            <a:r>
              <a:rPr lang="en-US" sz="850" dirty="0">
                <a:solidFill>
                  <a:srgbClr val="6B7385"/>
                </a:solidFill>
                <a:latin typeface="Arial" pitchFamily="34" charset="0"/>
                <a:ea typeface="Arial" pitchFamily="34" charset="-122"/>
                <a:cs typeface="Arial" pitchFamily="34" charset="-120"/>
              </a:rPr>
              <a:t>7</a:t>
            </a:r>
            <a:endParaRPr lang="en-US" sz="850" dirty="0"/>
          </a:p>
        </p:txBody>
      </p:sp>
      <p:sp>
        <p:nvSpPr>
          <p:cNvPr id="12" name="Shape 10"/>
          <p:cNvSpPr/>
          <p:nvPr/>
        </p:nvSpPr>
        <p:spPr>
          <a:xfrm>
            <a:off x="594360" y="1828800"/>
            <a:ext cx="2017715" cy="3566160"/>
          </a:xfrm>
          <a:prstGeom prst="roundRect">
            <a:avLst>
              <a:gd name="adj" fmla="val 5438"/>
            </a:avLst>
          </a:prstGeom>
          <a:solidFill>
            <a:srgbClr val="FFFFFF"/>
          </a:solidFill>
          <a:ln w="9525">
            <a:solidFill>
              <a:srgbClr val="D8D2C4"/>
            </a:solidFill>
            <a:prstDash val="solid"/>
          </a:ln>
        </p:spPr>
      </p:sp>
      <p:sp>
        <p:nvSpPr>
          <p:cNvPr id="13" name="Shape 11"/>
          <p:cNvSpPr/>
          <p:nvPr/>
        </p:nvSpPr>
        <p:spPr>
          <a:xfrm>
            <a:off x="868680" y="2194560"/>
            <a:ext cx="731520" cy="731520"/>
          </a:xfrm>
          <a:prstGeom prst="ellipse">
            <a:avLst/>
          </a:prstGeom>
          <a:solidFill>
            <a:srgbClr val="0B132B"/>
          </a:solidFill>
          <a:ln w="12700">
            <a:solidFill>
              <a:srgbClr val="0B132B"/>
            </a:solidFill>
            <a:prstDash val="solid"/>
          </a:ln>
        </p:spPr>
      </p:sp>
      <p:pic>
        <p:nvPicPr>
          <p:cNvPr id="14" name="Image 0" descr="preencoded.png">    </p:cNvPr>
          <p:cNvPicPr>
            <a:picLocks noChangeAspect="1"/>
          </p:cNvPicPr>
          <p:nvPr/>
        </p:nvPicPr>
        <p:blipFill>
          <a:blip r:embed="rId1"/>
          <a:stretch>
            <a:fillRect/>
          </a:stretch>
        </p:blipFill>
        <p:spPr>
          <a:xfrm>
            <a:off x="1051560" y="2377440"/>
            <a:ext cx="365760" cy="365760"/>
          </a:xfrm>
          <a:prstGeom prst="rect">
            <a:avLst/>
          </a:prstGeom>
        </p:spPr>
      </p:pic>
      <p:sp>
        <p:nvSpPr>
          <p:cNvPr id="15" name="Text 12"/>
          <p:cNvSpPr txBox="1"/>
          <p:nvPr/>
        </p:nvSpPr>
        <p:spPr>
          <a:xfrm>
            <a:off x="868680" y="3200400"/>
            <a:ext cx="1606235" cy="731520"/>
          </a:xfrm>
          <a:prstGeom prst="rect">
            <a:avLst/>
          </a:prstGeom>
          <a:noFill/>
          <a:ln/>
        </p:spPr>
        <p:txBody>
          <a:bodyPr wrap="square" lIns="0" tIns="0" rIns="0" bIns="0" rtlCol="0" anchor="b"/>
          <a:lstStyle/>
          <a:p>
            <a:pPr indent="0" marL="0">
              <a:buNone/>
            </a:pPr>
            <a:r>
              <a:rPr lang="en-US" sz="1800" b="1" dirty="0">
                <a:solidFill>
                  <a:srgbClr val="0B132B"/>
                </a:solidFill>
                <a:latin typeface="Arial" pitchFamily="34" charset="0"/>
                <a:ea typeface="Arial" pitchFamily="34" charset="-122"/>
                <a:cs typeface="Arial" pitchFamily="34" charset="-120"/>
              </a:rPr>
              <a:t>Basado en evidencia</a:t>
            </a:r>
            <a:endParaRPr lang="en-US" sz="1800" dirty="0"/>
          </a:p>
        </p:txBody>
      </p:sp>
      <p:sp>
        <p:nvSpPr>
          <p:cNvPr id="16" name="Text 13"/>
          <p:cNvSpPr txBox="1"/>
          <p:nvPr/>
        </p:nvSpPr>
        <p:spPr>
          <a:xfrm>
            <a:off x="868680" y="4114800"/>
            <a:ext cx="1514795" cy="1188720"/>
          </a:xfrm>
          <a:prstGeom prst="rect">
            <a:avLst/>
          </a:prstGeom>
          <a:noFill/>
          <a:ln/>
        </p:spPr>
        <p:txBody>
          <a:bodyPr wrap="square" lIns="0" tIns="0" rIns="0" bIns="0" rtlCol="0" anchor="t"/>
          <a:lstStyle/>
          <a:p>
            <a:pPr indent="0" marL="0">
              <a:buNone/>
            </a:pPr>
            <a:r>
              <a:rPr lang="en-US" sz="1400" dirty="0">
                <a:solidFill>
                  <a:srgbClr val="3D4659"/>
                </a:solidFill>
                <a:latin typeface="Arial" pitchFamily="34" charset="0"/>
                <a:ea typeface="Arial" pitchFamily="34" charset="-122"/>
                <a:cs typeface="Arial" pitchFamily="34" charset="-120"/>
              </a:rPr>
              <a:t>Fuentes reales y lugares reales.</a:t>
            </a:r>
            <a:endParaRPr lang="en-US" sz="1400" dirty="0"/>
          </a:p>
        </p:txBody>
      </p:sp>
      <p:sp>
        <p:nvSpPr>
          <p:cNvPr id="17" name="Shape 14"/>
          <p:cNvSpPr/>
          <p:nvPr/>
        </p:nvSpPr>
        <p:spPr>
          <a:xfrm>
            <a:off x="2840675" y="1828800"/>
            <a:ext cx="2017715" cy="3566160"/>
          </a:xfrm>
          <a:prstGeom prst="roundRect">
            <a:avLst>
              <a:gd name="adj" fmla="val 5438"/>
            </a:avLst>
          </a:prstGeom>
          <a:solidFill>
            <a:srgbClr val="FFFFFF"/>
          </a:solidFill>
          <a:ln w="9525">
            <a:solidFill>
              <a:srgbClr val="D8D2C4"/>
            </a:solidFill>
            <a:prstDash val="solid"/>
          </a:ln>
        </p:spPr>
      </p:sp>
      <p:sp>
        <p:nvSpPr>
          <p:cNvPr id="18" name="Shape 15"/>
          <p:cNvSpPr/>
          <p:nvPr/>
        </p:nvSpPr>
        <p:spPr>
          <a:xfrm>
            <a:off x="3114995" y="2194560"/>
            <a:ext cx="731520" cy="731520"/>
          </a:xfrm>
          <a:prstGeom prst="ellipse">
            <a:avLst/>
          </a:prstGeom>
          <a:solidFill>
            <a:srgbClr val="0B132B"/>
          </a:solidFill>
          <a:ln w="12700">
            <a:solidFill>
              <a:srgbClr val="0B132B"/>
            </a:solidFill>
            <a:prstDash val="solid"/>
          </a:ln>
        </p:spPr>
      </p:sp>
      <p:pic>
        <p:nvPicPr>
          <p:cNvPr id="19" name="Image 1" descr="preencoded.png">    </p:cNvPr>
          <p:cNvPicPr>
            <a:picLocks noChangeAspect="1"/>
          </p:cNvPicPr>
          <p:nvPr/>
        </p:nvPicPr>
        <p:blipFill>
          <a:blip r:embed="rId2"/>
          <a:stretch>
            <a:fillRect/>
          </a:stretch>
        </p:blipFill>
        <p:spPr>
          <a:xfrm>
            <a:off x="3297875" y="2377440"/>
            <a:ext cx="365760" cy="365760"/>
          </a:xfrm>
          <a:prstGeom prst="rect">
            <a:avLst/>
          </a:prstGeom>
        </p:spPr>
      </p:pic>
      <p:sp>
        <p:nvSpPr>
          <p:cNvPr id="20" name="Text 16"/>
          <p:cNvSpPr txBox="1"/>
          <p:nvPr/>
        </p:nvSpPr>
        <p:spPr>
          <a:xfrm>
            <a:off x="3114995" y="3200400"/>
            <a:ext cx="1606235" cy="731520"/>
          </a:xfrm>
          <a:prstGeom prst="rect">
            <a:avLst/>
          </a:prstGeom>
          <a:noFill/>
          <a:ln/>
        </p:spPr>
        <p:txBody>
          <a:bodyPr wrap="square" lIns="0" tIns="0" rIns="0" bIns="0" rtlCol="0" anchor="b"/>
          <a:lstStyle/>
          <a:p>
            <a:pPr indent="0" marL="0">
              <a:buNone/>
            </a:pPr>
            <a:r>
              <a:rPr lang="en-US" sz="1800" b="1" dirty="0">
                <a:solidFill>
                  <a:srgbClr val="0B132B"/>
                </a:solidFill>
                <a:latin typeface="Arial" pitchFamily="34" charset="0"/>
                <a:ea typeface="Arial" pitchFamily="34" charset="-122"/>
                <a:cs typeface="Arial" pitchFamily="34" charset="-120"/>
              </a:rPr>
              <a:t>Verificado</a:t>
            </a:r>
            <a:endParaRPr lang="en-US" sz="1800" dirty="0"/>
          </a:p>
        </p:txBody>
      </p:sp>
      <p:sp>
        <p:nvSpPr>
          <p:cNvPr id="21" name="Text 17"/>
          <p:cNvSpPr txBox="1"/>
          <p:nvPr/>
        </p:nvSpPr>
        <p:spPr>
          <a:xfrm>
            <a:off x="3114995" y="4114800"/>
            <a:ext cx="1514795" cy="1188720"/>
          </a:xfrm>
          <a:prstGeom prst="rect">
            <a:avLst/>
          </a:prstGeom>
          <a:noFill/>
          <a:ln/>
        </p:spPr>
        <p:txBody>
          <a:bodyPr wrap="square" lIns="0" tIns="0" rIns="0" bIns="0" rtlCol="0" anchor="t"/>
          <a:lstStyle/>
          <a:p>
            <a:pPr indent="0" marL="0">
              <a:buNone/>
            </a:pPr>
            <a:r>
              <a:rPr lang="en-US" sz="1400" dirty="0">
                <a:solidFill>
                  <a:srgbClr val="3D4659"/>
                </a:solidFill>
                <a:latin typeface="Arial" pitchFamily="34" charset="0"/>
                <a:ea typeface="Arial" pitchFamily="34" charset="-122"/>
                <a:cs typeface="Arial" pitchFamily="34" charset="-120"/>
              </a:rPr>
              <a:t>Identidad, geografía y composición validadas.</a:t>
            </a:r>
            <a:endParaRPr lang="en-US" sz="1400" dirty="0"/>
          </a:p>
        </p:txBody>
      </p:sp>
      <p:sp>
        <p:nvSpPr>
          <p:cNvPr id="22" name="Shape 18"/>
          <p:cNvSpPr/>
          <p:nvPr/>
        </p:nvSpPr>
        <p:spPr>
          <a:xfrm>
            <a:off x="5086990" y="1828800"/>
            <a:ext cx="2017715" cy="3566160"/>
          </a:xfrm>
          <a:prstGeom prst="roundRect">
            <a:avLst>
              <a:gd name="adj" fmla="val 5438"/>
            </a:avLst>
          </a:prstGeom>
          <a:solidFill>
            <a:srgbClr val="FFFFFF"/>
          </a:solidFill>
          <a:ln w="9525">
            <a:solidFill>
              <a:srgbClr val="D8D2C4"/>
            </a:solidFill>
            <a:prstDash val="solid"/>
          </a:ln>
        </p:spPr>
      </p:sp>
      <p:sp>
        <p:nvSpPr>
          <p:cNvPr id="23" name="Shape 19"/>
          <p:cNvSpPr/>
          <p:nvPr/>
        </p:nvSpPr>
        <p:spPr>
          <a:xfrm>
            <a:off x="5361310" y="2194560"/>
            <a:ext cx="731520" cy="731520"/>
          </a:xfrm>
          <a:prstGeom prst="ellipse">
            <a:avLst/>
          </a:prstGeom>
          <a:solidFill>
            <a:srgbClr val="0B132B"/>
          </a:solidFill>
          <a:ln w="12700">
            <a:solidFill>
              <a:srgbClr val="0B132B"/>
            </a:solidFill>
            <a:prstDash val="solid"/>
          </a:ln>
        </p:spPr>
      </p:sp>
      <p:pic>
        <p:nvPicPr>
          <p:cNvPr id="24" name="Image 2" descr="preencoded.png">    </p:cNvPr>
          <p:cNvPicPr>
            <a:picLocks noChangeAspect="1"/>
          </p:cNvPicPr>
          <p:nvPr/>
        </p:nvPicPr>
        <p:blipFill>
          <a:blip r:embed="rId3"/>
          <a:stretch>
            <a:fillRect/>
          </a:stretch>
        </p:blipFill>
        <p:spPr>
          <a:xfrm>
            <a:off x="5544190" y="2377440"/>
            <a:ext cx="365760" cy="365760"/>
          </a:xfrm>
          <a:prstGeom prst="rect">
            <a:avLst/>
          </a:prstGeom>
        </p:spPr>
      </p:pic>
      <p:sp>
        <p:nvSpPr>
          <p:cNvPr id="25" name="Text 20"/>
          <p:cNvSpPr txBox="1"/>
          <p:nvPr/>
        </p:nvSpPr>
        <p:spPr>
          <a:xfrm>
            <a:off x="5361310" y="3200400"/>
            <a:ext cx="1606235" cy="731520"/>
          </a:xfrm>
          <a:prstGeom prst="rect">
            <a:avLst/>
          </a:prstGeom>
          <a:noFill/>
          <a:ln/>
        </p:spPr>
        <p:txBody>
          <a:bodyPr wrap="square" lIns="0" tIns="0" rIns="0" bIns="0" rtlCol="0" anchor="b"/>
          <a:lstStyle/>
          <a:p>
            <a:pPr indent="0" marL="0">
              <a:buNone/>
            </a:pPr>
            <a:r>
              <a:rPr lang="en-US" sz="1800" b="1" dirty="0">
                <a:solidFill>
                  <a:srgbClr val="0B132B"/>
                </a:solidFill>
                <a:latin typeface="Arial" pitchFamily="34" charset="0"/>
                <a:ea typeface="Arial" pitchFamily="34" charset="-122"/>
                <a:cs typeface="Arial" pitchFamily="34" charset="-120"/>
              </a:rPr>
              <a:t>Tus preferencias primero</a:t>
            </a:r>
            <a:endParaRPr lang="en-US" sz="1800" dirty="0"/>
          </a:p>
        </p:txBody>
      </p:sp>
      <p:sp>
        <p:nvSpPr>
          <p:cNvPr id="26" name="Text 21"/>
          <p:cNvSpPr txBox="1"/>
          <p:nvPr/>
        </p:nvSpPr>
        <p:spPr>
          <a:xfrm>
            <a:off x="5361310" y="4114800"/>
            <a:ext cx="1514795" cy="1188720"/>
          </a:xfrm>
          <a:prstGeom prst="rect">
            <a:avLst/>
          </a:prstGeom>
          <a:noFill/>
          <a:ln/>
        </p:spPr>
        <p:txBody>
          <a:bodyPr wrap="square" lIns="0" tIns="0" rIns="0" bIns="0" rtlCol="0" anchor="t"/>
          <a:lstStyle/>
          <a:p>
            <a:pPr indent="0" marL="0">
              <a:buNone/>
            </a:pPr>
            <a:r>
              <a:rPr lang="en-US" sz="1400" dirty="0">
                <a:solidFill>
                  <a:srgbClr val="3D4659"/>
                </a:solidFill>
                <a:latin typeface="Arial" pitchFamily="34" charset="0"/>
                <a:ea typeface="Arial" pitchFamily="34" charset="-122"/>
                <a:cs typeface="Arial" pitchFamily="34" charset="-120"/>
              </a:rPr>
              <a:t>Empieza por lo que le importa al viajero.</a:t>
            </a:r>
            <a:endParaRPr lang="en-US" sz="1400" dirty="0"/>
          </a:p>
        </p:txBody>
      </p:sp>
      <p:sp>
        <p:nvSpPr>
          <p:cNvPr id="27" name="Shape 22"/>
          <p:cNvSpPr/>
          <p:nvPr/>
        </p:nvSpPr>
        <p:spPr>
          <a:xfrm>
            <a:off x="7333305" y="1828800"/>
            <a:ext cx="2017715" cy="3566160"/>
          </a:xfrm>
          <a:prstGeom prst="roundRect">
            <a:avLst>
              <a:gd name="adj" fmla="val 5438"/>
            </a:avLst>
          </a:prstGeom>
          <a:solidFill>
            <a:srgbClr val="FFFFFF"/>
          </a:solidFill>
          <a:ln w="9525">
            <a:solidFill>
              <a:srgbClr val="D8D2C4"/>
            </a:solidFill>
            <a:prstDash val="solid"/>
          </a:ln>
        </p:spPr>
      </p:sp>
      <p:sp>
        <p:nvSpPr>
          <p:cNvPr id="28" name="Shape 23"/>
          <p:cNvSpPr/>
          <p:nvPr/>
        </p:nvSpPr>
        <p:spPr>
          <a:xfrm>
            <a:off x="7607625" y="2194560"/>
            <a:ext cx="731520" cy="731520"/>
          </a:xfrm>
          <a:prstGeom prst="ellipse">
            <a:avLst/>
          </a:prstGeom>
          <a:solidFill>
            <a:srgbClr val="0B132B"/>
          </a:solidFill>
          <a:ln w="12700">
            <a:solidFill>
              <a:srgbClr val="0B132B"/>
            </a:solidFill>
            <a:prstDash val="solid"/>
          </a:ln>
        </p:spPr>
      </p:sp>
      <p:pic>
        <p:nvPicPr>
          <p:cNvPr id="29" name="Image 3" descr="preencoded.png">    </p:cNvPr>
          <p:cNvPicPr>
            <a:picLocks noChangeAspect="1"/>
          </p:cNvPicPr>
          <p:nvPr/>
        </p:nvPicPr>
        <p:blipFill>
          <a:blip r:embed="rId4"/>
          <a:stretch>
            <a:fillRect/>
          </a:stretch>
        </p:blipFill>
        <p:spPr>
          <a:xfrm>
            <a:off x="7790505" y="2377440"/>
            <a:ext cx="365760" cy="365760"/>
          </a:xfrm>
          <a:prstGeom prst="rect">
            <a:avLst/>
          </a:prstGeom>
        </p:spPr>
      </p:pic>
      <p:sp>
        <p:nvSpPr>
          <p:cNvPr id="30" name="Text 24"/>
          <p:cNvSpPr txBox="1"/>
          <p:nvPr/>
        </p:nvSpPr>
        <p:spPr>
          <a:xfrm>
            <a:off x="7607625" y="3200400"/>
            <a:ext cx="1606235" cy="731520"/>
          </a:xfrm>
          <a:prstGeom prst="rect">
            <a:avLst/>
          </a:prstGeom>
          <a:noFill/>
          <a:ln/>
        </p:spPr>
        <p:txBody>
          <a:bodyPr wrap="square" lIns="0" tIns="0" rIns="0" bIns="0" rtlCol="0" anchor="b"/>
          <a:lstStyle/>
          <a:p>
            <a:pPr indent="0" marL="0">
              <a:buNone/>
            </a:pPr>
            <a:r>
              <a:rPr lang="en-US" sz="1800" b="1" dirty="0">
                <a:solidFill>
                  <a:srgbClr val="0B132B"/>
                </a:solidFill>
                <a:latin typeface="Arial" pitchFamily="34" charset="0"/>
                <a:ea typeface="Arial" pitchFamily="34" charset="-122"/>
                <a:cs typeface="Arial" pitchFamily="34" charset="-120"/>
              </a:rPr>
              <a:t>Reutilizable</a:t>
            </a:r>
            <a:endParaRPr lang="en-US" sz="1800" dirty="0"/>
          </a:p>
        </p:txBody>
      </p:sp>
      <p:sp>
        <p:nvSpPr>
          <p:cNvPr id="31" name="Text 25"/>
          <p:cNvSpPr txBox="1"/>
          <p:nvPr/>
        </p:nvSpPr>
        <p:spPr>
          <a:xfrm>
            <a:off x="7607625" y="4114800"/>
            <a:ext cx="1514795" cy="1188720"/>
          </a:xfrm>
          <a:prstGeom prst="rect">
            <a:avLst/>
          </a:prstGeom>
          <a:noFill/>
          <a:ln/>
        </p:spPr>
        <p:txBody>
          <a:bodyPr wrap="square" lIns="0" tIns="0" rIns="0" bIns="0" rtlCol="0" anchor="t"/>
          <a:lstStyle/>
          <a:p>
            <a:pPr indent="0" marL="0">
              <a:buNone/>
            </a:pPr>
            <a:r>
              <a:rPr lang="en-US" sz="1400" dirty="0">
                <a:solidFill>
                  <a:srgbClr val="3D4659"/>
                </a:solidFill>
                <a:latin typeface="Arial" pitchFamily="34" charset="0"/>
                <a:ea typeface="Arial" pitchFamily="34" charset="-122"/>
                <a:cs typeface="Arial" pitchFamily="34" charset="-120"/>
              </a:rPr>
              <a:t>Lo aprendido sirve a la próxima solicitud.</a:t>
            </a:r>
            <a:endParaRPr lang="en-US" sz="1400" dirty="0"/>
          </a:p>
        </p:txBody>
      </p:sp>
      <p:sp>
        <p:nvSpPr>
          <p:cNvPr id="32" name="Shape 26"/>
          <p:cNvSpPr/>
          <p:nvPr/>
        </p:nvSpPr>
        <p:spPr>
          <a:xfrm>
            <a:off x="9579620" y="1828800"/>
            <a:ext cx="2017715" cy="3566160"/>
          </a:xfrm>
          <a:prstGeom prst="roundRect">
            <a:avLst>
              <a:gd name="adj" fmla="val 5438"/>
            </a:avLst>
          </a:prstGeom>
          <a:solidFill>
            <a:srgbClr val="0B132B"/>
          </a:solidFill>
          <a:ln w="9525">
            <a:solidFill>
              <a:srgbClr val="0B132B"/>
            </a:solidFill>
            <a:prstDash val="solid"/>
          </a:ln>
        </p:spPr>
      </p:sp>
      <p:sp>
        <p:nvSpPr>
          <p:cNvPr id="33" name="Shape 27"/>
          <p:cNvSpPr/>
          <p:nvPr/>
        </p:nvSpPr>
        <p:spPr>
          <a:xfrm>
            <a:off x="9853940" y="2194560"/>
            <a:ext cx="731520" cy="731520"/>
          </a:xfrm>
          <a:prstGeom prst="ellipse">
            <a:avLst/>
          </a:prstGeom>
          <a:solidFill>
            <a:srgbClr val="5BC0BE"/>
          </a:solidFill>
          <a:ln w="12700">
            <a:solidFill>
              <a:srgbClr val="5BC0BE"/>
            </a:solidFill>
            <a:prstDash val="solid"/>
          </a:ln>
        </p:spPr>
      </p:sp>
      <p:pic>
        <p:nvPicPr>
          <p:cNvPr id="34" name="Image 4" descr="preencoded.png">    </p:cNvPr>
          <p:cNvPicPr>
            <a:picLocks noChangeAspect="1"/>
          </p:cNvPicPr>
          <p:nvPr/>
        </p:nvPicPr>
        <p:blipFill>
          <a:blip r:embed="rId5"/>
          <a:stretch>
            <a:fillRect/>
          </a:stretch>
        </p:blipFill>
        <p:spPr>
          <a:xfrm>
            <a:off x="10036820" y="2377440"/>
            <a:ext cx="365760" cy="365760"/>
          </a:xfrm>
          <a:prstGeom prst="rect">
            <a:avLst/>
          </a:prstGeom>
        </p:spPr>
      </p:pic>
      <p:sp>
        <p:nvSpPr>
          <p:cNvPr id="35" name="Text 28"/>
          <p:cNvSpPr txBox="1"/>
          <p:nvPr/>
        </p:nvSpPr>
        <p:spPr>
          <a:xfrm>
            <a:off x="9853940" y="3200400"/>
            <a:ext cx="1606235" cy="731520"/>
          </a:xfrm>
          <a:prstGeom prst="rect">
            <a:avLst/>
          </a:prstGeom>
          <a:noFill/>
          <a:ln/>
        </p:spPr>
        <p:txBody>
          <a:bodyPr wrap="square" lIns="0" tIns="0" rIns="0" bIns="0" rtlCol="0" anchor="b"/>
          <a:lstStyle/>
          <a:p>
            <a:pPr indent="0" marL="0">
              <a:buNone/>
            </a:pPr>
            <a:r>
              <a:rPr lang="en-US" sz="1800" b="1" dirty="0">
                <a:solidFill>
                  <a:srgbClr val="FFFFFF"/>
                </a:solidFill>
                <a:latin typeface="Arial" pitchFamily="34" charset="0"/>
                <a:ea typeface="Arial" pitchFamily="34" charset="-122"/>
                <a:cs typeface="Arial" pitchFamily="34" charset="-120"/>
              </a:rPr>
              <a:t>Explicable</a:t>
            </a:r>
            <a:endParaRPr lang="en-US" sz="1800" dirty="0"/>
          </a:p>
        </p:txBody>
      </p:sp>
      <p:sp>
        <p:nvSpPr>
          <p:cNvPr id="36" name="Text 29"/>
          <p:cNvSpPr txBox="1"/>
          <p:nvPr/>
        </p:nvSpPr>
        <p:spPr>
          <a:xfrm>
            <a:off x="9853940" y="4114800"/>
            <a:ext cx="1514795" cy="1188720"/>
          </a:xfrm>
          <a:prstGeom prst="rect">
            <a:avLst/>
          </a:prstGeom>
          <a:noFill/>
          <a:ln/>
        </p:spPr>
        <p:txBody>
          <a:bodyPr wrap="square" lIns="0" tIns="0" rIns="0" bIns="0" rtlCol="0" anchor="t"/>
          <a:lstStyle/>
          <a:p>
            <a:pPr indent="0" marL="0">
              <a:buNone/>
            </a:pPr>
            <a:r>
              <a:rPr lang="en-US" sz="1400" dirty="0">
                <a:solidFill>
                  <a:srgbClr val="C7D0E0"/>
                </a:solidFill>
                <a:latin typeface="Arial" pitchFamily="34" charset="0"/>
                <a:ea typeface="Arial" pitchFamily="34" charset="-122"/>
                <a:cs typeface="Arial" pitchFamily="34" charset="-120"/>
              </a:rPr>
              <a:t>Cada decisión queda registrada con su motivo.</a:t>
            </a:r>
            <a:endParaRPr lang="en-US" sz="1400" dirty="0"/>
          </a:p>
        </p:txBody>
      </p:sp>
      <p:sp>
        <p:nvSpPr>
          <p:cNvPr id="37" name="Text 30"/>
          <p:cNvSpPr txBox="1"/>
          <p:nvPr/>
        </p:nvSpPr>
        <p:spPr>
          <a:xfrm>
            <a:off x="594360" y="5669280"/>
            <a:ext cx="10972800" cy="365760"/>
          </a:xfrm>
          <a:prstGeom prst="rect">
            <a:avLst/>
          </a:prstGeom>
          <a:noFill/>
          <a:ln/>
        </p:spPr>
        <p:txBody>
          <a:bodyPr wrap="square" lIns="0" tIns="0" rIns="0" bIns="0" rtlCol="0" anchor="t"/>
          <a:lstStyle/>
          <a:p>
            <a:pPr indent="0" marL="0">
              <a:buNone/>
            </a:pPr>
            <a:r>
              <a:rPr lang="en-US" sz="1500" i="1" dirty="0">
                <a:solidFill>
                  <a:srgbClr val="3A506B"/>
                </a:solidFill>
                <a:latin typeface="Arial" pitchFamily="34" charset="0"/>
                <a:ea typeface="Arial" pitchFamily="34" charset="-122"/>
                <a:cs typeface="Arial" pitchFamily="34" charset="-120"/>
              </a:rPr>
              <a:t>No queremos recomendaciones plausibles. Queremos decisiones defendibles.</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1E8"/>
        </a:solidFill>
      </p:bgPr>
    </p:bg>
    <p:spTree>
      <p:nvGrpSpPr>
        <p:cNvPr id="1" name=""/>
        <p:cNvGrpSpPr/>
        <p:nvPr/>
      </p:nvGrpSpPr>
      <p:grpSpPr>
        <a:xfrm>
          <a:off x="0" y="0"/>
          <a:ext cx="0" cy="0"/>
          <a:chOff x="0" y="0"/>
          <a:chExt cx="0" cy="0"/>
        </a:xfrm>
      </p:grpSpPr>
      <p:sp>
        <p:nvSpPr>
          <p:cNvPr id="2" name="Shape 0"/>
          <p:cNvSpPr/>
          <p:nvPr/>
        </p:nvSpPr>
        <p:spPr>
          <a:xfrm flipV="1">
            <a:off x="594360" y="384048"/>
            <a:ext cx="120701" cy="98755"/>
          </a:xfrm>
          <a:prstGeom prst="line">
            <a:avLst/>
          </a:prstGeom>
          <a:noFill/>
          <a:ln w="22225">
            <a:solidFill>
              <a:srgbClr val="5BC0BE"/>
            </a:solidFill>
            <a:prstDash val="solid"/>
          </a:ln>
        </p:spPr>
      </p:sp>
      <p:sp>
        <p:nvSpPr>
          <p:cNvPr id="3" name="Shape 1"/>
          <p:cNvSpPr/>
          <p:nvPr/>
        </p:nvSpPr>
        <p:spPr>
          <a:xfrm>
            <a:off x="715061" y="384048"/>
            <a:ext cx="120701" cy="98755"/>
          </a:xfrm>
          <a:prstGeom prst="line">
            <a:avLst/>
          </a:prstGeom>
          <a:noFill/>
          <a:ln w="22225">
            <a:solidFill>
              <a:srgbClr val="5BC0BE"/>
            </a:solidFill>
            <a:prstDash val="solid"/>
          </a:ln>
        </p:spPr>
      </p:sp>
      <p:sp>
        <p:nvSpPr>
          <p:cNvPr id="4" name="Shape 2"/>
          <p:cNvSpPr/>
          <p:nvPr/>
        </p:nvSpPr>
        <p:spPr>
          <a:xfrm flipV="1">
            <a:off x="835762" y="384048"/>
            <a:ext cx="120701" cy="98755"/>
          </a:xfrm>
          <a:prstGeom prst="line">
            <a:avLst/>
          </a:prstGeom>
          <a:noFill/>
          <a:ln w="22225">
            <a:solidFill>
              <a:srgbClr val="5BC0BE"/>
            </a:solidFill>
            <a:prstDash val="solid"/>
          </a:ln>
        </p:spPr>
      </p:sp>
      <p:sp>
        <p:nvSpPr>
          <p:cNvPr id="5" name="Shape 3"/>
          <p:cNvSpPr/>
          <p:nvPr/>
        </p:nvSpPr>
        <p:spPr>
          <a:xfrm>
            <a:off x="566928" y="455371"/>
            <a:ext cx="54864" cy="54864"/>
          </a:xfrm>
          <a:prstGeom prst="ellipse">
            <a:avLst/>
          </a:prstGeom>
          <a:solidFill>
            <a:srgbClr val="5BC0BE"/>
          </a:solidFill>
          <a:ln w="12700">
            <a:solidFill>
              <a:srgbClr val="5BC0BE"/>
            </a:solidFill>
            <a:prstDash val="solid"/>
          </a:ln>
        </p:spPr>
      </p:sp>
      <p:sp>
        <p:nvSpPr>
          <p:cNvPr id="6" name="Shape 4"/>
          <p:cNvSpPr/>
          <p:nvPr/>
        </p:nvSpPr>
        <p:spPr>
          <a:xfrm>
            <a:off x="687629" y="356616"/>
            <a:ext cx="54864" cy="54864"/>
          </a:xfrm>
          <a:prstGeom prst="ellipse">
            <a:avLst/>
          </a:prstGeom>
          <a:solidFill>
            <a:srgbClr val="5BC0BE"/>
          </a:solidFill>
          <a:ln w="12700">
            <a:solidFill>
              <a:srgbClr val="5BC0BE"/>
            </a:solidFill>
            <a:prstDash val="solid"/>
          </a:ln>
        </p:spPr>
      </p:sp>
      <p:sp>
        <p:nvSpPr>
          <p:cNvPr id="7" name="Shape 5"/>
          <p:cNvSpPr/>
          <p:nvPr/>
        </p:nvSpPr>
        <p:spPr>
          <a:xfrm>
            <a:off x="808330" y="455371"/>
            <a:ext cx="54864" cy="54864"/>
          </a:xfrm>
          <a:prstGeom prst="ellipse">
            <a:avLst/>
          </a:prstGeom>
          <a:solidFill>
            <a:srgbClr val="5BC0BE"/>
          </a:solidFill>
          <a:ln w="12700">
            <a:solidFill>
              <a:srgbClr val="5BC0BE"/>
            </a:solidFill>
            <a:prstDash val="solid"/>
          </a:ln>
        </p:spPr>
      </p:sp>
      <p:sp>
        <p:nvSpPr>
          <p:cNvPr id="8" name="Shape 6"/>
          <p:cNvSpPr/>
          <p:nvPr/>
        </p:nvSpPr>
        <p:spPr>
          <a:xfrm>
            <a:off x="929030" y="356616"/>
            <a:ext cx="54864" cy="54864"/>
          </a:xfrm>
          <a:prstGeom prst="ellipse">
            <a:avLst/>
          </a:prstGeom>
          <a:solidFill>
            <a:srgbClr val="5BC0BE"/>
          </a:solidFill>
          <a:ln w="12700">
            <a:solidFill>
              <a:srgbClr val="5BC0BE"/>
            </a:solidFill>
            <a:prstDash val="solid"/>
          </a:ln>
        </p:spPr>
      </p:sp>
      <p:sp>
        <p:nvSpPr>
          <p:cNvPr id="9" name="Shape 7"/>
          <p:cNvSpPr/>
          <p:nvPr/>
        </p:nvSpPr>
        <p:spPr>
          <a:xfrm>
            <a:off x="1143000" y="329184"/>
            <a:ext cx="1019556" cy="274320"/>
          </a:xfrm>
          <a:prstGeom prst="roundRect">
            <a:avLst>
              <a:gd name="adj" fmla="val 50000"/>
            </a:avLst>
          </a:prstGeom>
          <a:solidFill>
            <a:srgbClr val="DDE4EE"/>
          </a:solidFill>
          <a:ln w="12700">
            <a:solidFill>
              <a:srgbClr val="DDE4EE"/>
            </a:solidFill>
            <a:prstDash val="solid"/>
          </a:ln>
        </p:spPr>
      </p:sp>
      <p:sp>
        <p:nvSpPr>
          <p:cNvPr id="10" name="Text 8"/>
          <p:cNvSpPr txBox="1"/>
          <p:nvPr/>
        </p:nvSpPr>
        <p:spPr>
          <a:xfrm>
            <a:off x="1143000" y="329184"/>
            <a:ext cx="1019556" cy="274320"/>
          </a:xfrm>
          <a:prstGeom prst="rect">
            <a:avLst/>
          </a:prstGeom>
          <a:noFill/>
          <a:ln/>
        </p:spPr>
        <p:txBody>
          <a:bodyPr wrap="square" lIns="0" tIns="0" rIns="0" bIns="0" rtlCol="0" anchor="ctr"/>
          <a:lstStyle/>
          <a:p>
            <a:pPr algn="ctr" indent="0" marL="0">
              <a:buNone/>
            </a:pPr>
            <a:r>
              <a:rPr lang="en-US" sz="900" b="1" spc="150" kern="0" dirty="0">
                <a:solidFill>
                  <a:srgbClr val="3A506B"/>
                </a:solidFill>
                <a:latin typeface="Arial" pitchFamily="34" charset="0"/>
                <a:ea typeface="Arial" pitchFamily="34" charset="-122"/>
                <a:cs typeface="Arial" pitchFamily="34" charset="-120"/>
              </a:rPr>
              <a:t>PROPUESTO</a:t>
            </a:r>
            <a:endParaRPr lang="en-US" sz="900" dirty="0"/>
          </a:p>
        </p:txBody>
      </p:sp>
      <p:sp>
        <p:nvSpPr>
          <p:cNvPr id="11" name="Text 9"/>
          <p:cNvSpPr txBox="1"/>
          <p:nvPr/>
        </p:nvSpPr>
        <p:spPr>
          <a:xfrm>
            <a:off x="594360" y="777240"/>
            <a:ext cx="11002975" cy="731520"/>
          </a:xfrm>
          <a:prstGeom prst="rect">
            <a:avLst/>
          </a:prstGeom>
          <a:noFill/>
          <a:ln/>
        </p:spPr>
        <p:txBody>
          <a:bodyPr wrap="square" lIns="0" tIns="0" rIns="0" bIns="0" rtlCol="0" anchor="t"/>
          <a:lstStyle/>
          <a:p>
            <a:pPr indent="0" marL="0">
              <a:buNone/>
            </a:pPr>
            <a:r>
              <a:rPr lang="en-US" sz="3000" b="1" dirty="0">
                <a:solidFill>
                  <a:srgbClr val="0B132B"/>
                </a:solidFill>
                <a:latin typeface="Arial" pitchFamily="34" charset="0"/>
                <a:ea typeface="Arial" pitchFamily="34" charset="-122"/>
                <a:cs typeface="Arial" pitchFamily="34" charset="-120"/>
              </a:rPr>
              <a:t>North Star propuesta</a:t>
            </a:r>
            <a:endParaRPr lang="en-US" sz="3000" dirty="0"/>
          </a:p>
        </p:txBody>
      </p:sp>
      <p:sp>
        <p:nvSpPr>
          <p:cNvPr id="12" name="Text 10"/>
          <p:cNvSpPr txBox="1"/>
          <p:nvPr/>
        </p:nvSpPr>
        <p:spPr>
          <a:xfrm>
            <a:off x="594360" y="6473952"/>
            <a:ext cx="7315200" cy="182880"/>
          </a:xfrm>
          <a:prstGeom prst="rect">
            <a:avLst/>
          </a:prstGeom>
          <a:noFill/>
          <a:ln/>
        </p:spPr>
        <p:txBody>
          <a:bodyPr wrap="square" lIns="0" tIns="0" rIns="0" bIns="0" rtlCol="0" anchor="t"/>
          <a:lstStyle/>
          <a:p>
            <a:pPr indent="0" marL="0">
              <a:buNone/>
            </a:pPr>
            <a:r>
              <a:rPr lang="en-US" sz="850" dirty="0">
                <a:solidFill>
                  <a:srgbClr val="6B7385"/>
                </a:solidFill>
                <a:latin typeface="Arial" pitchFamily="34" charset="0"/>
                <a:ea typeface="Arial" pitchFamily="34" charset="-122"/>
                <a:cs typeface="Arial" pitchFamily="34" charset="-120"/>
              </a:rPr>
              <a:t>Zig-Zag · Business, Product &amp; Strategy Update · Septiembre 2026</a:t>
            </a:r>
            <a:endParaRPr lang="en-US" sz="850" dirty="0"/>
          </a:p>
        </p:txBody>
      </p:sp>
      <p:sp>
        <p:nvSpPr>
          <p:cNvPr id="13" name="Text 11"/>
          <p:cNvSpPr txBox="1"/>
          <p:nvPr/>
        </p:nvSpPr>
        <p:spPr>
          <a:xfrm>
            <a:off x="11048695" y="6473952"/>
            <a:ext cx="548640" cy="182880"/>
          </a:xfrm>
          <a:prstGeom prst="rect">
            <a:avLst/>
          </a:prstGeom>
          <a:noFill/>
          <a:ln/>
        </p:spPr>
        <p:txBody>
          <a:bodyPr wrap="square" lIns="0" tIns="0" rIns="0" bIns="0" rtlCol="0" anchor="t"/>
          <a:lstStyle/>
          <a:p>
            <a:pPr algn="r" indent="0" marL="0">
              <a:buNone/>
            </a:pPr>
            <a:r>
              <a:rPr lang="en-US" sz="850" dirty="0">
                <a:solidFill>
                  <a:srgbClr val="6B7385"/>
                </a:solidFill>
                <a:latin typeface="Arial" pitchFamily="34" charset="0"/>
                <a:ea typeface="Arial" pitchFamily="34" charset="-122"/>
                <a:cs typeface="Arial" pitchFamily="34" charset="-120"/>
              </a:rPr>
              <a:t>8</a:t>
            </a:r>
            <a:endParaRPr lang="en-US" sz="850" dirty="0"/>
          </a:p>
        </p:txBody>
      </p:sp>
      <p:sp>
        <p:nvSpPr>
          <p:cNvPr id="14" name="Text 12"/>
          <p:cNvSpPr txBox="1"/>
          <p:nvPr/>
        </p:nvSpPr>
        <p:spPr>
          <a:xfrm>
            <a:off x="594360" y="1645920"/>
            <a:ext cx="5943600" cy="640080"/>
          </a:xfrm>
          <a:prstGeom prst="rect">
            <a:avLst/>
          </a:prstGeom>
          <a:noFill/>
          <a:ln/>
        </p:spPr>
        <p:txBody>
          <a:bodyPr wrap="square" lIns="0" tIns="0" rIns="0" bIns="0" rtlCol="0" anchor="t"/>
          <a:lstStyle/>
          <a:p>
            <a:pPr indent="0" marL="0">
              <a:buNone/>
            </a:pPr>
            <a:r>
              <a:rPr lang="en-US" sz="3000" b="1" dirty="0">
                <a:solidFill>
                  <a:srgbClr val="1F7A73"/>
                </a:solidFill>
                <a:latin typeface="Arial" pitchFamily="34" charset="0"/>
                <a:ea typeface="Arial" pitchFamily="34" charset="-122"/>
                <a:cs typeface="Arial" pitchFamily="34" charset="-120"/>
              </a:rPr>
              <a:t>Tasa de planes de viaje exitosos</a:t>
            </a:r>
            <a:endParaRPr lang="en-US" sz="3000" dirty="0"/>
          </a:p>
        </p:txBody>
      </p:sp>
      <p:sp>
        <p:nvSpPr>
          <p:cNvPr id="15" name="Text 13"/>
          <p:cNvSpPr txBox="1"/>
          <p:nvPr/>
        </p:nvSpPr>
        <p:spPr>
          <a:xfrm>
            <a:off x="594360" y="2377440"/>
            <a:ext cx="5486400" cy="320040"/>
          </a:xfrm>
          <a:prstGeom prst="rect">
            <a:avLst/>
          </a:prstGeom>
          <a:noFill/>
          <a:ln/>
        </p:spPr>
        <p:txBody>
          <a:bodyPr wrap="square" lIns="0" tIns="0" rIns="0" bIns="0" rtlCol="0" anchor="t"/>
          <a:lstStyle/>
          <a:p>
            <a:pPr indent="0" marL="0">
              <a:buNone/>
            </a:pPr>
            <a:r>
              <a:rPr lang="en-US" sz="1400" dirty="0">
                <a:solidFill>
                  <a:srgbClr val="3D4659"/>
                </a:solidFill>
                <a:latin typeface="Arial" pitchFamily="34" charset="0"/>
                <a:ea typeface="Arial" pitchFamily="34" charset="-122"/>
                <a:cs typeface="Arial" pitchFamily="34" charset="-120"/>
              </a:rPr>
              <a:t>% de solicitudes que terminan en un plan que:</a:t>
            </a:r>
            <a:endParaRPr lang="en-US" sz="1400" dirty="0"/>
          </a:p>
        </p:txBody>
      </p:sp>
      <p:pic>
        <p:nvPicPr>
          <p:cNvPr id="16" name="Image 0" descr="preencoded.png">    </p:cNvPr>
          <p:cNvPicPr>
            <a:picLocks noChangeAspect="1"/>
          </p:cNvPicPr>
          <p:nvPr/>
        </p:nvPicPr>
        <p:blipFill>
          <a:blip r:embed="rId1"/>
          <a:stretch>
            <a:fillRect/>
          </a:stretch>
        </p:blipFill>
        <p:spPr>
          <a:xfrm>
            <a:off x="594360" y="2926080"/>
            <a:ext cx="201168" cy="201168"/>
          </a:xfrm>
          <a:prstGeom prst="rect">
            <a:avLst/>
          </a:prstGeom>
        </p:spPr>
      </p:pic>
      <p:sp>
        <p:nvSpPr>
          <p:cNvPr id="17" name="Text 14"/>
          <p:cNvSpPr txBox="1"/>
          <p:nvPr/>
        </p:nvSpPr>
        <p:spPr>
          <a:xfrm>
            <a:off x="960120" y="2834640"/>
            <a:ext cx="5120640" cy="384048"/>
          </a:xfrm>
          <a:prstGeom prst="rect">
            <a:avLst/>
          </a:prstGeom>
          <a:noFill/>
          <a:ln/>
        </p:spPr>
        <p:txBody>
          <a:bodyPr wrap="square" lIns="0" tIns="0" rIns="0" bIns="0" rtlCol="0" anchor="ctr"/>
          <a:lstStyle/>
          <a:p>
            <a:pPr indent="0" marL="0">
              <a:buNone/>
            </a:pPr>
            <a:r>
              <a:rPr lang="en-US" sz="1500" dirty="0">
                <a:solidFill>
                  <a:srgbClr val="0B132B"/>
                </a:solidFill>
                <a:latin typeface="Arial" pitchFamily="34" charset="0"/>
                <a:ea typeface="Arial" pitchFamily="34" charset="-122"/>
                <a:cs typeface="Arial" pitchFamily="34" charset="-120"/>
              </a:rPr>
              <a:t>se alinea con las preferencias principales</a:t>
            </a:r>
            <a:endParaRPr lang="en-US" sz="1500" dirty="0"/>
          </a:p>
        </p:txBody>
      </p:sp>
      <p:pic>
        <p:nvPicPr>
          <p:cNvPr id="18" name="Image 1" descr="preencoded.png">    </p:cNvPr>
          <p:cNvPicPr>
            <a:picLocks noChangeAspect="1"/>
          </p:cNvPicPr>
          <p:nvPr/>
        </p:nvPicPr>
        <p:blipFill>
          <a:blip r:embed="rId2"/>
          <a:stretch>
            <a:fillRect/>
          </a:stretch>
        </p:blipFill>
        <p:spPr>
          <a:xfrm>
            <a:off x="594360" y="3355848"/>
            <a:ext cx="201168" cy="201168"/>
          </a:xfrm>
          <a:prstGeom prst="rect">
            <a:avLst/>
          </a:prstGeom>
        </p:spPr>
      </p:pic>
      <p:sp>
        <p:nvSpPr>
          <p:cNvPr id="19" name="Text 15"/>
          <p:cNvSpPr txBox="1"/>
          <p:nvPr/>
        </p:nvSpPr>
        <p:spPr>
          <a:xfrm>
            <a:off x="960120" y="3264408"/>
            <a:ext cx="5120640" cy="384048"/>
          </a:xfrm>
          <a:prstGeom prst="rect">
            <a:avLst/>
          </a:prstGeom>
          <a:noFill/>
          <a:ln/>
        </p:spPr>
        <p:txBody>
          <a:bodyPr wrap="square" lIns="0" tIns="0" rIns="0" bIns="0" rtlCol="0" anchor="ctr"/>
          <a:lstStyle/>
          <a:p>
            <a:pPr indent="0" marL="0">
              <a:buNone/>
            </a:pPr>
            <a:r>
              <a:rPr lang="en-US" sz="1500" dirty="0">
                <a:solidFill>
                  <a:srgbClr val="0B132B"/>
                </a:solidFill>
                <a:latin typeface="Arial" pitchFamily="34" charset="0"/>
                <a:ea typeface="Arial" pitchFamily="34" charset="-122"/>
                <a:cs typeface="Arial" pitchFamily="34" charset="-120"/>
              </a:rPr>
              <a:t>se construye con experiencias verificadas</a:t>
            </a:r>
            <a:endParaRPr lang="en-US" sz="1500" dirty="0"/>
          </a:p>
        </p:txBody>
      </p:sp>
      <p:pic>
        <p:nvPicPr>
          <p:cNvPr id="20" name="Image 2" descr="preencoded.png">    </p:cNvPr>
          <p:cNvPicPr>
            <a:picLocks noChangeAspect="1"/>
          </p:cNvPicPr>
          <p:nvPr/>
        </p:nvPicPr>
        <p:blipFill>
          <a:blip r:embed="rId3"/>
          <a:stretch>
            <a:fillRect/>
          </a:stretch>
        </p:blipFill>
        <p:spPr>
          <a:xfrm>
            <a:off x="594360" y="3785616"/>
            <a:ext cx="201168" cy="201168"/>
          </a:xfrm>
          <a:prstGeom prst="rect">
            <a:avLst/>
          </a:prstGeom>
        </p:spPr>
      </p:pic>
      <p:sp>
        <p:nvSpPr>
          <p:cNvPr id="21" name="Text 16"/>
          <p:cNvSpPr txBox="1"/>
          <p:nvPr/>
        </p:nvSpPr>
        <p:spPr>
          <a:xfrm>
            <a:off x="960120" y="3694176"/>
            <a:ext cx="5120640" cy="384048"/>
          </a:xfrm>
          <a:prstGeom prst="rect">
            <a:avLst/>
          </a:prstGeom>
          <a:noFill/>
          <a:ln/>
        </p:spPr>
        <p:txBody>
          <a:bodyPr wrap="square" lIns="0" tIns="0" rIns="0" bIns="0" rtlCol="0" anchor="ctr"/>
          <a:lstStyle/>
          <a:p>
            <a:pPr indent="0" marL="0">
              <a:buNone/>
            </a:pPr>
            <a:r>
              <a:rPr lang="en-US" sz="1500" dirty="0">
                <a:solidFill>
                  <a:srgbClr val="0B132B"/>
                </a:solidFill>
                <a:latin typeface="Arial" pitchFamily="34" charset="0"/>
                <a:ea typeface="Arial" pitchFamily="34" charset="-122"/>
                <a:cs typeface="Arial" pitchFamily="34" charset="-120"/>
              </a:rPr>
              <a:t>es geográficamente factible</a:t>
            </a:r>
            <a:endParaRPr lang="en-US" sz="1500" dirty="0"/>
          </a:p>
        </p:txBody>
      </p:sp>
      <p:pic>
        <p:nvPicPr>
          <p:cNvPr id="22" name="Image 3" descr="preencoded.png">    </p:cNvPr>
          <p:cNvPicPr>
            <a:picLocks noChangeAspect="1"/>
          </p:cNvPicPr>
          <p:nvPr/>
        </p:nvPicPr>
        <p:blipFill>
          <a:blip r:embed="rId4"/>
          <a:stretch>
            <a:fillRect/>
          </a:stretch>
        </p:blipFill>
        <p:spPr>
          <a:xfrm>
            <a:off x="594360" y="4215384"/>
            <a:ext cx="201168" cy="201168"/>
          </a:xfrm>
          <a:prstGeom prst="rect">
            <a:avLst/>
          </a:prstGeom>
        </p:spPr>
      </p:pic>
      <p:sp>
        <p:nvSpPr>
          <p:cNvPr id="23" name="Text 17"/>
          <p:cNvSpPr txBox="1"/>
          <p:nvPr/>
        </p:nvSpPr>
        <p:spPr>
          <a:xfrm>
            <a:off x="960120" y="4123944"/>
            <a:ext cx="5120640" cy="384048"/>
          </a:xfrm>
          <a:prstGeom prst="rect">
            <a:avLst/>
          </a:prstGeom>
          <a:noFill/>
          <a:ln/>
        </p:spPr>
        <p:txBody>
          <a:bodyPr wrap="square" lIns="0" tIns="0" rIns="0" bIns="0" rtlCol="0" anchor="ctr"/>
          <a:lstStyle/>
          <a:p>
            <a:pPr indent="0" marL="0">
              <a:buNone/>
            </a:pPr>
            <a:r>
              <a:rPr lang="en-US" sz="1500" dirty="0">
                <a:solidFill>
                  <a:srgbClr val="0B132B"/>
                </a:solidFill>
                <a:latin typeface="Arial" pitchFamily="34" charset="0"/>
                <a:ea typeface="Arial" pitchFamily="34" charset="-122"/>
                <a:cs typeface="Arial" pitchFamily="34" charset="-120"/>
              </a:rPr>
              <a:t>es temporalmente factible</a:t>
            </a:r>
            <a:endParaRPr lang="en-US" sz="1500" dirty="0"/>
          </a:p>
        </p:txBody>
      </p:sp>
      <p:pic>
        <p:nvPicPr>
          <p:cNvPr id="24" name="Image 4" descr="preencoded.png">    </p:cNvPr>
          <p:cNvPicPr>
            <a:picLocks noChangeAspect="1"/>
          </p:cNvPicPr>
          <p:nvPr/>
        </p:nvPicPr>
        <p:blipFill>
          <a:blip r:embed="rId5"/>
          <a:stretch>
            <a:fillRect/>
          </a:stretch>
        </p:blipFill>
        <p:spPr>
          <a:xfrm>
            <a:off x="594360" y="4645152"/>
            <a:ext cx="201168" cy="201168"/>
          </a:xfrm>
          <a:prstGeom prst="rect">
            <a:avLst/>
          </a:prstGeom>
        </p:spPr>
      </p:pic>
      <p:sp>
        <p:nvSpPr>
          <p:cNvPr id="25" name="Text 18"/>
          <p:cNvSpPr txBox="1"/>
          <p:nvPr/>
        </p:nvSpPr>
        <p:spPr>
          <a:xfrm>
            <a:off x="960120" y="4553712"/>
            <a:ext cx="5120640" cy="384048"/>
          </a:xfrm>
          <a:prstGeom prst="rect">
            <a:avLst/>
          </a:prstGeom>
          <a:noFill/>
          <a:ln/>
        </p:spPr>
        <p:txBody>
          <a:bodyPr wrap="square" lIns="0" tIns="0" rIns="0" bIns="0" rtlCol="0" anchor="ctr"/>
          <a:lstStyle/>
          <a:p>
            <a:pPr indent="0" marL="0">
              <a:buNone/>
            </a:pPr>
            <a:r>
              <a:rPr lang="en-US" sz="1500" dirty="0">
                <a:solidFill>
                  <a:srgbClr val="0B132B"/>
                </a:solidFill>
                <a:latin typeface="Arial" pitchFamily="34" charset="0"/>
                <a:ea typeface="Arial" pitchFamily="34" charset="-122"/>
                <a:cs typeface="Arial" pitchFamily="34" charset="-120"/>
              </a:rPr>
              <a:t>no contiene composiciones fabricadas</a:t>
            </a:r>
            <a:endParaRPr lang="en-US" sz="1500" dirty="0"/>
          </a:p>
        </p:txBody>
      </p:sp>
      <p:pic>
        <p:nvPicPr>
          <p:cNvPr id="26" name="Image 5" descr="preencoded.png">    </p:cNvPr>
          <p:cNvPicPr>
            <a:picLocks noChangeAspect="1"/>
          </p:cNvPicPr>
          <p:nvPr/>
        </p:nvPicPr>
        <p:blipFill>
          <a:blip r:embed="rId6"/>
          <a:stretch>
            <a:fillRect/>
          </a:stretch>
        </p:blipFill>
        <p:spPr>
          <a:xfrm>
            <a:off x="594360" y="5074920"/>
            <a:ext cx="201168" cy="201168"/>
          </a:xfrm>
          <a:prstGeom prst="rect">
            <a:avLst/>
          </a:prstGeom>
        </p:spPr>
      </p:pic>
      <p:sp>
        <p:nvSpPr>
          <p:cNvPr id="27" name="Text 19"/>
          <p:cNvSpPr txBox="1"/>
          <p:nvPr/>
        </p:nvSpPr>
        <p:spPr>
          <a:xfrm>
            <a:off x="960120" y="4983480"/>
            <a:ext cx="5120640" cy="384048"/>
          </a:xfrm>
          <a:prstGeom prst="rect">
            <a:avLst/>
          </a:prstGeom>
          <a:noFill/>
          <a:ln/>
        </p:spPr>
        <p:txBody>
          <a:bodyPr wrap="square" lIns="0" tIns="0" rIns="0" bIns="0" rtlCol="0" anchor="ctr"/>
          <a:lstStyle/>
          <a:p>
            <a:pPr indent="0" marL="0">
              <a:buNone/>
            </a:pPr>
            <a:r>
              <a:rPr lang="en-US" sz="1500" dirty="0">
                <a:solidFill>
                  <a:srgbClr val="0B132B"/>
                </a:solidFill>
                <a:latin typeface="Arial" pitchFamily="34" charset="0"/>
                <a:ea typeface="Arial" pitchFamily="34" charset="-122"/>
                <a:cs typeface="Arial" pitchFamily="34" charset="-120"/>
              </a:rPr>
              <a:t>es realmente útil para el viajero</a:t>
            </a:r>
            <a:endParaRPr lang="en-US" sz="1500" dirty="0"/>
          </a:p>
        </p:txBody>
      </p:sp>
      <p:sp>
        <p:nvSpPr>
          <p:cNvPr id="28" name="Text 20"/>
          <p:cNvSpPr txBox="1"/>
          <p:nvPr/>
        </p:nvSpPr>
        <p:spPr>
          <a:xfrm>
            <a:off x="594360" y="5577840"/>
            <a:ext cx="5486400" cy="320040"/>
          </a:xfrm>
          <a:prstGeom prst="rect">
            <a:avLst/>
          </a:prstGeom>
          <a:noFill/>
          <a:ln/>
        </p:spPr>
        <p:txBody>
          <a:bodyPr wrap="square" lIns="0" tIns="0" rIns="0" bIns="0" rtlCol="0" anchor="t"/>
          <a:lstStyle/>
          <a:p>
            <a:pPr indent="0" marL="0">
              <a:buNone/>
            </a:pPr>
            <a:r>
              <a:rPr lang="en-US" sz="1200" i="1" dirty="0">
                <a:solidFill>
                  <a:srgbClr val="B04A36"/>
                </a:solidFill>
                <a:latin typeface="Arial" pitchFamily="34" charset="0"/>
                <a:ea typeface="Arial" pitchFamily="34" charset="-122"/>
                <a:cs typeface="Arial" pitchFamily="34" charset="-120"/>
              </a:rPr>
              <a:t>Todavía no instrumentada. No mostramos valores porque no existen.</a:t>
            </a:r>
            <a:endParaRPr lang="en-US" sz="1200" dirty="0"/>
          </a:p>
        </p:txBody>
      </p:sp>
      <p:sp>
        <p:nvSpPr>
          <p:cNvPr id="29" name="Text 21"/>
          <p:cNvSpPr txBox="1"/>
          <p:nvPr/>
        </p:nvSpPr>
        <p:spPr>
          <a:xfrm>
            <a:off x="6675120" y="1691640"/>
            <a:ext cx="4572000" cy="320040"/>
          </a:xfrm>
          <a:prstGeom prst="rect">
            <a:avLst/>
          </a:prstGeom>
          <a:noFill/>
          <a:ln/>
        </p:spPr>
        <p:txBody>
          <a:bodyPr wrap="square" lIns="0" tIns="0" rIns="0" bIns="0" rtlCol="0" anchor="t"/>
          <a:lstStyle/>
          <a:p>
            <a:pPr indent="0" marL="0">
              <a:buNone/>
            </a:pPr>
            <a:r>
              <a:rPr lang="en-US" sz="1400" b="1" dirty="0">
                <a:solidFill>
                  <a:srgbClr val="0B132B"/>
                </a:solidFill>
                <a:latin typeface="Arial" pitchFamily="34" charset="0"/>
                <a:ea typeface="Arial" pitchFamily="34" charset="-122"/>
                <a:cs typeface="Arial" pitchFamily="34" charset="-120"/>
              </a:rPr>
              <a:t>Métricas de soporte</a:t>
            </a:r>
            <a:endParaRPr lang="en-US" sz="1400" dirty="0"/>
          </a:p>
        </p:txBody>
      </p:sp>
      <p:sp>
        <p:nvSpPr>
          <p:cNvPr id="30" name="Shape 22"/>
          <p:cNvSpPr/>
          <p:nvPr/>
        </p:nvSpPr>
        <p:spPr>
          <a:xfrm>
            <a:off x="6675120" y="2148840"/>
            <a:ext cx="2377440" cy="777240"/>
          </a:xfrm>
          <a:prstGeom prst="roundRect">
            <a:avLst>
              <a:gd name="adj" fmla="val 9412"/>
            </a:avLst>
          </a:prstGeom>
          <a:solidFill>
            <a:srgbClr val="FFFFFF"/>
          </a:solidFill>
          <a:ln w="9525">
            <a:solidFill>
              <a:srgbClr val="D8D2C4"/>
            </a:solidFill>
            <a:prstDash val="solid"/>
          </a:ln>
        </p:spPr>
      </p:sp>
      <p:sp>
        <p:nvSpPr>
          <p:cNvPr id="31" name="Text 23"/>
          <p:cNvSpPr txBox="1"/>
          <p:nvPr/>
        </p:nvSpPr>
        <p:spPr>
          <a:xfrm>
            <a:off x="6858000" y="2148840"/>
            <a:ext cx="2057400" cy="777240"/>
          </a:xfrm>
          <a:prstGeom prst="rect">
            <a:avLst/>
          </a:prstGeom>
          <a:noFill/>
          <a:ln/>
        </p:spPr>
        <p:txBody>
          <a:bodyPr wrap="square" lIns="0" tIns="0" rIns="0" bIns="0" rtlCol="0" anchor="ctr"/>
          <a:lstStyle/>
          <a:p>
            <a:pPr indent="0" marL="0">
              <a:buNone/>
            </a:pPr>
            <a:r>
              <a:rPr lang="en-US" sz="1250" b="1" dirty="0">
                <a:solidFill>
                  <a:srgbClr val="3A506B"/>
                </a:solidFill>
                <a:latin typeface="Arial" pitchFamily="34" charset="0"/>
                <a:ea typeface="Arial" pitchFamily="34" charset="-122"/>
                <a:cs typeface="Arial" pitchFamily="34" charset="-120"/>
              </a:rPr>
              <a:t>Preferencias satisfechas</a:t>
            </a:r>
            <a:endParaRPr lang="en-US" sz="1250" dirty="0"/>
          </a:p>
        </p:txBody>
      </p:sp>
      <p:sp>
        <p:nvSpPr>
          <p:cNvPr id="32" name="Shape 24"/>
          <p:cNvSpPr/>
          <p:nvPr/>
        </p:nvSpPr>
        <p:spPr>
          <a:xfrm>
            <a:off x="9189720" y="2148840"/>
            <a:ext cx="2377440" cy="777240"/>
          </a:xfrm>
          <a:prstGeom prst="roundRect">
            <a:avLst>
              <a:gd name="adj" fmla="val 9412"/>
            </a:avLst>
          </a:prstGeom>
          <a:solidFill>
            <a:srgbClr val="FFFFFF"/>
          </a:solidFill>
          <a:ln w="9525">
            <a:solidFill>
              <a:srgbClr val="D8D2C4"/>
            </a:solidFill>
            <a:prstDash val="solid"/>
          </a:ln>
        </p:spPr>
      </p:sp>
      <p:sp>
        <p:nvSpPr>
          <p:cNvPr id="33" name="Text 25"/>
          <p:cNvSpPr txBox="1"/>
          <p:nvPr/>
        </p:nvSpPr>
        <p:spPr>
          <a:xfrm>
            <a:off x="9372600" y="2148840"/>
            <a:ext cx="2057400" cy="777240"/>
          </a:xfrm>
          <a:prstGeom prst="rect">
            <a:avLst/>
          </a:prstGeom>
          <a:noFill/>
          <a:ln/>
        </p:spPr>
        <p:txBody>
          <a:bodyPr wrap="square" lIns="0" tIns="0" rIns="0" bIns="0" rtlCol="0" anchor="ctr"/>
          <a:lstStyle/>
          <a:p>
            <a:pPr indent="0" marL="0">
              <a:buNone/>
            </a:pPr>
            <a:r>
              <a:rPr lang="en-US" sz="1250" b="1" dirty="0">
                <a:solidFill>
                  <a:srgbClr val="3A506B"/>
                </a:solidFill>
                <a:latin typeface="Arial" pitchFamily="34" charset="0"/>
                <a:ea typeface="Arial" pitchFamily="34" charset="-122"/>
                <a:cs typeface="Arial" pitchFamily="34" charset="-120"/>
              </a:rPr>
              <a:t>Formato pedido cumplido</a:t>
            </a:r>
            <a:endParaRPr lang="en-US" sz="1250" dirty="0"/>
          </a:p>
        </p:txBody>
      </p:sp>
      <p:sp>
        <p:nvSpPr>
          <p:cNvPr id="34" name="Shape 26"/>
          <p:cNvSpPr/>
          <p:nvPr/>
        </p:nvSpPr>
        <p:spPr>
          <a:xfrm>
            <a:off x="6675120" y="3063240"/>
            <a:ext cx="2377440" cy="777240"/>
          </a:xfrm>
          <a:prstGeom prst="roundRect">
            <a:avLst>
              <a:gd name="adj" fmla="val 9412"/>
            </a:avLst>
          </a:prstGeom>
          <a:solidFill>
            <a:srgbClr val="FFFFFF"/>
          </a:solidFill>
          <a:ln w="9525">
            <a:solidFill>
              <a:srgbClr val="D8D2C4"/>
            </a:solidFill>
            <a:prstDash val="solid"/>
          </a:ln>
        </p:spPr>
      </p:sp>
      <p:sp>
        <p:nvSpPr>
          <p:cNvPr id="35" name="Text 27"/>
          <p:cNvSpPr txBox="1"/>
          <p:nvPr/>
        </p:nvSpPr>
        <p:spPr>
          <a:xfrm>
            <a:off x="6858000" y="3063240"/>
            <a:ext cx="2057400" cy="777240"/>
          </a:xfrm>
          <a:prstGeom prst="rect">
            <a:avLst/>
          </a:prstGeom>
          <a:noFill/>
          <a:ln/>
        </p:spPr>
        <p:txBody>
          <a:bodyPr wrap="square" lIns="0" tIns="0" rIns="0" bIns="0" rtlCol="0" anchor="ctr"/>
          <a:lstStyle/>
          <a:p>
            <a:pPr indent="0" marL="0">
              <a:buNone/>
            </a:pPr>
            <a:r>
              <a:rPr lang="en-US" sz="1250" b="1" dirty="0">
                <a:solidFill>
                  <a:srgbClr val="3A506B"/>
                </a:solidFill>
                <a:latin typeface="Arial" pitchFamily="34" charset="0"/>
                <a:ea typeface="Arial" pitchFamily="34" charset="-122"/>
                <a:cs typeface="Arial" pitchFamily="34" charset="-120"/>
              </a:rPr>
              <a:t>Cobertura con experiencias verificadas</a:t>
            </a:r>
            <a:endParaRPr lang="en-US" sz="1250" dirty="0"/>
          </a:p>
        </p:txBody>
      </p:sp>
      <p:sp>
        <p:nvSpPr>
          <p:cNvPr id="36" name="Shape 28"/>
          <p:cNvSpPr/>
          <p:nvPr/>
        </p:nvSpPr>
        <p:spPr>
          <a:xfrm>
            <a:off x="9189720" y="3063240"/>
            <a:ext cx="2377440" cy="777240"/>
          </a:xfrm>
          <a:prstGeom prst="roundRect">
            <a:avLst>
              <a:gd name="adj" fmla="val 9412"/>
            </a:avLst>
          </a:prstGeom>
          <a:solidFill>
            <a:srgbClr val="FFFFFF"/>
          </a:solidFill>
          <a:ln w="9525">
            <a:solidFill>
              <a:srgbClr val="D8D2C4"/>
            </a:solidFill>
            <a:prstDash val="solid"/>
          </a:ln>
        </p:spPr>
      </p:sp>
      <p:sp>
        <p:nvSpPr>
          <p:cNvPr id="37" name="Text 29"/>
          <p:cNvSpPr txBox="1"/>
          <p:nvPr/>
        </p:nvSpPr>
        <p:spPr>
          <a:xfrm>
            <a:off x="9372600" y="3063240"/>
            <a:ext cx="2057400" cy="777240"/>
          </a:xfrm>
          <a:prstGeom prst="rect">
            <a:avLst/>
          </a:prstGeom>
          <a:noFill/>
          <a:ln/>
        </p:spPr>
        <p:txBody>
          <a:bodyPr wrap="square" lIns="0" tIns="0" rIns="0" bIns="0" rtlCol="0" anchor="ctr"/>
          <a:lstStyle/>
          <a:p>
            <a:pPr indent="0" marL="0">
              <a:buNone/>
            </a:pPr>
            <a:r>
              <a:rPr lang="en-US" sz="1250" b="1" dirty="0">
                <a:solidFill>
                  <a:srgbClr val="3A506B"/>
                </a:solidFill>
                <a:latin typeface="Arial" pitchFamily="34" charset="0"/>
                <a:ea typeface="Arial" pitchFamily="34" charset="-122"/>
                <a:cs typeface="Arial" pitchFamily="34" charset="-120"/>
              </a:rPr>
              <a:t>Reutilización del catálogo</a:t>
            </a:r>
            <a:endParaRPr lang="en-US" sz="1250" dirty="0"/>
          </a:p>
        </p:txBody>
      </p:sp>
      <p:sp>
        <p:nvSpPr>
          <p:cNvPr id="38" name="Shape 30"/>
          <p:cNvSpPr/>
          <p:nvPr/>
        </p:nvSpPr>
        <p:spPr>
          <a:xfrm>
            <a:off x="6675120" y="3977640"/>
            <a:ext cx="2377440" cy="777240"/>
          </a:xfrm>
          <a:prstGeom prst="roundRect">
            <a:avLst>
              <a:gd name="adj" fmla="val 9412"/>
            </a:avLst>
          </a:prstGeom>
          <a:solidFill>
            <a:srgbClr val="FFFFFF"/>
          </a:solidFill>
          <a:ln w="9525">
            <a:solidFill>
              <a:srgbClr val="D8D2C4"/>
            </a:solidFill>
            <a:prstDash val="solid"/>
          </a:ln>
        </p:spPr>
      </p:sp>
      <p:sp>
        <p:nvSpPr>
          <p:cNvPr id="39" name="Text 31"/>
          <p:cNvSpPr txBox="1"/>
          <p:nvPr/>
        </p:nvSpPr>
        <p:spPr>
          <a:xfrm>
            <a:off x="6858000" y="3977640"/>
            <a:ext cx="2057400" cy="777240"/>
          </a:xfrm>
          <a:prstGeom prst="rect">
            <a:avLst/>
          </a:prstGeom>
          <a:noFill/>
          <a:ln/>
        </p:spPr>
        <p:txBody>
          <a:bodyPr wrap="square" lIns="0" tIns="0" rIns="0" bIns="0" rtlCol="0" anchor="ctr"/>
          <a:lstStyle/>
          <a:p>
            <a:pPr indent="0" marL="0">
              <a:buNone/>
            </a:pPr>
            <a:r>
              <a:rPr lang="en-US" sz="1250" b="1" dirty="0">
                <a:solidFill>
                  <a:srgbClr val="3A506B"/>
                </a:solidFill>
                <a:latin typeface="Arial" pitchFamily="34" charset="0"/>
                <a:ea typeface="Arial" pitchFamily="34" charset="-122"/>
                <a:cs typeface="Arial" pitchFamily="34" charset="-120"/>
              </a:rPr>
              <a:t>Tiempo hasta un plan usable</a:t>
            </a:r>
            <a:endParaRPr lang="en-US" sz="1250" dirty="0"/>
          </a:p>
        </p:txBody>
      </p:sp>
      <p:sp>
        <p:nvSpPr>
          <p:cNvPr id="40" name="Shape 32"/>
          <p:cNvSpPr/>
          <p:nvPr/>
        </p:nvSpPr>
        <p:spPr>
          <a:xfrm>
            <a:off x="9189720" y="3977640"/>
            <a:ext cx="2377440" cy="777240"/>
          </a:xfrm>
          <a:prstGeom prst="roundRect">
            <a:avLst>
              <a:gd name="adj" fmla="val 9412"/>
            </a:avLst>
          </a:prstGeom>
          <a:solidFill>
            <a:srgbClr val="FFFFFF"/>
          </a:solidFill>
          <a:ln w="9525">
            <a:solidFill>
              <a:srgbClr val="D8D2C4"/>
            </a:solidFill>
            <a:prstDash val="solid"/>
          </a:ln>
        </p:spPr>
      </p:sp>
      <p:sp>
        <p:nvSpPr>
          <p:cNvPr id="41" name="Text 33"/>
          <p:cNvSpPr txBox="1"/>
          <p:nvPr/>
        </p:nvSpPr>
        <p:spPr>
          <a:xfrm>
            <a:off x="9372600" y="3977640"/>
            <a:ext cx="2057400" cy="777240"/>
          </a:xfrm>
          <a:prstGeom prst="rect">
            <a:avLst/>
          </a:prstGeom>
          <a:noFill/>
          <a:ln/>
        </p:spPr>
        <p:txBody>
          <a:bodyPr wrap="square" lIns="0" tIns="0" rIns="0" bIns="0" rtlCol="0" anchor="ctr"/>
          <a:lstStyle/>
          <a:p>
            <a:pPr indent="0" marL="0">
              <a:buNone/>
            </a:pPr>
            <a:r>
              <a:rPr lang="en-US" sz="1250" b="1" dirty="0">
                <a:solidFill>
                  <a:srgbClr val="3A506B"/>
                </a:solidFill>
                <a:latin typeface="Arial" pitchFamily="34" charset="0"/>
                <a:ea typeface="Arial" pitchFamily="34" charset="-122"/>
                <a:cs typeface="Arial" pitchFamily="34" charset="-120"/>
              </a:rPr>
              <a:t>Costo de proveedores por plan exitoso</a:t>
            </a:r>
            <a:endParaRPr lang="en-US" sz="1250" dirty="0"/>
          </a:p>
        </p:txBody>
      </p:sp>
      <p:sp>
        <p:nvSpPr>
          <p:cNvPr id="42" name="Shape 34"/>
          <p:cNvSpPr/>
          <p:nvPr/>
        </p:nvSpPr>
        <p:spPr>
          <a:xfrm>
            <a:off x="6675120" y="4892040"/>
            <a:ext cx="2377440" cy="777240"/>
          </a:xfrm>
          <a:prstGeom prst="roundRect">
            <a:avLst>
              <a:gd name="adj" fmla="val 9412"/>
            </a:avLst>
          </a:prstGeom>
          <a:solidFill>
            <a:srgbClr val="FFFFFF"/>
          </a:solidFill>
          <a:ln w="9525">
            <a:solidFill>
              <a:srgbClr val="D8D2C4"/>
            </a:solidFill>
            <a:prstDash val="solid"/>
          </a:ln>
        </p:spPr>
      </p:sp>
      <p:sp>
        <p:nvSpPr>
          <p:cNvPr id="43" name="Text 35"/>
          <p:cNvSpPr txBox="1"/>
          <p:nvPr/>
        </p:nvSpPr>
        <p:spPr>
          <a:xfrm>
            <a:off x="6858000" y="4892040"/>
            <a:ext cx="2057400" cy="777240"/>
          </a:xfrm>
          <a:prstGeom prst="rect">
            <a:avLst/>
          </a:prstGeom>
          <a:noFill/>
          <a:ln/>
        </p:spPr>
        <p:txBody>
          <a:bodyPr wrap="square" lIns="0" tIns="0" rIns="0" bIns="0" rtlCol="0" anchor="ctr"/>
          <a:lstStyle/>
          <a:p>
            <a:pPr indent="0" marL="0">
              <a:buNone/>
            </a:pPr>
            <a:r>
              <a:rPr lang="en-US" sz="1250" b="1" dirty="0">
                <a:solidFill>
                  <a:srgbClr val="3A506B"/>
                </a:solidFill>
                <a:latin typeface="Arial" pitchFamily="34" charset="0"/>
                <a:ea typeface="Arial" pitchFamily="34" charset="-122"/>
                <a:cs typeface="Arial" pitchFamily="34" charset="-120"/>
              </a:rPr>
              <a:t>Aceptación del usuario</a:t>
            </a:r>
            <a:endParaRPr lang="en-US" sz="1250" dirty="0"/>
          </a:p>
        </p:txBody>
      </p:sp>
      <p:sp>
        <p:nvSpPr>
          <p:cNvPr id="44" name="Shape 36"/>
          <p:cNvSpPr/>
          <p:nvPr/>
        </p:nvSpPr>
        <p:spPr>
          <a:xfrm>
            <a:off x="9189720" y="4892040"/>
            <a:ext cx="2377440" cy="777240"/>
          </a:xfrm>
          <a:prstGeom prst="roundRect">
            <a:avLst>
              <a:gd name="adj" fmla="val 9412"/>
            </a:avLst>
          </a:prstGeom>
          <a:solidFill>
            <a:srgbClr val="FFFFFF"/>
          </a:solidFill>
          <a:ln w="9525">
            <a:solidFill>
              <a:srgbClr val="D8D2C4"/>
            </a:solidFill>
            <a:prstDash val="solid"/>
          </a:ln>
        </p:spPr>
      </p:sp>
      <p:sp>
        <p:nvSpPr>
          <p:cNvPr id="45" name="Text 37"/>
          <p:cNvSpPr txBox="1"/>
          <p:nvPr/>
        </p:nvSpPr>
        <p:spPr>
          <a:xfrm>
            <a:off x="9372600" y="4892040"/>
            <a:ext cx="2057400" cy="777240"/>
          </a:xfrm>
          <a:prstGeom prst="rect">
            <a:avLst/>
          </a:prstGeom>
          <a:noFill/>
          <a:ln/>
        </p:spPr>
        <p:txBody>
          <a:bodyPr wrap="square" lIns="0" tIns="0" rIns="0" bIns="0" rtlCol="0" anchor="ctr"/>
          <a:lstStyle/>
          <a:p>
            <a:pPr indent="0" marL="0">
              <a:buNone/>
            </a:pPr>
            <a:r>
              <a:rPr lang="en-US" sz="1250" b="1" dirty="0">
                <a:solidFill>
                  <a:srgbClr val="3A506B"/>
                </a:solidFill>
                <a:latin typeface="Arial" pitchFamily="34" charset="0"/>
                <a:ea typeface="Arial" pitchFamily="34" charset="-122"/>
                <a:cs typeface="Arial" pitchFamily="34" charset="-120"/>
              </a:rPr>
              <a:t>Ediciones al plan</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1E8"/>
        </a:solidFill>
      </p:bgPr>
    </p:bg>
    <p:spTree>
      <p:nvGrpSpPr>
        <p:cNvPr id="1" name=""/>
        <p:cNvGrpSpPr/>
        <p:nvPr/>
      </p:nvGrpSpPr>
      <p:grpSpPr>
        <a:xfrm>
          <a:off x="0" y="0"/>
          <a:ext cx="0" cy="0"/>
          <a:chOff x="0" y="0"/>
          <a:chExt cx="0" cy="0"/>
        </a:xfrm>
      </p:grpSpPr>
      <p:sp>
        <p:nvSpPr>
          <p:cNvPr id="2" name="Shape 0"/>
          <p:cNvSpPr/>
          <p:nvPr/>
        </p:nvSpPr>
        <p:spPr>
          <a:xfrm flipV="1">
            <a:off x="594360" y="384048"/>
            <a:ext cx="120701" cy="98755"/>
          </a:xfrm>
          <a:prstGeom prst="line">
            <a:avLst/>
          </a:prstGeom>
          <a:noFill/>
          <a:ln w="22225">
            <a:solidFill>
              <a:srgbClr val="5BC0BE"/>
            </a:solidFill>
            <a:prstDash val="solid"/>
          </a:ln>
        </p:spPr>
      </p:sp>
      <p:sp>
        <p:nvSpPr>
          <p:cNvPr id="3" name="Shape 1"/>
          <p:cNvSpPr/>
          <p:nvPr/>
        </p:nvSpPr>
        <p:spPr>
          <a:xfrm>
            <a:off x="715061" y="384048"/>
            <a:ext cx="120701" cy="98755"/>
          </a:xfrm>
          <a:prstGeom prst="line">
            <a:avLst/>
          </a:prstGeom>
          <a:noFill/>
          <a:ln w="22225">
            <a:solidFill>
              <a:srgbClr val="5BC0BE"/>
            </a:solidFill>
            <a:prstDash val="solid"/>
          </a:ln>
        </p:spPr>
      </p:sp>
      <p:sp>
        <p:nvSpPr>
          <p:cNvPr id="4" name="Shape 2"/>
          <p:cNvSpPr/>
          <p:nvPr/>
        </p:nvSpPr>
        <p:spPr>
          <a:xfrm flipV="1">
            <a:off x="835762" y="384048"/>
            <a:ext cx="120701" cy="98755"/>
          </a:xfrm>
          <a:prstGeom prst="line">
            <a:avLst/>
          </a:prstGeom>
          <a:noFill/>
          <a:ln w="22225">
            <a:solidFill>
              <a:srgbClr val="5BC0BE"/>
            </a:solidFill>
            <a:prstDash val="solid"/>
          </a:ln>
        </p:spPr>
      </p:sp>
      <p:sp>
        <p:nvSpPr>
          <p:cNvPr id="5" name="Shape 3"/>
          <p:cNvSpPr/>
          <p:nvPr/>
        </p:nvSpPr>
        <p:spPr>
          <a:xfrm>
            <a:off x="566928" y="455371"/>
            <a:ext cx="54864" cy="54864"/>
          </a:xfrm>
          <a:prstGeom prst="ellipse">
            <a:avLst/>
          </a:prstGeom>
          <a:solidFill>
            <a:srgbClr val="5BC0BE"/>
          </a:solidFill>
          <a:ln w="12700">
            <a:solidFill>
              <a:srgbClr val="5BC0BE"/>
            </a:solidFill>
            <a:prstDash val="solid"/>
          </a:ln>
        </p:spPr>
      </p:sp>
      <p:sp>
        <p:nvSpPr>
          <p:cNvPr id="6" name="Shape 4"/>
          <p:cNvSpPr/>
          <p:nvPr/>
        </p:nvSpPr>
        <p:spPr>
          <a:xfrm>
            <a:off x="687629" y="356616"/>
            <a:ext cx="54864" cy="54864"/>
          </a:xfrm>
          <a:prstGeom prst="ellipse">
            <a:avLst/>
          </a:prstGeom>
          <a:solidFill>
            <a:srgbClr val="5BC0BE"/>
          </a:solidFill>
          <a:ln w="12700">
            <a:solidFill>
              <a:srgbClr val="5BC0BE"/>
            </a:solidFill>
            <a:prstDash val="solid"/>
          </a:ln>
        </p:spPr>
      </p:sp>
      <p:sp>
        <p:nvSpPr>
          <p:cNvPr id="7" name="Shape 5"/>
          <p:cNvSpPr/>
          <p:nvPr/>
        </p:nvSpPr>
        <p:spPr>
          <a:xfrm>
            <a:off x="808330" y="455371"/>
            <a:ext cx="54864" cy="54864"/>
          </a:xfrm>
          <a:prstGeom prst="ellipse">
            <a:avLst/>
          </a:prstGeom>
          <a:solidFill>
            <a:srgbClr val="5BC0BE"/>
          </a:solidFill>
          <a:ln w="12700">
            <a:solidFill>
              <a:srgbClr val="5BC0BE"/>
            </a:solidFill>
            <a:prstDash val="solid"/>
          </a:ln>
        </p:spPr>
      </p:sp>
      <p:sp>
        <p:nvSpPr>
          <p:cNvPr id="8" name="Shape 6"/>
          <p:cNvSpPr/>
          <p:nvPr/>
        </p:nvSpPr>
        <p:spPr>
          <a:xfrm>
            <a:off x="929030" y="356616"/>
            <a:ext cx="54864" cy="54864"/>
          </a:xfrm>
          <a:prstGeom prst="ellipse">
            <a:avLst/>
          </a:prstGeom>
          <a:solidFill>
            <a:srgbClr val="5BC0BE"/>
          </a:solidFill>
          <a:ln w="12700">
            <a:solidFill>
              <a:srgbClr val="5BC0BE"/>
            </a:solidFill>
            <a:prstDash val="solid"/>
          </a:ln>
        </p:spPr>
      </p:sp>
      <p:sp>
        <p:nvSpPr>
          <p:cNvPr id="9" name="Shape 7"/>
          <p:cNvSpPr/>
          <p:nvPr/>
        </p:nvSpPr>
        <p:spPr>
          <a:xfrm>
            <a:off x="1143000" y="329184"/>
            <a:ext cx="864108" cy="274320"/>
          </a:xfrm>
          <a:prstGeom prst="roundRect">
            <a:avLst>
              <a:gd name="adj" fmla="val 50000"/>
            </a:avLst>
          </a:prstGeom>
          <a:solidFill>
            <a:srgbClr val="D5F0EE"/>
          </a:solidFill>
          <a:ln w="12700">
            <a:solidFill>
              <a:srgbClr val="D5F0EE"/>
            </a:solidFill>
            <a:prstDash val="solid"/>
          </a:ln>
        </p:spPr>
      </p:sp>
      <p:sp>
        <p:nvSpPr>
          <p:cNvPr id="10" name="Text 8"/>
          <p:cNvSpPr txBox="1"/>
          <p:nvPr/>
        </p:nvSpPr>
        <p:spPr>
          <a:xfrm>
            <a:off x="1143000" y="329184"/>
            <a:ext cx="864108" cy="274320"/>
          </a:xfrm>
          <a:prstGeom prst="rect">
            <a:avLst/>
          </a:prstGeom>
          <a:noFill/>
          <a:ln/>
        </p:spPr>
        <p:txBody>
          <a:bodyPr wrap="square" lIns="0" tIns="0" rIns="0" bIns="0" rtlCol="0" anchor="ctr"/>
          <a:lstStyle/>
          <a:p>
            <a:pPr algn="ctr" indent="0" marL="0">
              <a:buNone/>
            </a:pPr>
            <a:r>
              <a:rPr lang="en-US" sz="900" b="1" spc="150" kern="0" dirty="0">
                <a:solidFill>
                  <a:srgbClr val="1F7A73"/>
                </a:solidFill>
                <a:latin typeface="Arial" pitchFamily="34" charset="0"/>
                <a:ea typeface="Arial" pitchFamily="34" charset="-122"/>
                <a:cs typeface="Arial" pitchFamily="34" charset="-120"/>
              </a:rPr>
              <a:t>PROBADO</a:t>
            </a:r>
            <a:endParaRPr lang="en-US" sz="900" dirty="0"/>
          </a:p>
        </p:txBody>
      </p:sp>
      <p:sp>
        <p:nvSpPr>
          <p:cNvPr id="11" name="Text 9"/>
          <p:cNvSpPr txBox="1"/>
          <p:nvPr/>
        </p:nvSpPr>
        <p:spPr>
          <a:xfrm>
            <a:off x="594360" y="777240"/>
            <a:ext cx="11002975" cy="1005840"/>
          </a:xfrm>
          <a:prstGeom prst="rect">
            <a:avLst/>
          </a:prstGeom>
          <a:noFill/>
          <a:ln/>
        </p:spPr>
        <p:txBody>
          <a:bodyPr wrap="square" lIns="0" tIns="0" rIns="0" bIns="0" rtlCol="0" anchor="t"/>
          <a:lstStyle/>
          <a:p>
            <a:pPr indent="0" marL="0">
              <a:buNone/>
            </a:pPr>
            <a:r>
              <a:rPr lang="en-US" sz="2600" b="1" dirty="0">
                <a:solidFill>
                  <a:srgbClr val="0B132B"/>
                </a:solidFill>
                <a:latin typeface="Arial" pitchFamily="34" charset="0"/>
                <a:ea typeface="Arial" pitchFamily="34" charset="-122"/>
                <a:cs typeface="Arial" pitchFamily="34" charset="-120"/>
              </a:rPr>
              <a:t>La hipótesis central ya funciona. Ahora estamos probando generalidad y calidad.</a:t>
            </a:r>
            <a:endParaRPr lang="en-US" sz="2600" dirty="0"/>
          </a:p>
        </p:txBody>
      </p:sp>
      <p:sp>
        <p:nvSpPr>
          <p:cNvPr id="12" name="Text 10"/>
          <p:cNvSpPr txBox="1"/>
          <p:nvPr/>
        </p:nvSpPr>
        <p:spPr>
          <a:xfrm>
            <a:off x="594360" y="6473952"/>
            <a:ext cx="7315200" cy="182880"/>
          </a:xfrm>
          <a:prstGeom prst="rect">
            <a:avLst/>
          </a:prstGeom>
          <a:noFill/>
          <a:ln/>
        </p:spPr>
        <p:txBody>
          <a:bodyPr wrap="square" lIns="0" tIns="0" rIns="0" bIns="0" rtlCol="0" anchor="t"/>
          <a:lstStyle/>
          <a:p>
            <a:pPr indent="0" marL="0">
              <a:buNone/>
            </a:pPr>
            <a:r>
              <a:rPr lang="en-US" sz="850" dirty="0">
                <a:solidFill>
                  <a:srgbClr val="6B7385"/>
                </a:solidFill>
                <a:latin typeface="Arial" pitchFamily="34" charset="0"/>
                <a:ea typeface="Arial" pitchFamily="34" charset="-122"/>
                <a:cs typeface="Arial" pitchFamily="34" charset="-120"/>
              </a:rPr>
              <a:t>Zig-Zag · Business, Product &amp; Strategy Update · Septiembre 2026</a:t>
            </a:r>
            <a:endParaRPr lang="en-US" sz="850" dirty="0"/>
          </a:p>
        </p:txBody>
      </p:sp>
      <p:sp>
        <p:nvSpPr>
          <p:cNvPr id="13" name="Text 11"/>
          <p:cNvSpPr txBox="1"/>
          <p:nvPr/>
        </p:nvSpPr>
        <p:spPr>
          <a:xfrm>
            <a:off x="11048695" y="6473952"/>
            <a:ext cx="548640" cy="182880"/>
          </a:xfrm>
          <a:prstGeom prst="rect">
            <a:avLst/>
          </a:prstGeom>
          <a:noFill/>
          <a:ln/>
        </p:spPr>
        <p:txBody>
          <a:bodyPr wrap="square" lIns="0" tIns="0" rIns="0" bIns="0" rtlCol="0" anchor="t"/>
          <a:lstStyle/>
          <a:p>
            <a:pPr algn="r" indent="0" marL="0">
              <a:buNone/>
            </a:pPr>
            <a:r>
              <a:rPr lang="en-US" sz="850" dirty="0">
                <a:solidFill>
                  <a:srgbClr val="6B7385"/>
                </a:solidFill>
                <a:latin typeface="Arial" pitchFamily="34" charset="0"/>
                <a:ea typeface="Arial" pitchFamily="34" charset="-122"/>
                <a:cs typeface="Arial" pitchFamily="34" charset="-120"/>
              </a:rPr>
              <a:t>9</a:t>
            </a:r>
            <a:endParaRPr lang="en-US" sz="850" dirty="0"/>
          </a:p>
        </p:txBody>
      </p:sp>
      <p:sp>
        <p:nvSpPr>
          <p:cNvPr id="14" name="Shape 12"/>
          <p:cNvSpPr/>
          <p:nvPr/>
        </p:nvSpPr>
        <p:spPr>
          <a:xfrm>
            <a:off x="594360" y="1920240"/>
            <a:ext cx="5394960" cy="457200"/>
          </a:xfrm>
          <a:prstGeom prst="rect">
            <a:avLst/>
          </a:prstGeom>
          <a:solidFill>
            <a:srgbClr val="FFFFFF"/>
          </a:solidFill>
          <a:ln w="9525">
            <a:solidFill>
              <a:srgbClr val="D8D2C4"/>
            </a:solidFill>
            <a:prstDash val="solid"/>
          </a:ln>
        </p:spPr>
      </p:sp>
      <p:sp>
        <p:nvSpPr>
          <p:cNvPr id="15" name="Text 13"/>
          <p:cNvSpPr txBox="1"/>
          <p:nvPr/>
        </p:nvSpPr>
        <p:spPr>
          <a:xfrm>
            <a:off x="777240" y="1920240"/>
            <a:ext cx="3566160" cy="457200"/>
          </a:xfrm>
          <a:prstGeom prst="rect">
            <a:avLst/>
          </a:prstGeom>
          <a:noFill/>
          <a:ln/>
        </p:spPr>
        <p:txBody>
          <a:bodyPr wrap="square" lIns="0" tIns="0" rIns="0" bIns="0" rtlCol="0" anchor="ctr"/>
          <a:lstStyle/>
          <a:p>
            <a:pPr indent="0" marL="0">
              <a:buNone/>
            </a:pPr>
            <a:r>
              <a:rPr lang="en-US" sz="1350" dirty="0">
                <a:solidFill>
                  <a:srgbClr val="0B132B"/>
                </a:solidFill>
                <a:latin typeface="Arial" pitchFamily="34" charset="0"/>
                <a:ea typeface="Arial" pitchFamily="34" charset="-122"/>
                <a:cs typeface="Arial" pitchFamily="34" charset="-120"/>
              </a:rPr>
              <a:t>Entender qué quiere el viajero</a:t>
            </a:r>
            <a:endParaRPr lang="en-US" sz="1350" dirty="0"/>
          </a:p>
        </p:txBody>
      </p:sp>
      <p:sp>
        <p:nvSpPr>
          <p:cNvPr id="16" name="Shape 14"/>
          <p:cNvSpPr/>
          <p:nvPr/>
        </p:nvSpPr>
        <p:spPr>
          <a:xfrm>
            <a:off x="4526280" y="2020824"/>
            <a:ext cx="1325880" cy="256032"/>
          </a:xfrm>
          <a:prstGeom prst="roundRect">
            <a:avLst>
              <a:gd name="adj" fmla="val 50000"/>
            </a:avLst>
          </a:prstGeom>
          <a:solidFill>
            <a:srgbClr val="D5F0EE"/>
          </a:solidFill>
          <a:ln w="12700">
            <a:solidFill>
              <a:srgbClr val="D5F0EE"/>
            </a:solidFill>
            <a:prstDash val="solid"/>
          </a:ln>
        </p:spPr>
      </p:sp>
      <p:sp>
        <p:nvSpPr>
          <p:cNvPr id="17" name="Text 15"/>
          <p:cNvSpPr txBox="1"/>
          <p:nvPr/>
        </p:nvSpPr>
        <p:spPr>
          <a:xfrm>
            <a:off x="4526280" y="2020824"/>
            <a:ext cx="1325880" cy="256032"/>
          </a:xfrm>
          <a:prstGeom prst="rect">
            <a:avLst/>
          </a:prstGeom>
          <a:noFill/>
          <a:ln/>
        </p:spPr>
        <p:txBody>
          <a:bodyPr wrap="square" lIns="0" tIns="0" rIns="0" bIns="0" rtlCol="0" anchor="ctr"/>
          <a:lstStyle/>
          <a:p>
            <a:pPr algn="ctr" indent="0" marL="0">
              <a:buNone/>
            </a:pPr>
            <a:r>
              <a:rPr lang="en-US" sz="900" b="1" dirty="0">
                <a:solidFill>
                  <a:srgbClr val="1F7A73"/>
                </a:solidFill>
                <a:latin typeface="Arial" pitchFamily="34" charset="0"/>
                <a:ea typeface="Arial" pitchFamily="34" charset="-122"/>
                <a:cs typeface="Arial" pitchFamily="34" charset="-120"/>
              </a:rPr>
              <a:t>OPERATIVO</a:t>
            </a:r>
            <a:endParaRPr lang="en-US" sz="900" dirty="0"/>
          </a:p>
        </p:txBody>
      </p:sp>
      <p:sp>
        <p:nvSpPr>
          <p:cNvPr id="18" name="Shape 16"/>
          <p:cNvSpPr/>
          <p:nvPr/>
        </p:nvSpPr>
        <p:spPr>
          <a:xfrm>
            <a:off x="594360" y="2468880"/>
            <a:ext cx="5394960" cy="457200"/>
          </a:xfrm>
          <a:prstGeom prst="rect">
            <a:avLst/>
          </a:prstGeom>
          <a:solidFill>
            <a:srgbClr val="FFFFFF"/>
          </a:solidFill>
          <a:ln w="9525">
            <a:solidFill>
              <a:srgbClr val="D8D2C4"/>
            </a:solidFill>
            <a:prstDash val="solid"/>
          </a:ln>
        </p:spPr>
      </p:sp>
      <p:sp>
        <p:nvSpPr>
          <p:cNvPr id="19" name="Text 17"/>
          <p:cNvSpPr txBox="1"/>
          <p:nvPr/>
        </p:nvSpPr>
        <p:spPr>
          <a:xfrm>
            <a:off x="777240" y="2468880"/>
            <a:ext cx="3566160" cy="457200"/>
          </a:xfrm>
          <a:prstGeom prst="rect">
            <a:avLst/>
          </a:prstGeom>
          <a:noFill/>
          <a:ln/>
        </p:spPr>
        <p:txBody>
          <a:bodyPr wrap="square" lIns="0" tIns="0" rIns="0" bIns="0" rtlCol="0" anchor="ctr"/>
          <a:lstStyle/>
          <a:p>
            <a:pPr indent="0" marL="0">
              <a:buNone/>
            </a:pPr>
            <a:r>
              <a:rPr lang="en-US" sz="1350" dirty="0">
                <a:solidFill>
                  <a:srgbClr val="0B132B"/>
                </a:solidFill>
                <a:latin typeface="Arial" pitchFamily="34" charset="0"/>
                <a:ea typeface="Arial" pitchFamily="34" charset="-122"/>
                <a:cs typeface="Arial" pitchFamily="34" charset="-120"/>
              </a:rPr>
              <a:t>Entender el destino</a:t>
            </a:r>
            <a:endParaRPr lang="en-US" sz="1350" dirty="0"/>
          </a:p>
        </p:txBody>
      </p:sp>
      <p:sp>
        <p:nvSpPr>
          <p:cNvPr id="20" name="Shape 18"/>
          <p:cNvSpPr/>
          <p:nvPr/>
        </p:nvSpPr>
        <p:spPr>
          <a:xfrm>
            <a:off x="4526280" y="2569464"/>
            <a:ext cx="1325880" cy="256032"/>
          </a:xfrm>
          <a:prstGeom prst="roundRect">
            <a:avLst>
              <a:gd name="adj" fmla="val 50000"/>
            </a:avLst>
          </a:prstGeom>
          <a:solidFill>
            <a:srgbClr val="D5F0EE"/>
          </a:solidFill>
          <a:ln w="12700">
            <a:solidFill>
              <a:srgbClr val="D5F0EE"/>
            </a:solidFill>
            <a:prstDash val="solid"/>
          </a:ln>
        </p:spPr>
      </p:sp>
      <p:sp>
        <p:nvSpPr>
          <p:cNvPr id="21" name="Text 19"/>
          <p:cNvSpPr txBox="1"/>
          <p:nvPr/>
        </p:nvSpPr>
        <p:spPr>
          <a:xfrm>
            <a:off x="4526280" y="2569464"/>
            <a:ext cx="1325880" cy="256032"/>
          </a:xfrm>
          <a:prstGeom prst="rect">
            <a:avLst/>
          </a:prstGeom>
          <a:noFill/>
          <a:ln/>
        </p:spPr>
        <p:txBody>
          <a:bodyPr wrap="square" lIns="0" tIns="0" rIns="0" bIns="0" rtlCol="0" anchor="ctr"/>
          <a:lstStyle/>
          <a:p>
            <a:pPr algn="ctr" indent="0" marL="0">
              <a:buNone/>
            </a:pPr>
            <a:r>
              <a:rPr lang="en-US" sz="900" b="1" dirty="0">
                <a:solidFill>
                  <a:srgbClr val="1F7A73"/>
                </a:solidFill>
                <a:latin typeface="Arial" pitchFamily="34" charset="0"/>
                <a:ea typeface="Arial" pitchFamily="34" charset="-122"/>
                <a:cs typeface="Arial" pitchFamily="34" charset="-120"/>
              </a:rPr>
              <a:t>OPERATIVO</a:t>
            </a:r>
            <a:endParaRPr lang="en-US" sz="900" dirty="0"/>
          </a:p>
        </p:txBody>
      </p:sp>
      <p:sp>
        <p:nvSpPr>
          <p:cNvPr id="22" name="Shape 20"/>
          <p:cNvSpPr/>
          <p:nvPr/>
        </p:nvSpPr>
        <p:spPr>
          <a:xfrm>
            <a:off x="594360" y="3017520"/>
            <a:ext cx="5394960" cy="457200"/>
          </a:xfrm>
          <a:prstGeom prst="rect">
            <a:avLst/>
          </a:prstGeom>
          <a:solidFill>
            <a:srgbClr val="FFFFFF"/>
          </a:solidFill>
          <a:ln w="9525">
            <a:solidFill>
              <a:srgbClr val="D8D2C4"/>
            </a:solidFill>
            <a:prstDash val="solid"/>
          </a:ln>
        </p:spPr>
      </p:sp>
      <p:sp>
        <p:nvSpPr>
          <p:cNvPr id="23" name="Text 21"/>
          <p:cNvSpPr txBox="1"/>
          <p:nvPr/>
        </p:nvSpPr>
        <p:spPr>
          <a:xfrm>
            <a:off x="777240" y="3017520"/>
            <a:ext cx="3566160" cy="457200"/>
          </a:xfrm>
          <a:prstGeom prst="rect">
            <a:avLst/>
          </a:prstGeom>
          <a:noFill/>
          <a:ln/>
        </p:spPr>
        <p:txBody>
          <a:bodyPr wrap="square" lIns="0" tIns="0" rIns="0" bIns="0" rtlCol="0" anchor="ctr"/>
          <a:lstStyle/>
          <a:p>
            <a:pPr indent="0" marL="0">
              <a:buNone/>
            </a:pPr>
            <a:r>
              <a:rPr lang="en-US" sz="1350" dirty="0">
                <a:solidFill>
                  <a:srgbClr val="0B132B"/>
                </a:solidFill>
                <a:latin typeface="Arial" pitchFamily="34" charset="0"/>
                <a:ea typeface="Arial" pitchFamily="34" charset="-122"/>
                <a:cs typeface="Arial" pitchFamily="34" charset="-120"/>
              </a:rPr>
              <a:t>Ubicar lugares que el viajero nombra</a:t>
            </a:r>
            <a:endParaRPr lang="en-US" sz="1350" dirty="0"/>
          </a:p>
        </p:txBody>
      </p:sp>
      <p:sp>
        <p:nvSpPr>
          <p:cNvPr id="24" name="Shape 22"/>
          <p:cNvSpPr/>
          <p:nvPr/>
        </p:nvSpPr>
        <p:spPr>
          <a:xfrm>
            <a:off x="4526280" y="3118104"/>
            <a:ext cx="1325880" cy="256032"/>
          </a:xfrm>
          <a:prstGeom prst="roundRect">
            <a:avLst>
              <a:gd name="adj" fmla="val 50000"/>
            </a:avLst>
          </a:prstGeom>
          <a:solidFill>
            <a:srgbClr val="D5F0EE"/>
          </a:solidFill>
          <a:ln w="12700">
            <a:solidFill>
              <a:srgbClr val="D5F0EE"/>
            </a:solidFill>
            <a:prstDash val="solid"/>
          </a:ln>
        </p:spPr>
      </p:sp>
      <p:sp>
        <p:nvSpPr>
          <p:cNvPr id="25" name="Text 23"/>
          <p:cNvSpPr txBox="1"/>
          <p:nvPr/>
        </p:nvSpPr>
        <p:spPr>
          <a:xfrm>
            <a:off x="4526280" y="3118104"/>
            <a:ext cx="1325880" cy="256032"/>
          </a:xfrm>
          <a:prstGeom prst="rect">
            <a:avLst/>
          </a:prstGeom>
          <a:noFill/>
          <a:ln/>
        </p:spPr>
        <p:txBody>
          <a:bodyPr wrap="square" lIns="0" tIns="0" rIns="0" bIns="0" rtlCol="0" anchor="ctr"/>
          <a:lstStyle/>
          <a:p>
            <a:pPr algn="ctr" indent="0" marL="0">
              <a:buNone/>
            </a:pPr>
            <a:r>
              <a:rPr lang="en-US" sz="900" b="1" dirty="0">
                <a:solidFill>
                  <a:srgbClr val="1F7A73"/>
                </a:solidFill>
                <a:latin typeface="Arial" pitchFamily="34" charset="0"/>
                <a:ea typeface="Arial" pitchFamily="34" charset="-122"/>
                <a:cs typeface="Arial" pitchFamily="34" charset="-120"/>
              </a:rPr>
              <a:t>OPERATIVO</a:t>
            </a:r>
            <a:endParaRPr lang="en-US" sz="900" dirty="0"/>
          </a:p>
        </p:txBody>
      </p:sp>
      <p:sp>
        <p:nvSpPr>
          <p:cNvPr id="26" name="Shape 24"/>
          <p:cNvSpPr/>
          <p:nvPr/>
        </p:nvSpPr>
        <p:spPr>
          <a:xfrm>
            <a:off x="594360" y="3566160"/>
            <a:ext cx="5394960" cy="457200"/>
          </a:xfrm>
          <a:prstGeom prst="rect">
            <a:avLst/>
          </a:prstGeom>
          <a:solidFill>
            <a:srgbClr val="FFFFFF"/>
          </a:solidFill>
          <a:ln w="9525">
            <a:solidFill>
              <a:srgbClr val="D8D2C4"/>
            </a:solidFill>
            <a:prstDash val="solid"/>
          </a:ln>
        </p:spPr>
      </p:sp>
      <p:sp>
        <p:nvSpPr>
          <p:cNvPr id="27" name="Text 25"/>
          <p:cNvSpPr txBox="1"/>
          <p:nvPr/>
        </p:nvSpPr>
        <p:spPr>
          <a:xfrm>
            <a:off x="777240" y="3566160"/>
            <a:ext cx="3566160" cy="457200"/>
          </a:xfrm>
          <a:prstGeom prst="rect">
            <a:avLst/>
          </a:prstGeom>
          <a:noFill/>
          <a:ln/>
        </p:spPr>
        <p:txBody>
          <a:bodyPr wrap="square" lIns="0" tIns="0" rIns="0" bIns="0" rtlCol="0" anchor="ctr"/>
          <a:lstStyle/>
          <a:p>
            <a:pPr indent="0" marL="0">
              <a:buNone/>
            </a:pPr>
            <a:r>
              <a:rPr lang="en-US" sz="1350" dirty="0">
                <a:solidFill>
                  <a:srgbClr val="0B132B"/>
                </a:solidFill>
                <a:latin typeface="Arial" pitchFamily="34" charset="0"/>
                <a:ea typeface="Arial" pitchFamily="34" charset="-122"/>
                <a:cs typeface="Arial" pitchFamily="34" charset="-120"/>
              </a:rPr>
              <a:t>Investigar con fuentes reales</a:t>
            </a:r>
            <a:endParaRPr lang="en-US" sz="1350" dirty="0"/>
          </a:p>
        </p:txBody>
      </p:sp>
      <p:sp>
        <p:nvSpPr>
          <p:cNvPr id="28" name="Shape 26"/>
          <p:cNvSpPr/>
          <p:nvPr/>
        </p:nvSpPr>
        <p:spPr>
          <a:xfrm>
            <a:off x="4526280" y="3666744"/>
            <a:ext cx="1325880" cy="256032"/>
          </a:xfrm>
          <a:prstGeom prst="roundRect">
            <a:avLst>
              <a:gd name="adj" fmla="val 50000"/>
            </a:avLst>
          </a:prstGeom>
          <a:solidFill>
            <a:srgbClr val="D5F0EE"/>
          </a:solidFill>
          <a:ln w="12700">
            <a:solidFill>
              <a:srgbClr val="D5F0EE"/>
            </a:solidFill>
            <a:prstDash val="solid"/>
          </a:ln>
        </p:spPr>
      </p:sp>
      <p:sp>
        <p:nvSpPr>
          <p:cNvPr id="29" name="Text 27"/>
          <p:cNvSpPr txBox="1"/>
          <p:nvPr/>
        </p:nvSpPr>
        <p:spPr>
          <a:xfrm>
            <a:off x="4526280" y="3666744"/>
            <a:ext cx="1325880" cy="256032"/>
          </a:xfrm>
          <a:prstGeom prst="rect">
            <a:avLst/>
          </a:prstGeom>
          <a:noFill/>
          <a:ln/>
        </p:spPr>
        <p:txBody>
          <a:bodyPr wrap="square" lIns="0" tIns="0" rIns="0" bIns="0" rtlCol="0" anchor="ctr"/>
          <a:lstStyle/>
          <a:p>
            <a:pPr algn="ctr" indent="0" marL="0">
              <a:buNone/>
            </a:pPr>
            <a:r>
              <a:rPr lang="en-US" sz="900" b="1" dirty="0">
                <a:solidFill>
                  <a:srgbClr val="1F7A73"/>
                </a:solidFill>
                <a:latin typeface="Arial" pitchFamily="34" charset="0"/>
                <a:ea typeface="Arial" pitchFamily="34" charset="-122"/>
                <a:cs typeface="Arial" pitchFamily="34" charset="-120"/>
              </a:rPr>
              <a:t>OPERATIVO</a:t>
            </a:r>
            <a:endParaRPr lang="en-US" sz="900" dirty="0"/>
          </a:p>
        </p:txBody>
      </p:sp>
      <p:sp>
        <p:nvSpPr>
          <p:cNvPr id="30" name="Shape 28"/>
          <p:cNvSpPr/>
          <p:nvPr/>
        </p:nvSpPr>
        <p:spPr>
          <a:xfrm>
            <a:off x="594360" y="4114800"/>
            <a:ext cx="5394960" cy="457200"/>
          </a:xfrm>
          <a:prstGeom prst="rect">
            <a:avLst/>
          </a:prstGeom>
          <a:solidFill>
            <a:srgbClr val="FFFFFF"/>
          </a:solidFill>
          <a:ln w="9525">
            <a:solidFill>
              <a:srgbClr val="D8D2C4"/>
            </a:solidFill>
            <a:prstDash val="solid"/>
          </a:ln>
        </p:spPr>
      </p:sp>
      <p:sp>
        <p:nvSpPr>
          <p:cNvPr id="31" name="Text 29"/>
          <p:cNvSpPr txBox="1"/>
          <p:nvPr/>
        </p:nvSpPr>
        <p:spPr>
          <a:xfrm>
            <a:off x="777240" y="4114800"/>
            <a:ext cx="3566160" cy="457200"/>
          </a:xfrm>
          <a:prstGeom prst="rect">
            <a:avLst/>
          </a:prstGeom>
          <a:noFill/>
          <a:ln/>
        </p:spPr>
        <p:txBody>
          <a:bodyPr wrap="square" lIns="0" tIns="0" rIns="0" bIns="0" rtlCol="0" anchor="ctr"/>
          <a:lstStyle/>
          <a:p>
            <a:pPr indent="0" marL="0">
              <a:buNone/>
            </a:pPr>
            <a:r>
              <a:rPr lang="en-US" sz="1350" dirty="0">
                <a:solidFill>
                  <a:srgbClr val="0B132B"/>
                </a:solidFill>
                <a:latin typeface="Arial" pitchFamily="34" charset="0"/>
                <a:ea typeface="Arial" pitchFamily="34" charset="-122"/>
                <a:cs typeface="Arial" pitchFamily="34" charset="-120"/>
              </a:rPr>
              <a:t>Un modelo único de experiencia</a:t>
            </a:r>
            <a:endParaRPr lang="en-US" sz="1350" dirty="0"/>
          </a:p>
        </p:txBody>
      </p:sp>
      <p:sp>
        <p:nvSpPr>
          <p:cNvPr id="32" name="Shape 30"/>
          <p:cNvSpPr/>
          <p:nvPr/>
        </p:nvSpPr>
        <p:spPr>
          <a:xfrm>
            <a:off x="4526280" y="4215384"/>
            <a:ext cx="1325880" cy="256032"/>
          </a:xfrm>
          <a:prstGeom prst="roundRect">
            <a:avLst>
              <a:gd name="adj" fmla="val 50000"/>
            </a:avLst>
          </a:prstGeom>
          <a:solidFill>
            <a:srgbClr val="D5F0EE"/>
          </a:solidFill>
          <a:ln w="12700">
            <a:solidFill>
              <a:srgbClr val="D5F0EE"/>
            </a:solidFill>
            <a:prstDash val="solid"/>
          </a:ln>
        </p:spPr>
      </p:sp>
      <p:sp>
        <p:nvSpPr>
          <p:cNvPr id="33" name="Text 31"/>
          <p:cNvSpPr txBox="1"/>
          <p:nvPr/>
        </p:nvSpPr>
        <p:spPr>
          <a:xfrm>
            <a:off x="4526280" y="4215384"/>
            <a:ext cx="1325880" cy="256032"/>
          </a:xfrm>
          <a:prstGeom prst="rect">
            <a:avLst/>
          </a:prstGeom>
          <a:noFill/>
          <a:ln/>
        </p:spPr>
        <p:txBody>
          <a:bodyPr wrap="square" lIns="0" tIns="0" rIns="0" bIns="0" rtlCol="0" anchor="ctr"/>
          <a:lstStyle/>
          <a:p>
            <a:pPr algn="ctr" indent="0" marL="0">
              <a:buNone/>
            </a:pPr>
            <a:r>
              <a:rPr lang="en-US" sz="900" b="1" dirty="0">
                <a:solidFill>
                  <a:srgbClr val="1F7A73"/>
                </a:solidFill>
                <a:latin typeface="Arial" pitchFamily="34" charset="0"/>
                <a:ea typeface="Arial" pitchFamily="34" charset="-122"/>
                <a:cs typeface="Arial" pitchFamily="34" charset="-120"/>
              </a:rPr>
              <a:t>OPERATIVO</a:t>
            </a:r>
            <a:endParaRPr lang="en-US" sz="900" dirty="0"/>
          </a:p>
        </p:txBody>
      </p:sp>
      <p:sp>
        <p:nvSpPr>
          <p:cNvPr id="34" name="Shape 32"/>
          <p:cNvSpPr/>
          <p:nvPr/>
        </p:nvSpPr>
        <p:spPr>
          <a:xfrm>
            <a:off x="594360" y="4663440"/>
            <a:ext cx="5394960" cy="457200"/>
          </a:xfrm>
          <a:prstGeom prst="rect">
            <a:avLst/>
          </a:prstGeom>
          <a:solidFill>
            <a:srgbClr val="FFFFFF"/>
          </a:solidFill>
          <a:ln w="9525">
            <a:solidFill>
              <a:srgbClr val="D8D2C4"/>
            </a:solidFill>
            <a:prstDash val="solid"/>
          </a:ln>
        </p:spPr>
      </p:sp>
      <p:sp>
        <p:nvSpPr>
          <p:cNvPr id="35" name="Text 33"/>
          <p:cNvSpPr txBox="1"/>
          <p:nvPr/>
        </p:nvSpPr>
        <p:spPr>
          <a:xfrm>
            <a:off x="777240" y="4663440"/>
            <a:ext cx="3566160" cy="457200"/>
          </a:xfrm>
          <a:prstGeom prst="rect">
            <a:avLst/>
          </a:prstGeom>
          <a:noFill/>
          <a:ln/>
        </p:spPr>
        <p:txBody>
          <a:bodyPr wrap="square" lIns="0" tIns="0" rIns="0" bIns="0" rtlCol="0" anchor="ctr"/>
          <a:lstStyle/>
          <a:p>
            <a:pPr indent="0" marL="0">
              <a:buNone/>
            </a:pPr>
            <a:r>
              <a:rPr lang="en-US" sz="1350" dirty="0">
                <a:solidFill>
                  <a:srgbClr val="0B132B"/>
                </a:solidFill>
                <a:latin typeface="Arial" pitchFamily="34" charset="0"/>
                <a:ea typeface="Arial" pitchFamily="34" charset="-122"/>
                <a:cs typeface="Arial" pitchFamily="34" charset="-120"/>
              </a:rPr>
              <a:t>Identificar cada lugar sin duplicados</a:t>
            </a:r>
            <a:endParaRPr lang="en-US" sz="1350" dirty="0"/>
          </a:p>
        </p:txBody>
      </p:sp>
      <p:sp>
        <p:nvSpPr>
          <p:cNvPr id="36" name="Shape 34"/>
          <p:cNvSpPr/>
          <p:nvPr/>
        </p:nvSpPr>
        <p:spPr>
          <a:xfrm>
            <a:off x="4526280" y="4764024"/>
            <a:ext cx="1325880" cy="256032"/>
          </a:xfrm>
          <a:prstGeom prst="roundRect">
            <a:avLst>
              <a:gd name="adj" fmla="val 50000"/>
            </a:avLst>
          </a:prstGeom>
          <a:solidFill>
            <a:srgbClr val="D5F0EE"/>
          </a:solidFill>
          <a:ln w="12700">
            <a:solidFill>
              <a:srgbClr val="D5F0EE"/>
            </a:solidFill>
            <a:prstDash val="solid"/>
          </a:ln>
        </p:spPr>
      </p:sp>
      <p:sp>
        <p:nvSpPr>
          <p:cNvPr id="37" name="Text 35"/>
          <p:cNvSpPr txBox="1"/>
          <p:nvPr/>
        </p:nvSpPr>
        <p:spPr>
          <a:xfrm>
            <a:off x="4526280" y="4764024"/>
            <a:ext cx="1325880" cy="256032"/>
          </a:xfrm>
          <a:prstGeom prst="rect">
            <a:avLst/>
          </a:prstGeom>
          <a:noFill/>
          <a:ln/>
        </p:spPr>
        <p:txBody>
          <a:bodyPr wrap="square" lIns="0" tIns="0" rIns="0" bIns="0" rtlCol="0" anchor="ctr"/>
          <a:lstStyle/>
          <a:p>
            <a:pPr algn="ctr" indent="0" marL="0">
              <a:buNone/>
            </a:pPr>
            <a:r>
              <a:rPr lang="en-US" sz="900" b="1" dirty="0">
                <a:solidFill>
                  <a:srgbClr val="1F7A73"/>
                </a:solidFill>
                <a:latin typeface="Arial" pitchFamily="34" charset="0"/>
                <a:ea typeface="Arial" pitchFamily="34" charset="-122"/>
                <a:cs typeface="Arial" pitchFamily="34" charset="-120"/>
              </a:rPr>
              <a:t>OPERATIVO</a:t>
            </a:r>
            <a:endParaRPr lang="en-US" sz="900" dirty="0"/>
          </a:p>
        </p:txBody>
      </p:sp>
      <p:sp>
        <p:nvSpPr>
          <p:cNvPr id="38" name="Shape 36"/>
          <p:cNvSpPr/>
          <p:nvPr/>
        </p:nvSpPr>
        <p:spPr>
          <a:xfrm>
            <a:off x="594360" y="5212080"/>
            <a:ext cx="5394960" cy="457200"/>
          </a:xfrm>
          <a:prstGeom prst="rect">
            <a:avLst/>
          </a:prstGeom>
          <a:solidFill>
            <a:srgbClr val="FFFFFF"/>
          </a:solidFill>
          <a:ln w="9525">
            <a:solidFill>
              <a:srgbClr val="D8D2C4"/>
            </a:solidFill>
            <a:prstDash val="solid"/>
          </a:ln>
        </p:spPr>
      </p:sp>
      <p:sp>
        <p:nvSpPr>
          <p:cNvPr id="39" name="Text 37"/>
          <p:cNvSpPr txBox="1"/>
          <p:nvPr/>
        </p:nvSpPr>
        <p:spPr>
          <a:xfrm>
            <a:off x="777240" y="5212080"/>
            <a:ext cx="3566160" cy="457200"/>
          </a:xfrm>
          <a:prstGeom prst="rect">
            <a:avLst/>
          </a:prstGeom>
          <a:noFill/>
          <a:ln/>
        </p:spPr>
        <p:txBody>
          <a:bodyPr wrap="square" lIns="0" tIns="0" rIns="0" bIns="0" rtlCol="0" anchor="ctr"/>
          <a:lstStyle/>
          <a:p>
            <a:pPr indent="0" marL="0">
              <a:buNone/>
            </a:pPr>
            <a:r>
              <a:rPr lang="en-US" sz="1350" dirty="0">
                <a:solidFill>
                  <a:srgbClr val="0B132B"/>
                </a:solidFill>
                <a:latin typeface="Arial" pitchFamily="34" charset="0"/>
                <a:ea typeface="Arial" pitchFamily="34" charset="-122"/>
                <a:cs typeface="Arial" pitchFamily="34" charset="-120"/>
              </a:rPr>
              <a:t>Validación geográfica</a:t>
            </a:r>
            <a:endParaRPr lang="en-US" sz="1350" dirty="0"/>
          </a:p>
        </p:txBody>
      </p:sp>
      <p:sp>
        <p:nvSpPr>
          <p:cNvPr id="40" name="Shape 38"/>
          <p:cNvSpPr/>
          <p:nvPr/>
        </p:nvSpPr>
        <p:spPr>
          <a:xfrm>
            <a:off x="4526280" y="5312664"/>
            <a:ext cx="1325880" cy="256032"/>
          </a:xfrm>
          <a:prstGeom prst="roundRect">
            <a:avLst>
              <a:gd name="adj" fmla="val 50000"/>
            </a:avLst>
          </a:prstGeom>
          <a:solidFill>
            <a:srgbClr val="D5F0EE"/>
          </a:solidFill>
          <a:ln w="12700">
            <a:solidFill>
              <a:srgbClr val="D5F0EE"/>
            </a:solidFill>
            <a:prstDash val="solid"/>
          </a:ln>
        </p:spPr>
      </p:sp>
      <p:sp>
        <p:nvSpPr>
          <p:cNvPr id="41" name="Text 39"/>
          <p:cNvSpPr txBox="1"/>
          <p:nvPr/>
        </p:nvSpPr>
        <p:spPr>
          <a:xfrm>
            <a:off x="4526280" y="5312664"/>
            <a:ext cx="1325880" cy="256032"/>
          </a:xfrm>
          <a:prstGeom prst="rect">
            <a:avLst/>
          </a:prstGeom>
          <a:noFill/>
          <a:ln/>
        </p:spPr>
        <p:txBody>
          <a:bodyPr wrap="square" lIns="0" tIns="0" rIns="0" bIns="0" rtlCol="0" anchor="ctr"/>
          <a:lstStyle/>
          <a:p>
            <a:pPr algn="ctr" indent="0" marL="0">
              <a:buNone/>
            </a:pPr>
            <a:r>
              <a:rPr lang="en-US" sz="900" b="1" dirty="0">
                <a:solidFill>
                  <a:srgbClr val="1F7A73"/>
                </a:solidFill>
                <a:latin typeface="Arial" pitchFamily="34" charset="0"/>
                <a:ea typeface="Arial" pitchFamily="34" charset="-122"/>
                <a:cs typeface="Arial" pitchFamily="34" charset="-120"/>
              </a:rPr>
              <a:t>OPERATIVO</a:t>
            </a:r>
            <a:endParaRPr lang="en-US" sz="900" dirty="0"/>
          </a:p>
        </p:txBody>
      </p:sp>
      <p:sp>
        <p:nvSpPr>
          <p:cNvPr id="42" name="Shape 40"/>
          <p:cNvSpPr/>
          <p:nvPr/>
        </p:nvSpPr>
        <p:spPr>
          <a:xfrm>
            <a:off x="6199632" y="1920240"/>
            <a:ext cx="5394960" cy="457200"/>
          </a:xfrm>
          <a:prstGeom prst="rect">
            <a:avLst/>
          </a:prstGeom>
          <a:solidFill>
            <a:srgbClr val="FFFFFF"/>
          </a:solidFill>
          <a:ln w="9525">
            <a:solidFill>
              <a:srgbClr val="D8D2C4"/>
            </a:solidFill>
            <a:prstDash val="solid"/>
          </a:ln>
        </p:spPr>
      </p:sp>
      <p:sp>
        <p:nvSpPr>
          <p:cNvPr id="43" name="Text 41"/>
          <p:cNvSpPr txBox="1"/>
          <p:nvPr/>
        </p:nvSpPr>
        <p:spPr>
          <a:xfrm>
            <a:off x="6382512" y="1920240"/>
            <a:ext cx="3566160" cy="457200"/>
          </a:xfrm>
          <a:prstGeom prst="rect">
            <a:avLst/>
          </a:prstGeom>
          <a:noFill/>
          <a:ln/>
        </p:spPr>
        <p:txBody>
          <a:bodyPr wrap="square" lIns="0" tIns="0" rIns="0" bIns="0" rtlCol="0" anchor="ctr"/>
          <a:lstStyle/>
          <a:p>
            <a:pPr indent="0" marL="0">
              <a:buNone/>
            </a:pPr>
            <a:r>
              <a:rPr lang="en-US" sz="1350" dirty="0">
                <a:solidFill>
                  <a:srgbClr val="0B132B"/>
                </a:solidFill>
                <a:latin typeface="Arial" pitchFamily="34" charset="0"/>
                <a:ea typeface="Arial" pitchFamily="34" charset="-122"/>
                <a:cs typeface="Arial" pitchFamily="34" charset="-120"/>
              </a:rPr>
              <a:t>Elegir según preferencias</a:t>
            </a:r>
            <a:endParaRPr lang="en-US" sz="1350" dirty="0"/>
          </a:p>
        </p:txBody>
      </p:sp>
      <p:sp>
        <p:nvSpPr>
          <p:cNvPr id="44" name="Shape 42"/>
          <p:cNvSpPr/>
          <p:nvPr/>
        </p:nvSpPr>
        <p:spPr>
          <a:xfrm>
            <a:off x="10131552" y="2020824"/>
            <a:ext cx="1325880" cy="256032"/>
          </a:xfrm>
          <a:prstGeom prst="roundRect">
            <a:avLst>
              <a:gd name="adj" fmla="val 50000"/>
            </a:avLst>
          </a:prstGeom>
          <a:solidFill>
            <a:srgbClr val="D5F0EE"/>
          </a:solidFill>
          <a:ln w="12700">
            <a:solidFill>
              <a:srgbClr val="D5F0EE"/>
            </a:solidFill>
            <a:prstDash val="solid"/>
          </a:ln>
        </p:spPr>
      </p:sp>
      <p:sp>
        <p:nvSpPr>
          <p:cNvPr id="45" name="Text 43"/>
          <p:cNvSpPr txBox="1"/>
          <p:nvPr/>
        </p:nvSpPr>
        <p:spPr>
          <a:xfrm>
            <a:off x="10131552" y="2020824"/>
            <a:ext cx="1325880" cy="256032"/>
          </a:xfrm>
          <a:prstGeom prst="rect">
            <a:avLst/>
          </a:prstGeom>
          <a:noFill/>
          <a:ln/>
        </p:spPr>
        <p:txBody>
          <a:bodyPr wrap="square" lIns="0" tIns="0" rIns="0" bIns="0" rtlCol="0" anchor="ctr"/>
          <a:lstStyle/>
          <a:p>
            <a:pPr algn="ctr" indent="0" marL="0">
              <a:buNone/>
            </a:pPr>
            <a:r>
              <a:rPr lang="en-US" sz="900" b="1" dirty="0">
                <a:solidFill>
                  <a:srgbClr val="1F7A73"/>
                </a:solidFill>
                <a:latin typeface="Arial" pitchFamily="34" charset="0"/>
                <a:ea typeface="Arial" pitchFamily="34" charset="-122"/>
                <a:cs typeface="Arial" pitchFamily="34" charset="-120"/>
              </a:rPr>
              <a:t>OPERATIVO</a:t>
            </a:r>
            <a:endParaRPr lang="en-US" sz="900" dirty="0"/>
          </a:p>
        </p:txBody>
      </p:sp>
      <p:sp>
        <p:nvSpPr>
          <p:cNvPr id="46" name="Shape 44"/>
          <p:cNvSpPr/>
          <p:nvPr/>
        </p:nvSpPr>
        <p:spPr>
          <a:xfrm>
            <a:off x="6199632" y="2468880"/>
            <a:ext cx="5394960" cy="457200"/>
          </a:xfrm>
          <a:prstGeom prst="rect">
            <a:avLst/>
          </a:prstGeom>
          <a:solidFill>
            <a:srgbClr val="FFFFFF"/>
          </a:solidFill>
          <a:ln w="9525">
            <a:solidFill>
              <a:srgbClr val="D8D2C4"/>
            </a:solidFill>
            <a:prstDash val="solid"/>
          </a:ln>
        </p:spPr>
      </p:sp>
      <p:sp>
        <p:nvSpPr>
          <p:cNvPr id="47" name="Text 45"/>
          <p:cNvSpPr txBox="1"/>
          <p:nvPr/>
        </p:nvSpPr>
        <p:spPr>
          <a:xfrm>
            <a:off x="6382512" y="2468880"/>
            <a:ext cx="3566160" cy="457200"/>
          </a:xfrm>
          <a:prstGeom prst="rect">
            <a:avLst/>
          </a:prstGeom>
          <a:noFill/>
          <a:ln/>
        </p:spPr>
        <p:txBody>
          <a:bodyPr wrap="square" lIns="0" tIns="0" rIns="0" bIns="0" rtlCol="0" anchor="ctr"/>
          <a:lstStyle/>
          <a:p>
            <a:pPr indent="0" marL="0">
              <a:buNone/>
            </a:pPr>
            <a:r>
              <a:rPr lang="en-US" sz="1350" dirty="0">
                <a:solidFill>
                  <a:srgbClr val="0B132B"/>
                </a:solidFill>
                <a:latin typeface="Arial" pitchFamily="34" charset="0"/>
                <a:ea typeface="Arial" pitchFamily="34" charset="-122"/>
                <a:cs typeface="Arial" pitchFamily="34" charset="-120"/>
              </a:rPr>
              <a:t>Armar cada día con reglas verificables</a:t>
            </a:r>
            <a:endParaRPr lang="en-US" sz="1350" dirty="0"/>
          </a:p>
        </p:txBody>
      </p:sp>
      <p:sp>
        <p:nvSpPr>
          <p:cNvPr id="48" name="Shape 46"/>
          <p:cNvSpPr/>
          <p:nvPr/>
        </p:nvSpPr>
        <p:spPr>
          <a:xfrm>
            <a:off x="10131552" y="2569464"/>
            <a:ext cx="1325880" cy="256032"/>
          </a:xfrm>
          <a:prstGeom prst="roundRect">
            <a:avLst>
              <a:gd name="adj" fmla="val 50000"/>
            </a:avLst>
          </a:prstGeom>
          <a:solidFill>
            <a:srgbClr val="D5F0EE"/>
          </a:solidFill>
          <a:ln w="12700">
            <a:solidFill>
              <a:srgbClr val="D5F0EE"/>
            </a:solidFill>
            <a:prstDash val="solid"/>
          </a:ln>
        </p:spPr>
      </p:sp>
      <p:sp>
        <p:nvSpPr>
          <p:cNvPr id="49" name="Text 47"/>
          <p:cNvSpPr txBox="1"/>
          <p:nvPr/>
        </p:nvSpPr>
        <p:spPr>
          <a:xfrm>
            <a:off x="10131552" y="2569464"/>
            <a:ext cx="1325880" cy="256032"/>
          </a:xfrm>
          <a:prstGeom prst="rect">
            <a:avLst/>
          </a:prstGeom>
          <a:noFill/>
          <a:ln/>
        </p:spPr>
        <p:txBody>
          <a:bodyPr wrap="square" lIns="0" tIns="0" rIns="0" bIns="0" rtlCol="0" anchor="ctr"/>
          <a:lstStyle/>
          <a:p>
            <a:pPr algn="ctr" indent="0" marL="0">
              <a:buNone/>
            </a:pPr>
            <a:r>
              <a:rPr lang="en-US" sz="900" b="1" dirty="0">
                <a:solidFill>
                  <a:srgbClr val="1F7A73"/>
                </a:solidFill>
                <a:latin typeface="Arial" pitchFamily="34" charset="0"/>
                <a:ea typeface="Arial" pitchFamily="34" charset="-122"/>
                <a:cs typeface="Arial" pitchFamily="34" charset="-120"/>
              </a:rPr>
              <a:t>OPERATIVO</a:t>
            </a:r>
            <a:endParaRPr lang="en-US" sz="900" dirty="0"/>
          </a:p>
        </p:txBody>
      </p:sp>
      <p:sp>
        <p:nvSpPr>
          <p:cNvPr id="50" name="Shape 48"/>
          <p:cNvSpPr/>
          <p:nvPr/>
        </p:nvSpPr>
        <p:spPr>
          <a:xfrm>
            <a:off x="6199632" y="3017520"/>
            <a:ext cx="5394960" cy="457200"/>
          </a:xfrm>
          <a:prstGeom prst="rect">
            <a:avLst/>
          </a:prstGeom>
          <a:solidFill>
            <a:srgbClr val="FFFFFF"/>
          </a:solidFill>
          <a:ln w="9525">
            <a:solidFill>
              <a:srgbClr val="D8D2C4"/>
            </a:solidFill>
            <a:prstDash val="solid"/>
          </a:ln>
        </p:spPr>
      </p:sp>
      <p:sp>
        <p:nvSpPr>
          <p:cNvPr id="51" name="Text 49"/>
          <p:cNvSpPr txBox="1"/>
          <p:nvPr/>
        </p:nvSpPr>
        <p:spPr>
          <a:xfrm>
            <a:off x="6382512" y="3017520"/>
            <a:ext cx="3566160" cy="457200"/>
          </a:xfrm>
          <a:prstGeom prst="rect">
            <a:avLst/>
          </a:prstGeom>
          <a:noFill/>
          <a:ln/>
        </p:spPr>
        <p:txBody>
          <a:bodyPr wrap="square" lIns="0" tIns="0" rIns="0" bIns="0" rtlCol="0" anchor="ctr"/>
          <a:lstStyle/>
          <a:p>
            <a:pPr indent="0" marL="0">
              <a:buNone/>
            </a:pPr>
            <a:r>
              <a:rPr lang="en-US" sz="1350" dirty="0">
                <a:solidFill>
                  <a:srgbClr val="0B132B"/>
                </a:solidFill>
                <a:latin typeface="Arial" pitchFamily="34" charset="0"/>
                <a:ea typeface="Arial" pitchFamily="34" charset="-122"/>
                <a:cs typeface="Arial" pitchFamily="34" charset="-120"/>
              </a:rPr>
              <a:t>Catálogo reutilizable</a:t>
            </a:r>
            <a:endParaRPr lang="en-US" sz="1350" dirty="0"/>
          </a:p>
        </p:txBody>
      </p:sp>
      <p:sp>
        <p:nvSpPr>
          <p:cNvPr id="52" name="Shape 50"/>
          <p:cNvSpPr/>
          <p:nvPr/>
        </p:nvSpPr>
        <p:spPr>
          <a:xfrm>
            <a:off x="10131552" y="3118104"/>
            <a:ext cx="1325880" cy="256032"/>
          </a:xfrm>
          <a:prstGeom prst="roundRect">
            <a:avLst>
              <a:gd name="adj" fmla="val 50000"/>
            </a:avLst>
          </a:prstGeom>
          <a:solidFill>
            <a:srgbClr val="D5F0EE"/>
          </a:solidFill>
          <a:ln w="12700">
            <a:solidFill>
              <a:srgbClr val="D5F0EE"/>
            </a:solidFill>
            <a:prstDash val="solid"/>
          </a:ln>
        </p:spPr>
      </p:sp>
      <p:sp>
        <p:nvSpPr>
          <p:cNvPr id="53" name="Text 51"/>
          <p:cNvSpPr txBox="1"/>
          <p:nvPr/>
        </p:nvSpPr>
        <p:spPr>
          <a:xfrm>
            <a:off x="10131552" y="3118104"/>
            <a:ext cx="1325880" cy="256032"/>
          </a:xfrm>
          <a:prstGeom prst="rect">
            <a:avLst/>
          </a:prstGeom>
          <a:noFill/>
          <a:ln/>
        </p:spPr>
        <p:txBody>
          <a:bodyPr wrap="square" lIns="0" tIns="0" rIns="0" bIns="0" rtlCol="0" anchor="ctr"/>
          <a:lstStyle/>
          <a:p>
            <a:pPr algn="ctr" indent="0" marL="0">
              <a:buNone/>
            </a:pPr>
            <a:r>
              <a:rPr lang="en-US" sz="900" b="1" dirty="0">
                <a:solidFill>
                  <a:srgbClr val="1F7A73"/>
                </a:solidFill>
                <a:latin typeface="Arial" pitchFamily="34" charset="0"/>
                <a:ea typeface="Arial" pitchFamily="34" charset="-122"/>
                <a:cs typeface="Arial" pitchFamily="34" charset="-120"/>
              </a:rPr>
              <a:t>OPERATIVO</a:t>
            </a:r>
            <a:endParaRPr lang="en-US" sz="900" dirty="0"/>
          </a:p>
        </p:txBody>
      </p:sp>
      <p:sp>
        <p:nvSpPr>
          <p:cNvPr id="54" name="Shape 52"/>
          <p:cNvSpPr/>
          <p:nvPr/>
        </p:nvSpPr>
        <p:spPr>
          <a:xfrm>
            <a:off x="6199632" y="3566160"/>
            <a:ext cx="5394960" cy="457200"/>
          </a:xfrm>
          <a:prstGeom prst="rect">
            <a:avLst/>
          </a:prstGeom>
          <a:solidFill>
            <a:srgbClr val="FFFFFF"/>
          </a:solidFill>
          <a:ln w="9525">
            <a:solidFill>
              <a:srgbClr val="D8D2C4"/>
            </a:solidFill>
            <a:prstDash val="solid"/>
          </a:ln>
        </p:spPr>
      </p:sp>
      <p:sp>
        <p:nvSpPr>
          <p:cNvPr id="55" name="Text 53"/>
          <p:cNvSpPr txBox="1"/>
          <p:nvPr/>
        </p:nvSpPr>
        <p:spPr>
          <a:xfrm>
            <a:off x="6382512" y="3566160"/>
            <a:ext cx="3566160" cy="457200"/>
          </a:xfrm>
          <a:prstGeom prst="rect">
            <a:avLst/>
          </a:prstGeom>
          <a:noFill/>
          <a:ln/>
        </p:spPr>
        <p:txBody>
          <a:bodyPr wrap="square" lIns="0" tIns="0" rIns="0" bIns="0" rtlCol="0" anchor="ctr"/>
          <a:lstStyle/>
          <a:p>
            <a:pPr indent="0" marL="0">
              <a:buNone/>
            </a:pPr>
            <a:r>
              <a:rPr lang="en-US" sz="1350" b="1" dirty="0">
                <a:solidFill>
                  <a:srgbClr val="0B132B"/>
                </a:solidFill>
                <a:latin typeface="Arial" pitchFamily="34" charset="0"/>
                <a:ea typeface="Arial" pitchFamily="34" charset="-122"/>
                <a:cs typeface="Arial" pitchFamily="34" charset="-120"/>
              </a:rPr>
              <a:t>Registro de decisiones</a:t>
            </a:r>
            <a:endParaRPr lang="en-US" sz="1350" dirty="0"/>
          </a:p>
        </p:txBody>
      </p:sp>
      <p:sp>
        <p:nvSpPr>
          <p:cNvPr id="56" name="Shape 54"/>
          <p:cNvSpPr/>
          <p:nvPr/>
        </p:nvSpPr>
        <p:spPr>
          <a:xfrm>
            <a:off x="10131552" y="3666744"/>
            <a:ext cx="1325880" cy="256032"/>
          </a:xfrm>
          <a:prstGeom prst="roundRect">
            <a:avLst>
              <a:gd name="adj" fmla="val 50000"/>
            </a:avLst>
          </a:prstGeom>
          <a:solidFill>
            <a:srgbClr val="D5F0EE"/>
          </a:solidFill>
          <a:ln w="12700">
            <a:solidFill>
              <a:srgbClr val="D5F0EE"/>
            </a:solidFill>
            <a:prstDash val="solid"/>
          </a:ln>
        </p:spPr>
      </p:sp>
      <p:sp>
        <p:nvSpPr>
          <p:cNvPr id="57" name="Text 55"/>
          <p:cNvSpPr txBox="1"/>
          <p:nvPr/>
        </p:nvSpPr>
        <p:spPr>
          <a:xfrm>
            <a:off x="10131552" y="3666744"/>
            <a:ext cx="1325880" cy="256032"/>
          </a:xfrm>
          <a:prstGeom prst="rect">
            <a:avLst/>
          </a:prstGeom>
          <a:noFill/>
          <a:ln/>
        </p:spPr>
        <p:txBody>
          <a:bodyPr wrap="square" lIns="0" tIns="0" rIns="0" bIns="0" rtlCol="0" anchor="ctr"/>
          <a:lstStyle/>
          <a:p>
            <a:pPr algn="ctr" indent="0" marL="0">
              <a:buNone/>
            </a:pPr>
            <a:r>
              <a:rPr lang="en-US" sz="900" b="1" dirty="0">
                <a:solidFill>
                  <a:srgbClr val="1F7A73"/>
                </a:solidFill>
                <a:latin typeface="Arial" pitchFamily="34" charset="0"/>
                <a:ea typeface="Arial" pitchFamily="34" charset="-122"/>
                <a:cs typeface="Arial" pitchFamily="34" charset="-120"/>
              </a:rPr>
              <a:t>MADURANDO</a:t>
            </a:r>
            <a:endParaRPr lang="en-US" sz="900" dirty="0"/>
          </a:p>
        </p:txBody>
      </p:sp>
      <p:sp>
        <p:nvSpPr>
          <p:cNvPr id="58" name="Shape 56"/>
          <p:cNvSpPr/>
          <p:nvPr/>
        </p:nvSpPr>
        <p:spPr>
          <a:xfrm>
            <a:off x="6199632" y="4114800"/>
            <a:ext cx="5394960" cy="457200"/>
          </a:xfrm>
          <a:prstGeom prst="rect">
            <a:avLst/>
          </a:prstGeom>
          <a:solidFill>
            <a:srgbClr val="ECE6D8"/>
          </a:solidFill>
          <a:ln w="9525">
            <a:solidFill>
              <a:srgbClr val="D8D2C4"/>
            </a:solidFill>
            <a:prstDash val="solid"/>
          </a:ln>
        </p:spPr>
      </p:sp>
      <p:sp>
        <p:nvSpPr>
          <p:cNvPr id="59" name="Text 57"/>
          <p:cNvSpPr txBox="1"/>
          <p:nvPr/>
        </p:nvSpPr>
        <p:spPr>
          <a:xfrm>
            <a:off x="6382512" y="4114800"/>
            <a:ext cx="3566160" cy="457200"/>
          </a:xfrm>
          <a:prstGeom prst="rect">
            <a:avLst/>
          </a:prstGeom>
          <a:noFill/>
          <a:ln/>
        </p:spPr>
        <p:txBody>
          <a:bodyPr wrap="square" lIns="0" tIns="0" rIns="0" bIns="0" rtlCol="0" anchor="ctr"/>
          <a:lstStyle/>
          <a:p>
            <a:pPr indent="0" marL="0">
              <a:buNone/>
            </a:pPr>
            <a:r>
              <a:rPr lang="en-US" sz="1350" b="1" dirty="0">
                <a:solidFill>
                  <a:srgbClr val="0B132B"/>
                </a:solidFill>
                <a:latin typeface="Arial" pitchFamily="34" charset="0"/>
                <a:ea typeface="Arial" pitchFamily="34" charset="-122"/>
                <a:cs typeface="Arial" pitchFamily="34" charset="-120"/>
              </a:rPr>
              <a:t>Generalización entre casos</a:t>
            </a:r>
            <a:endParaRPr lang="en-US" sz="1350" dirty="0"/>
          </a:p>
        </p:txBody>
      </p:sp>
      <p:sp>
        <p:nvSpPr>
          <p:cNvPr id="60" name="Shape 58"/>
          <p:cNvSpPr/>
          <p:nvPr/>
        </p:nvSpPr>
        <p:spPr>
          <a:xfrm>
            <a:off x="10131552" y="4215384"/>
            <a:ext cx="1325880" cy="256032"/>
          </a:xfrm>
          <a:prstGeom prst="roundRect">
            <a:avLst>
              <a:gd name="adj" fmla="val 50000"/>
            </a:avLst>
          </a:prstGeom>
          <a:solidFill>
            <a:srgbClr val="F5E6C4"/>
          </a:solidFill>
          <a:ln w="12700">
            <a:solidFill>
              <a:srgbClr val="F5E6C4"/>
            </a:solidFill>
            <a:prstDash val="solid"/>
          </a:ln>
        </p:spPr>
      </p:sp>
      <p:sp>
        <p:nvSpPr>
          <p:cNvPr id="61" name="Text 59"/>
          <p:cNvSpPr txBox="1"/>
          <p:nvPr/>
        </p:nvSpPr>
        <p:spPr>
          <a:xfrm>
            <a:off x="10131552" y="4215384"/>
            <a:ext cx="1325880" cy="256032"/>
          </a:xfrm>
          <a:prstGeom prst="rect">
            <a:avLst/>
          </a:prstGeom>
          <a:noFill/>
          <a:ln/>
        </p:spPr>
        <p:txBody>
          <a:bodyPr wrap="square" lIns="0" tIns="0" rIns="0" bIns="0" rtlCol="0" anchor="ctr"/>
          <a:lstStyle/>
          <a:p>
            <a:pPr algn="ctr" indent="0" marL="0">
              <a:buNone/>
            </a:pPr>
            <a:r>
              <a:rPr lang="en-US" sz="900" b="1" dirty="0">
                <a:solidFill>
                  <a:srgbClr val="8A5A06"/>
                </a:solidFill>
                <a:latin typeface="Arial" pitchFamily="34" charset="0"/>
                <a:ea typeface="Arial" pitchFamily="34" charset="-122"/>
                <a:cs typeface="Arial" pitchFamily="34" charset="-120"/>
              </a:rPr>
              <a:t>EN CURSO</a:t>
            </a:r>
            <a:endParaRPr lang="en-US" sz="900" dirty="0"/>
          </a:p>
        </p:txBody>
      </p:sp>
      <p:sp>
        <p:nvSpPr>
          <p:cNvPr id="62" name="Shape 60"/>
          <p:cNvSpPr/>
          <p:nvPr/>
        </p:nvSpPr>
        <p:spPr>
          <a:xfrm>
            <a:off x="6199632" y="4663440"/>
            <a:ext cx="5394960" cy="457200"/>
          </a:xfrm>
          <a:prstGeom prst="rect">
            <a:avLst/>
          </a:prstGeom>
          <a:solidFill>
            <a:srgbClr val="ECE6D8"/>
          </a:solidFill>
          <a:ln w="9525">
            <a:solidFill>
              <a:srgbClr val="D8D2C4"/>
            </a:solidFill>
            <a:prstDash val="solid"/>
          </a:ln>
        </p:spPr>
      </p:sp>
      <p:sp>
        <p:nvSpPr>
          <p:cNvPr id="63" name="Text 61"/>
          <p:cNvSpPr txBox="1"/>
          <p:nvPr/>
        </p:nvSpPr>
        <p:spPr>
          <a:xfrm>
            <a:off x="6382512" y="4663440"/>
            <a:ext cx="3566160" cy="457200"/>
          </a:xfrm>
          <a:prstGeom prst="rect">
            <a:avLst/>
          </a:prstGeom>
          <a:noFill/>
          <a:ln/>
        </p:spPr>
        <p:txBody>
          <a:bodyPr wrap="square" lIns="0" tIns="0" rIns="0" bIns="0" rtlCol="0" anchor="ctr"/>
          <a:lstStyle/>
          <a:p>
            <a:pPr indent="0" marL="0">
              <a:buNone/>
            </a:pPr>
            <a:r>
              <a:rPr lang="en-US" sz="1350" b="1" dirty="0">
                <a:solidFill>
                  <a:srgbClr val="0B132B"/>
                </a:solidFill>
                <a:latin typeface="Arial" pitchFamily="34" charset="0"/>
                <a:ea typeface="Arial" pitchFamily="34" charset="-122"/>
                <a:cs typeface="Arial" pitchFamily="34" charset="-120"/>
              </a:rPr>
              <a:t>Calibración de calidad de producto</a:t>
            </a:r>
            <a:endParaRPr lang="en-US" sz="1350" dirty="0"/>
          </a:p>
        </p:txBody>
      </p:sp>
      <p:sp>
        <p:nvSpPr>
          <p:cNvPr id="64" name="Shape 62"/>
          <p:cNvSpPr/>
          <p:nvPr/>
        </p:nvSpPr>
        <p:spPr>
          <a:xfrm>
            <a:off x="10131552" y="4764024"/>
            <a:ext cx="1325880" cy="256032"/>
          </a:xfrm>
          <a:prstGeom prst="roundRect">
            <a:avLst>
              <a:gd name="adj" fmla="val 50000"/>
            </a:avLst>
          </a:prstGeom>
          <a:solidFill>
            <a:srgbClr val="DDE4EE"/>
          </a:solidFill>
          <a:ln w="12700">
            <a:solidFill>
              <a:srgbClr val="DDE4EE"/>
            </a:solidFill>
            <a:prstDash val="solid"/>
          </a:ln>
        </p:spPr>
      </p:sp>
      <p:sp>
        <p:nvSpPr>
          <p:cNvPr id="65" name="Text 63"/>
          <p:cNvSpPr txBox="1"/>
          <p:nvPr/>
        </p:nvSpPr>
        <p:spPr>
          <a:xfrm>
            <a:off x="10131552" y="4764024"/>
            <a:ext cx="1325880" cy="256032"/>
          </a:xfrm>
          <a:prstGeom prst="rect">
            <a:avLst/>
          </a:prstGeom>
          <a:noFill/>
          <a:ln/>
        </p:spPr>
        <p:txBody>
          <a:bodyPr wrap="square" lIns="0" tIns="0" rIns="0" bIns="0" rtlCol="0" anchor="ctr"/>
          <a:lstStyle/>
          <a:p>
            <a:pPr algn="ctr" indent="0" marL="0">
              <a:buNone/>
            </a:pPr>
            <a:r>
              <a:rPr lang="en-US" sz="900" b="1" dirty="0">
                <a:solidFill>
                  <a:srgbClr val="3A506B"/>
                </a:solidFill>
                <a:latin typeface="Arial" pitchFamily="34" charset="0"/>
                <a:ea typeface="Arial" pitchFamily="34" charset="-122"/>
                <a:cs typeface="Arial" pitchFamily="34" charset="-120"/>
              </a:rPr>
              <a:t>SIGUIENTE</a:t>
            </a:r>
            <a:endParaRPr lang="en-US" sz="900" dirty="0"/>
          </a:p>
        </p:txBody>
      </p:sp>
      <p:sp>
        <p:nvSpPr>
          <p:cNvPr id="66" name="Shape 64"/>
          <p:cNvSpPr/>
          <p:nvPr/>
        </p:nvSpPr>
        <p:spPr>
          <a:xfrm>
            <a:off x="6199632" y="5212080"/>
            <a:ext cx="5394960" cy="457200"/>
          </a:xfrm>
          <a:prstGeom prst="rect">
            <a:avLst/>
          </a:prstGeom>
          <a:solidFill>
            <a:srgbClr val="ECE6D8"/>
          </a:solidFill>
          <a:ln w="9525">
            <a:solidFill>
              <a:srgbClr val="D8D2C4"/>
            </a:solidFill>
            <a:prstDash val="solid"/>
          </a:ln>
        </p:spPr>
      </p:sp>
      <p:sp>
        <p:nvSpPr>
          <p:cNvPr id="67" name="Text 65"/>
          <p:cNvSpPr txBox="1"/>
          <p:nvPr/>
        </p:nvSpPr>
        <p:spPr>
          <a:xfrm>
            <a:off x="6382512" y="5212080"/>
            <a:ext cx="3566160" cy="457200"/>
          </a:xfrm>
          <a:prstGeom prst="rect">
            <a:avLst/>
          </a:prstGeom>
          <a:noFill/>
          <a:ln/>
        </p:spPr>
        <p:txBody>
          <a:bodyPr wrap="square" lIns="0" tIns="0" rIns="0" bIns="0" rtlCol="0" anchor="ctr"/>
          <a:lstStyle/>
          <a:p>
            <a:pPr indent="0" marL="0">
              <a:buNone/>
            </a:pPr>
            <a:r>
              <a:rPr lang="en-US" sz="1350" b="1" dirty="0">
                <a:solidFill>
                  <a:srgbClr val="0B132B"/>
                </a:solidFill>
                <a:latin typeface="Arial" pitchFamily="34" charset="0"/>
                <a:ea typeface="Arial" pitchFamily="34" charset="-122"/>
                <a:cs typeface="Arial" pitchFamily="34" charset="-120"/>
              </a:rPr>
              <a:t>Experiencia agéntica de viaje</a:t>
            </a:r>
            <a:endParaRPr lang="en-US" sz="1350" dirty="0"/>
          </a:p>
        </p:txBody>
      </p:sp>
      <p:sp>
        <p:nvSpPr>
          <p:cNvPr id="68" name="Shape 66"/>
          <p:cNvSpPr/>
          <p:nvPr/>
        </p:nvSpPr>
        <p:spPr>
          <a:xfrm>
            <a:off x="10131552" y="5312664"/>
            <a:ext cx="1325880" cy="256032"/>
          </a:xfrm>
          <a:prstGeom prst="roundRect">
            <a:avLst>
              <a:gd name="adj" fmla="val 50000"/>
            </a:avLst>
          </a:prstGeom>
          <a:solidFill>
            <a:srgbClr val="E8E0F3"/>
          </a:solidFill>
          <a:ln w="12700">
            <a:solidFill>
              <a:srgbClr val="E8E0F3"/>
            </a:solidFill>
            <a:prstDash val="solid"/>
          </a:ln>
        </p:spPr>
      </p:sp>
      <p:sp>
        <p:nvSpPr>
          <p:cNvPr id="69" name="Text 67"/>
          <p:cNvSpPr txBox="1"/>
          <p:nvPr/>
        </p:nvSpPr>
        <p:spPr>
          <a:xfrm>
            <a:off x="10131552" y="5312664"/>
            <a:ext cx="1325880" cy="256032"/>
          </a:xfrm>
          <a:prstGeom prst="rect">
            <a:avLst/>
          </a:prstGeom>
          <a:noFill/>
          <a:ln/>
        </p:spPr>
        <p:txBody>
          <a:bodyPr wrap="square" lIns="0" tIns="0" rIns="0" bIns="0" rtlCol="0" anchor="ctr"/>
          <a:lstStyle/>
          <a:p>
            <a:pPr algn="ctr" indent="0" marL="0">
              <a:buNone/>
            </a:pPr>
            <a:r>
              <a:rPr lang="en-US" sz="900" b="1" dirty="0">
                <a:solidFill>
                  <a:srgbClr val="6B4FA0"/>
                </a:solidFill>
                <a:latin typeface="Arial" pitchFamily="34" charset="0"/>
                <a:ea typeface="Arial" pitchFamily="34" charset="-122"/>
                <a:cs typeface="Arial" pitchFamily="34" charset="-120"/>
              </a:rPr>
              <a:t>FUTURO</a:t>
            </a:r>
            <a:endParaRPr lang="en-US" sz="900" dirty="0"/>
          </a:p>
        </p:txBody>
      </p:sp>
      <p:sp>
        <p:nvSpPr>
          <p:cNvPr id="70" name="Text 68"/>
          <p:cNvSpPr txBox="1"/>
          <p:nvPr/>
        </p:nvSpPr>
        <p:spPr>
          <a:xfrm>
            <a:off x="594360" y="5852160"/>
            <a:ext cx="10972800" cy="274320"/>
          </a:xfrm>
          <a:prstGeom prst="rect">
            <a:avLst/>
          </a:prstGeom>
          <a:noFill/>
          <a:ln/>
        </p:spPr>
        <p:txBody>
          <a:bodyPr wrap="square" lIns="0" tIns="0" rIns="0" bIns="0" rtlCol="0" anchor="t"/>
          <a:lstStyle/>
          <a:p>
            <a:pPr indent="0" marL="0">
              <a:buNone/>
            </a:pPr>
            <a:r>
              <a:rPr lang="en-US" sz="1100" i="1" dirty="0">
                <a:solidFill>
                  <a:srgbClr val="6B7385"/>
                </a:solidFill>
                <a:latin typeface="Arial" pitchFamily="34" charset="0"/>
                <a:ea typeface="Arial" pitchFamily="34" charset="-122"/>
                <a:cs typeface="Arial" pitchFamily="34" charset="-120"/>
              </a:rPr>
              <a:t>“Operativo” = implementado y ejercitado en el flujo real, en un entorno de pruebas. No significa listo para producción.</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1E8"/>
        </a:solidFill>
      </p:bgPr>
    </p:bg>
    <p:spTree>
      <p:nvGrpSpPr>
        <p:cNvPr id="1" name=""/>
        <p:cNvGrpSpPr/>
        <p:nvPr/>
      </p:nvGrpSpPr>
      <p:grpSpPr>
        <a:xfrm>
          <a:off x="0" y="0"/>
          <a:ext cx="0" cy="0"/>
          <a:chOff x="0" y="0"/>
          <a:chExt cx="0" cy="0"/>
        </a:xfrm>
      </p:grpSpPr>
      <p:sp>
        <p:nvSpPr>
          <p:cNvPr id="2" name="Shape 0"/>
          <p:cNvSpPr/>
          <p:nvPr/>
        </p:nvSpPr>
        <p:spPr>
          <a:xfrm flipV="1">
            <a:off x="594360" y="384048"/>
            <a:ext cx="120701" cy="98755"/>
          </a:xfrm>
          <a:prstGeom prst="line">
            <a:avLst/>
          </a:prstGeom>
          <a:noFill/>
          <a:ln w="22225">
            <a:solidFill>
              <a:srgbClr val="5BC0BE"/>
            </a:solidFill>
            <a:prstDash val="solid"/>
          </a:ln>
        </p:spPr>
      </p:sp>
      <p:sp>
        <p:nvSpPr>
          <p:cNvPr id="3" name="Shape 1"/>
          <p:cNvSpPr/>
          <p:nvPr/>
        </p:nvSpPr>
        <p:spPr>
          <a:xfrm>
            <a:off x="715061" y="384048"/>
            <a:ext cx="120701" cy="98755"/>
          </a:xfrm>
          <a:prstGeom prst="line">
            <a:avLst/>
          </a:prstGeom>
          <a:noFill/>
          <a:ln w="22225">
            <a:solidFill>
              <a:srgbClr val="5BC0BE"/>
            </a:solidFill>
            <a:prstDash val="solid"/>
          </a:ln>
        </p:spPr>
      </p:sp>
      <p:sp>
        <p:nvSpPr>
          <p:cNvPr id="4" name="Shape 2"/>
          <p:cNvSpPr/>
          <p:nvPr/>
        </p:nvSpPr>
        <p:spPr>
          <a:xfrm flipV="1">
            <a:off x="835762" y="384048"/>
            <a:ext cx="120701" cy="98755"/>
          </a:xfrm>
          <a:prstGeom prst="line">
            <a:avLst/>
          </a:prstGeom>
          <a:noFill/>
          <a:ln w="22225">
            <a:solidFill>
              <a:srgbClr val="5BC0BE"/>
            </a:solidFill>
            <a:prstDash val="solid"/>
          </a:ln>
        </p:spPr>
      </p:sp>
      <p:sp>
        <p:nvSpPr>
          <p:cNvPr id="5" name="Shape 3"/>
          <p:cNvSpPr/>
          <p:nvPr/>
        </p:nvSpPr>
        <p:spPr>
          <a:xfrm>
            <a:off x="566928" y="455371"/>
            <a:ext cx="54864" cy="54864"/>
          </a:xfrm>
          <a:prstGeom prst="ellipse">
            <a:avLst/>
          </a:prstGeom>
          <a:solidFill>
            <a:srgbClr val="5BC0BE"/>
          </a:solidFill>
          <a:ln w="12700">
            <a:solidFill>
              <a:srgbClr val="5BC0BE"/>
            </a:solidFill>
            <a:prstDash val="solid"/>
          </a:ln>
        </p:spPr>
      </p:sp>
      <p:sp>
        <p:nvSpPr>
          <p:cNvPr id="6" name="Shape 4"/>
          <p:cNvSpPr/>
          <p:nvPr/>
        </p:nvSpPr>
        <p:spPr>
          <a:xfrm>
            <a:off x="687629" y="356616"/>
            <a:ext cx="54864" cy="54864"/>
          </a:xfrm>
          <a:prstGeom prst="ellipse">
            <a:avLst/>
          </a:prstGeom>
          <a:solidFill>
            <a:srgbClr val="5BC0BE"/>
          </a:solidFill>
          <a:ln w="12700">
            <a:solidFill>
              <a:srgbClr val="5BC0BE"/>
            </a:solidFill>
            <a:prstDash val="solid"/>
          </a:ln>
        </p:spPr>
      </p:sp>
      <p:sp>
        <p:nvSpPr>
          <p:cNvPr id="7" name="Shape 5"/>
          <p:cNvSpPr/>
          <p:nvPr/>
        </p:nvSpPr>
        <p:spPr>
          <a:xfrm>
            <a:off x="808330" y="455371"/>
            <a:ext cx="54864" cy="54864"/>
          </a:xfrm>
          <a:prstGeom prst="ellipse">
            <a:avLst/>
          </a:prstGeom>
          <a:solidFill>
            <a:srgbClr val="5BC0BE"/>
          </a:solidFill>
          <a:ln w="12700">
            <a:solidFill>
              <a:srgbClr val="5BC0BE"/>
            </a:solidFill>
            <a:prstDash val="solid"/>
          </a:ln>
        </p:spPr>
      </p:sp>
      <p:sp>
        <p:nvSpPr>
          <p:cNvPr id="8" name="Shape 6"/>
          <p:cNvSpPr/>
          <p:nvPr/>
        </p:nvSpPr>
        <p:spPr>
          <a:xfrm>
            <a:off x="929030" y="356616"/>
            <a:ext cx="54864" cy="54864"/>
          </a:xfrm>
          <a:prstGeom prst="ellipse">
            <a:avLst/>
          </a:prstGeom>
          <a:solidFill>
            <a:srgbClr val="5BC0BE"/>
          </a:solidFill>
          <a:ln w="12700">
            <a:solidFill>
              <a:srgbClr val="5BC0BE"/>
            </a:solidFill>
            <a:prstDash val="solid"/>
          </a:ln>
        </p:spPr>
      </p:sp>
      <p:sp>
        <p:nvSpPr>
          <p:cNvPr id="9" name="Shape 7"/>
          <p:cNvSpPr/>
          <p:nvPr/>
        </p:nvSpPr>
        <p:spPr>
          <a:xfrm>
            <a:off x="1143000" y="329184"/>
            <a:ext cx="864108" cy="274320"/>
          </a:xfrm>
          <a:prstGeom prst="roundRect">
            <a:avLst>
              <a:gd name="adj" fmla="val 50000"/>
            </a:avLst>
          </a:prstGeom>
          <a:solidFill>
            <a:srgbClr val="D5F0EE"/>
          </a:solidFill>
          <a:ln w="12700">
            <a:solidFill>
              <a:srgbClr val="D5F0EE"/>
            </a:solidFill>
            <a:prstDash val="solid"/>
          </a:ln>
        </p:spPr>
      </p:sp>
      <p:sp>
        <p:nvSpPr>
          <p:cNvPr id="10" name="Text 8"/>
          <p:cNvSpPr txBox="1"/>
          <p:nvPr/>
        </p:nvSpPr>
        <p:spPr>
          <a:xfrm>
            <a:off x="1143000" y="329184"/>
            <a:ext cx="864108" cy="274320"/>
          </a:xfrm>
          <a:prstGeom prst="rect">
            <a:avLst/>
          </a:prstGeom>
          <a:noFill/>
          <a:ln/>
        </p:spPr>
        <p:txBody>
          <a:bodyPr wrap="square" lIns="0" tIns="0" rIns="0" bIns="0" rtlCol="0" anchor="ctr"/>
          <a:lstStyle/>
          <a:p>
            <a:pPr algn="ctr" indent="0" marL="0">
              <a:buNone/>
            </a:pPr>
            <a:r>
              <a:rPr lang="en-US" sz="900" b="1" spc="150" kern="0" dirty="0">
                <a:solidFill>
                  <a:srgbClr val="1F7A73"/>
                </a:solidFill>
                <a:latin typeface="Arial" pitchFamily="34" charset="0"/>
                <a:ea typeface="Arial" pitchFamily="34" charset="-122"/>
                <a:cs typeface="Arial" pitchFamily="34" charset="-120"/>
              </a:rPr>
              <a:t>PROBADO</a:t>
            </a:r>
            <a:endParaRPr lang="en-US" sz="900" dirty="0"/>
          </a:p>
        </p:txBody>
      </p:sp>
      <p:sp>
        <p:nvSpPr>
          <p:cNvPr id="11" name="Text 9"/>
          <p:cNvSpPr txBox="1"/>
          <p:nvPr/>
        </p:nvSpPr>
        <p:spPr>
          <a:xfrm>
            <a:off x="594360" y="777240"/>
            <a:ext cx="11002975" cy="731520"/>
          </a:xfrm>
          <a:prstGeom prst="rect">
            <a:avLst/>
          </a:prstGeom>
          <a:noFill/>
          <a:ln/>
        </p:spPr>
        <p:txBody>
          <a:bodyPr wrap="square" lIns="0" tIns="0" rIns="0" bIns="0" rtlCol="0" anchor="t"/>
          <a:lstStyle/>
          <a:p>
            <a:pPr indent="0" marL="0">
              <a:buNone/>
            </a:pPr>
            <a:r>
              <a:rPr lang="en-US" sz="3000" b="1" dirty="0">
                <a:solidFill>
                  <a:srgbClr val="0B132B"/>
                </a:solidFill>
                <a:latin typeface="Arial" pitchFamily="34" charset="0"/>
                <a:ea typeface="Arial" pitchFamily="34" charset="-122"/>
                <a:cs typeface="Arial" pitchFamily="34" charset="-120"/>
              </a:rPr>
              <a:t>Caso real: una caminata de San Telmo a La Boca</a:t>
            </a:r>
            <a:endParaRPr lang="en-US" sz="3000" dirty="0"/>
          </a:p>
        </p:txBody>
      </p:sp>
      <p:sp>
        <p:nvSpPr>
          <p:cNvPr id="12" name="Text 10"/>
          <p:cNvSpPr txBox="1"/>
          <p:nvPr/>
        </p:nvSpPr>
        <p:spPr>
          <a:xfrm>
            <a:off x="594360" y="6473952"/>
            <a:ext cx="7315200" cy="182880"/>
          </a:xfrm>
          <a:prstGeom prst="rect">
            <a:avLst/>
          </a:prstGeom>
          <a:noFill/>
          <a:ln/>
        </p:spPr>
        <p:txBody>
          <a:bodyPr wrap="square" lIns="0" tIns="0" rIns="0" bIns="0" rtlCol="0" anchor="t"/>
          <a:lstStyle/>
          <a:p>
            <a:pPr indent="0" marL="0">
              <a:buNone/>
            </a:pPr>
            <a:r>
              <a:rPr lang="en-US" sz="850" dirty="0">
                <a:solidFill>
                  <a:srgbClr val="6B7385"/>
                </a:solidFill>
                <a:latin typeface="Arial" pitchFamily="34" charset="0"/>
                <a:ea typeface="Arial" pitchFamily="34" charset="-122"/>
                <a:cs typeface="Arial" pitchFamily="34" charset="-120"/>
              </a:rPr>
              <a:t>Zig-Zag · Business, Product &amp; Strategy Update · Septiembre 2026</a:t>
            </a:r>
            <a:endParaRPr lang="en-US" sz="850" dirty="0"/>
          </a:p>
        </p:txBody>
      </p:sp>
      <p:sp>
        <p:nvSpPr>
          <p:cNvPr id="13" name="Text 11"/>
          <p:cNvSpPr txBox="1"/>
          <p:nvPr/>
        </p:nvSpPr>
        <p:spPr>
          <a:xfrm>
            <a:off x="11048695" y="6473952"/>
            <a:ext cx="548640" cy="182880"/>
          </a:xfrm>
          <a:prstGeom prst="rect">
            <a:avLst/>
          </a:prstGeom>
          <a:noFill/>
          <a:ln/>
        </p:spPr>
        <p:txBody>
          <a:bodyPr wrap="square" lIns="0" tIns="0" rIns="0" bIns="0" rtlCol="0" anchor="t"/>
          <a:lstStyle/>
          <a:p>
            <a:pPr algn="r" indent="0" marL="0">
              <a:buNone/>
            </a:pPr>
            <a:r>
              <a:rPr lang="en-US" sz="850" dirty="0">
                <a:solidFill>
                  <a:srgbClr val="6B7385"/>
                </a:solidFill>
                <a:latin typeface="Arial" pitchFamily="34" charset="0"/>
                <a:ea typeface="Arial" pitchFamily="34" charset="-122"/>
                <a:cs typeface="Arial" pitchFamily="34" charset="-120"/>
              </a:rPr>
              <a:t>10</a:t>
            </a:r>
            <a:endParaRPr lang="en-US" sz="850" dirty="0"/>
          </a:p>
        </p:txBody>
      </p:sp>
      <p:sp>
        <p:nvSpPr>
          <p:cNvPr id="14" name="Shape 12"/>
          <p:cNvSpPr/>
          <p:nvPr/>
        </p:nvSpPr>
        <p:spPr>
          <a:xfrm>
            <a:off x="594360" y="1691640"/>
            <a:ext cx="6035040" cy="685800"/>
          </a:xfrm>
          <a:prstGeom prst="roundRect">
            <a:avLst>
              <a:gd name="adj" fmla="val 13333"/>
            </a:avLst>
          </a:prstGeom>
          <a:solidFill>
            <a:srgbClr val="ECE6D8"/>
          </a:solidFill>
          <a:ln w="9525">
            <a:solidFill>
              <a:srgbClr val="ECE6D8"/>
            </a:solidFill>
            <a:prstDash val="solid"/>
          </a:ln>
        </p:spPr>
      </p:sp>
      <p:sp>
        <p:nvSpPr>
          <p:cNvPr id="15" name="Text 13"/>
          <p:cNvSpPr txBox="1"/>
          <p:nvPr/>
        </p:nvSpPr>
        <p:spPr>
          <a:xfrm>
            <a:off x="822960" y="1691640"/>
            <a:ext cx="5669280" cy="685800"/>
          </a:xfrm>
          <a:prstGeom prst="rect">
            <a:avLst/>
          </a:prstGeom>
          <a:noFill/>
          <a:ln/>
        </p:spPr>
        <p:txBody>
          <a:bodyPr wrap="square" lIns="0" tIns="0" rIns="0" bIns="0" rtlCol="0" anchor="ctr"/>
          <a:lstStyle/>
          <a:p>
            <a:pPr indent="0" marL="0">
              <a:buNone/>
            </a:pPr>
            <a:r>
              <a:rPr lang="en-US" sz="1350" b="1" dirty="0">
                <a:solidFill>
                  <a:srgbClr val="0B132B"/>
                </a:solidFill>
                <a:latin typeface="Arial" pitchFamily="34" charset="0"/>
                <a:ea typeface="Arial" pitchFamily="34" charset="-122"/>
                <a:cs typeface="Arial" pitchFamily="34" charset="-120"/>
              </a:rPr>
              <a:t>Pedido: </a:t>
            </a:r>
            <a:pPr indent="0" marL="0">
              <a:buNone/>
            </a:pPr>
            <a:r>
              <a:rPr lang="en-US" sz="1350" dirty="0">
                <a:solidFill>
                  <a:srgbClr val="0B132B"/>
                </a:solidFill>
                <a:latin typeface="Arial" pitchFamily="34" charset="0"/>
                <a:ea typeface="Arial" pitchFamily="34" charset="-122"/>
                <a:cs typeface="Arial" pitchFamily="34" charset="-120"/>
              </a:rPr>
              <a:t>Buenos Aires · caminata · historia + arquitectura · San Telmo + La Boca</a:t>
            </a:r>
            <a:endParaRPr lang="en-US" sz="1350" dirty="0"/>
          </a:p>
        </p:txBody>
      </p:sp>
      <p:sp>
        <p:nvSpPr>
          <p:cNvPr id="16" name="Shape 14"/>
          <p:cNvSpPr/>
          <p:nvPr/>
        </p:nvSpPr>
        <p:spPr>
          <a:xfrm>
            <a:off x="594360" y="2560320"/>
            <a:ext cx="6035040" cy="3520440"/>
          </a:xfrm>
          <a:prstGeom prst="roundRect">
            <a:avLst>
              <a:gd name="adj" fmla="val 2078"/>
            </a:avLst>
          </a:prstGeom>
          <a:solidFill>
            <a:srgbClr val="FFFFFF"/>
          </a:solidFill>
          <a:ln w="9525">
            <a:solidFill>
              <a:srgbClr val="D8D2C4"/>
            </a:solidFill>
            <a:prstDash val="solid"/>
          </a:ln>
        </p:spPr>
      </p:sp>
      <p:sp>
        <p:nvSpPr>
          <p:cNvPr id="17" name="Shape 15"/>
          <p:cNvSpPr/>
          <p:nvPr/>
        </p:nvSpPr>
        <p:spPr>
          <a:xfrm>
            <a:off x="822960" y="2788920"/>
            <a:ext cx="2651760" cy="1920240"/>
          </a:xfrm>
          <a:prstGeom prst="ellipse">
            <a:avLst/>
          </a:prstGeom>
          <a:solidFill>
            <a:srgbClr val="F3E3CF"/>
          </a:solidFill>
          <a:ln w="12700">
            <a:solidFill>
              <a:srgbClr val="F3E3CF"/>
            </a:solidFill>
            <a:prstDash val="solid"/>
          </a:ln>
        </p:spPr>
      </p:sp>
      <p:sp>
        <p:nvSpPr>
          <p:cNvPr id="18" name="Shape 16"/>
          <p:cNvSpPr/>
          <p:nvPr/>
        </p:nvSpPr>
        <p:spPr>
          <a:xfrm>
            <a:off x="2606040" y="3931920"/>
            <a:ext cx="2103120" cy="1737360"/>
          </a:xfrm>
          <a:prstGeom prst="ellipse">
            <a:avLst/>
          </a:prstGeom>
          <a:solidFill>
            <a:srgbClr val="DDE4EE"/>
          </a:solidFill>
          <a:ln w="12700">
            <a:solidFill>
              <a:srgbClr val="DDE4EE"/>
            </a:solidFill>
            <a:prstDash val="solid"/>
          </a:ln>
        </p:spPr>
      </p:sp>
      <p:sp>
        <p:nvSpPr>
          <p:cNvPr id="19" name="Text 17"/>
          <p:cNvSpPr txBox="1"/>
          <p:nvPr/>
        </p:nvSpPr>
        <p:spPr>
          <a:xfrm>
            <a:off x="1005840" y="4251960"/>
            <a:ext cx="1463040" cy="228600"/>
          </a:xfrm>
          <a:prstGeom prst="rect">
            <a:avLst/>
          </a:prstGeom>
          <a:noFill/>
          <a:ln/>
        </p:spPr>
        <p:txBody>
          <a:bodyPr wrap="square" lIns="0" tIns="0" rIns="0" bIns="0" rtlCol="0" anchor="t"/>
          <a:lstStyle/>
          <a:p>
            <a:pPr indent="0" marL="0">
              <a:buNone/>
            </a:pPr>
            <a:r>
              <a:rPr lang="en-US" sz="900" b="1" spc="200" kern="0" dirty="0">
                <a:solidFill>
                  <a:srgbClr val="9A5A1C"/>
                </a:solidFill>
                <a:latin typeface="Arial" pitchFamily="34" charset="0"/>
                <a:ea typeface="Arial" pitchFamily="34" charset="-122"/>
                <a:cs typeface="Arial" pitchFamily="34" charset="-120"/>
              </a:rPr>
              <a:t>SAN TELMO</a:t>
            </a:r>
            <a:endParaRPr lang="en-US" sz="900" dirty="0"/>
          </a:p>
        </p:txBody>
      </p:sp>
      <p:sp>
        <p:nvSpPr>
          <p:cNvPr id="20" name="Text 18"/>
          <p:cNvSpPr txBox="1"/>
          <p:nvPr/>
        </p:nvSpPr>
        <p:spPr>
          <a:xfrm>
            <a:off x="3429000" y="5349240"/>
            <a:ext cx="1097280" cy="228600"/>
          </a:xfrm>
          <a:prstGeom prst="rect">
            <a:avLst/>
          </a:prstGeom>
          <a:noFill/>
          <a:ln/>
        </p:spPr>
        <p:txBody>
          <a:bodyPr wrap="square" lIns="0" tIns="0" rIns="0" bIns="0" rtlCol="0" anchor="t"/>
          <a:lstStyle/>
          <a:p>
            <a:pPr indent="0" marL="0">
              <a:buNone/>
            </a:pPr>
            <a:r>
              <a:rPr lang="en-US" sz="900" b="1" spc="200" kern="0" dirty="0">
                <a:solidFill>
                  <a:srgbClr val="3A506B"/>
                </a:solidFill>
                <a:latin typeface="Arial" pitchFamily="34" charset="0"/>
                <a:ea typeface="Arial" pitchFamily="34" charset="-122"/>
                <a:cs typeface="Arial" pitchFamily="34" charset="-120"/>
              </a:rPr>
              <a:t>LA BOCA</a:t>
            </a:r>
            <a:endParaRPr lang="en-US" sz="900" dirty="0"/>
          </a:p>
        </p:txBody>
      </p:sp>
      <p:sp>
        <p:nvSpPr>
          <p:cNvPr id="21" name="Shape 19"/>
          <p:cNvSpPr/>
          <p:nvPr/>
        </p:nvSpPr>
        <p:spPr>
          <a:xfrm>
            <a:off x="1143000" y="3017520"/>
            <a:ext cx="502920" cy="457200"/>
          </a:xfrm>
          <a:prstGeom prst="line">
            <a:avLst/>
          </a:prstGeom>
          <a:noFill/>
          <a:ln w="31750">
            <a:solidFill>
              <a:srgbClr val="0B132B"/>
            </a:solidFill>
            <a:prstDash val="solid"/>
          </a:ln>
        </p:spPr>
      </p:sp>
      <p:sp>
        <p:nvSpPr>
          <p:cNvPr id="22" name="Shape 20"/>
          <p:cNvSpPr/>
          <p:nvPr/>
        </p:nvSpPr>
        <p:spPr>
          <a:xfrm flipV="1">
            <a:off x="1645920" y="3200400"/>
            <a:ext cx="502920" cy="274320"/>
          </a:xfrm>
          <a:prstGeom prst="line">
            <a:avLst/>
          </a:prstGeom>
          <a:noFill/>
          <a:ln w="31750">
            <a:solidFill>
              <a:srgbClr val="0B132B"/>
            </a:solidFill>
            <a:prstDash val="solid"/>
          </a:ln>
        </p:spPr>
      </p:sp>
      <p:sp>
        <p:nvSpPr>
          <p:cNvPr id="23" name="Shape 21"/>
          <p:cNvSpPr/>
          <p:nvPr/>
        </p:nvSpPr>
        <p:spPr>
          <a:xfrm>
            <a:off x="2148840" y="3200400"/>
            <a:ext cx="457200" cy="548640"/>
          </a:xfrm>
          <a:prstGeom prst="line">
            <a:avLst/>
          </a:prstGeom>
          <a:noFill/>
          <a:ln w="31750">
            <a:solidFill>
              <a:srgbClr val="0B132B"/>
            </a:solidFill>
            <a:prstDash val="solid"/>
          </a:ln>
        </p:spPr>
      </p:sp>
      <p:sp>
        <p:nvSpPr>
          <p:cNvPr id="24" name="Shape 22"/>
          <p:cNvSpPr/>
          <p:nvPr/>
        </p:nvSpPr>
        <p:spPr>
          <a:xfrm>
            <a:off x="2606040" y="3749040"/>
            <a:ext cx="548640" cy="502920"/>
          </a:xfrm>
          <a:prstGeom prst="line">
            <a:avLst/>
          </a:prstGeom>
          <a:noFill/>
          <a:ln w="31750">
            <a:solidFill>
              <a:srgbClr val="0B132B"/>
            </a:solidFill>
            <a:prstDash val="solid"/>
          </a:ln>
        </p:spPr>
      </p:sp>
      <p:sp>
        <p:nvSpPr>
          <p:cNvPr id="25" name="Shape 23"/>
          <p:cNvSpPr/>
          <p:nvPr/>
        </p:nvSpPr>
        <p:spPr>
          <a:xfrm flipV="1">
            <a:off x="3154680" y="4114800"/>
            <a:ext cx="594360" cy="137160"/>
          </a:xfrm>
          <a:prstGeom prst="line">
            <a:avLst/>
          </a:prstGeom>
          <a:noFill/>
          <a:ln w="31750">
            <a:solidFill>
              <a:srgbClr val="0B132B"/>
            </a:solidFill>
            <a:prstDash val="solid"/>
          </a:ln>
        </p:spPr>
      </p:sp>
      <p:sp>
        <p:nvSpPr>
          <p:cNvPr id="26" name="Shape 24"/>
          <p:cNvSpPr/>
          <p:nvPr/>
        </p:nvSpPr>
        <p:spPr>
          <a:xfrm>
            <a:off x="3749040" y="4114800"/>
            <a:ext cx="457200" cy="731520"/>
          </a:xfrm>
          <a:prstGeom prst="line">
            <a:avLst/>
          </a:prstGeom>
          <a:noFill/>
          <a:ln w="31750">
            <a:solidFill>
              <a:srgbClr val="0B132B"/>
            </a:solidFill>
            <a:prstDash val="solid"/>
          </a:ln>
        </p:spPr>
      </p:sp>
      <p:sp>
        <p:nvSpPr>
          <p:cNvPr id="27" name="Shape 25"/>
          <p:cNvSpPr/>
          <p:nvPr/>
        </p:nvSpPr>
        <p:spPr>
          <a:xfrm>
            <a:off x="1005840" y="2880360"/>
            <a:ext cx="274320" cy="274320"/>
          </a:xfrm>
          <a:prstGeom prst="ellipse">
            <a:avLst/>
          </a:prstGeom>
          <a:solidFill>
            <a:srgbClr val="0B132B"/>
          </a:solidFill>
          <a:ln w="12700">
            <a:solidFill>
              <a:srgbClr val="FFFFFF"/>
            </a:solidFill>
            <a:prstDash val="solid"/>
          </a:ln>
        </p:spPr>
      </p:sp>
      <p:sp>
        <p:nvSpPr>
          <p:cNvPr id="28" name="Text 26"/>
          <p:cNvSpPr txBox="1"/>
          <p:nvPr/>
        </p:nvSpPr>
        <p:spPr>
          <a:xfrm>
            <a:off x="1005840" y="2880360"/>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1</a:t>
            </a:r>
            <a:endParaRPr lang="en-US" sz="1000" dirty="0"/>
          </a:p>
        </p:txBody>
      </p:sp>
      <p:sp>
        <p:nvSpPr>
          <p:cNvPr id="29" name="Text 27"/>
          <p:cNvSpPr txBox="1"/>
          <p:nvPr/>
        </p:nvSpPr>
        <p:spPr>
          <a:xfrm>
            <a:off x="4754880" y="2880360"/>
            <a:ext cx="1828800" cy="329184"/>
          </a:xfrm>
          <a:prstGeom prst="rect">
            <a:avLst/>
          </a:prstGeom>
          <a:noFill/>
          <a:ln/>
        </p:spPr>
        <p:txBody>
          <a:bodyPr wrap="square" lIns="0" tIns="0" rIns="0" bIns="0" rtlCol="0" anchor="ctr"/>
          <a:lstStyle/>
          <a:p>
            <a:pPr indent="0" marL="0">
              <a:buNone/>
            </a:pPr>
            <a:r>
              <a:rPr lang="en-US" sz="1100" b="1" dirty="0">
                <a:solidFill>
                  <a:srgbClr val="1F7A73"/>
                </a:solidFill>
                <a:latin typeface="Arial" pitchFamily="34" charset="0"/>
                <a:ea typeface="Arial" pitchFamily="34" charset="-122"/>
                <a:cs typeface="Arial" pitchFamily="34" charset="-120"/>
              </a:rPr>
              <a:t>1  </a:t>
            </a:r>
            <a:pPr indent="0" marL="0">
              <a:buNone/>
            </a:pPr>
            <a:r>
              <a:rPr lang="en-US" sz="1100" dirty="0">
                <a:solidFill>
                  <a:srgbClr val="0B132B"/>
                </a:solidFill>
                <a:latin typeface="Arial" pitchFamily="34" charset="0"/>
                <a:ea typeface="Arial" pitchFamily="34" charset="-122"/>
                <a:cs typeface="Arial" pitchFamily="34" charset="-120"/>
              </a:rPr>
              <a:t>Plaza de Mayo</a:t>
            </a:r>
            <a:endParaRPr lang="en-US" sz="1100" dirty="0"/>
          </a:p>
        </p:txBody>
      </p:sp>
      <p:sp>
        <p:nvSpPr>
          <p:cNvPr id="30" name="Shape 28"/>
          <p:cNvSpPr/>
          <p:nvPr/>
        </p:nvSpPr>
        <p:spPr>
          <a:xfrm>
            <a:off x="1508760" y="3337560"/>
            <a:ext cx="274320" cy="274320"/>
          </a:xfrm>
          <a:prstGeom prst="ellipse">
            <a:avLst/>
          </a:prstGeom>
          <a:solidFill>
            <a:srgbClr val="0B132B"/>
          </a:solidFill>
          <a:ln w="12700">
            <a:solidFill>
              <a:srgbClr val="FFFFFF"/>
            </a:solidFill>
            <a:prstDash val="solid"/>
          </a:ln>
        </p:spPr>
      </p:sp>
      <p:sp>
        <p:nvSpPr>
          <p:cNvPr id="31" name="Text 29"/>
          <p:cNvSpPr txBox="1"/>
          <p:nvPr/>
        </p:nvSpPr>
        <p:spPr>
          <a:xfrm>
            <a:off x="1508760" y="3337560"/>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2</a:t>
            </a:r>
            <a:endParaRPr lang="en-US" sz="1000" dirty="0"/>
          </a:p>
        </p:txBody>
      </p:sp>
      <p:sp>
        <p:nvSpPr>
          <p:cNvPr id="32" name="Text 30"/>
          <p:cNvSpPr txBox="1"/>
          <p:nvPr/>
        </p:nvSpPr>
        <p:spPr>
          <a:xfrm>
            <a:off x="4754880" y="3264408"/>
            <a:ext cx="1828800" cy="329184"/>
          </a:xfrm>
          <a:prstGeom prst="rect">
            <a:avLst/>
          </a:prstGeom>
          <a:noFill/>
          <a:ln/>
        </p:spPr>
        <p:txBody>
          <a:bodyPr wrap="square" lIns="0" tIns="0" rIns="0" bIns="0" rtlCol="0" anchor="ctr"/>
          <a:lstStyle/>
          <a:p>
            <a:pPr indent="0" marL="0">
              <a:buNone/>
            </a:pPr>
            <a:r>
              <a:rPr lang="en-US" sz="1100" b="1" dirty="0">
                <a:solidFill>
                  <a:srgbClr val="1F7A73"/>
                </a:solidFill>
                <a:latin typeface="Arial" pitchFamily="34" charset="0"/>
                <a:ea typeface="Arial" pitchFamily="34" charset="-122"/>
                <a:cs typeface="Arial" pitchFamily="34" charset="-120"/>
              </a:rPr>
              <a:t>2  </a:t>
            </a:r>
            <a:pPr indent="0" marL="0">
              <a:buNone/>
            </a:pPr>
            <a:r>
              <a:rPr lang="en-US" sz="1100" dirty="0">
                <a:solidFill>
                  <a:srgbClr val="0B132B"/>
                </a:solidFill>
                <a:latin typeface="Arial" pitchFamily="34" charset="0"/>
                <a:ea typeface="Arial" pitchFamily="34" charset="-122"/>
                <a:cs typeface="Arial" pitchFamily="34" charset="-120"/>
              </a:rPr>
              <a:t>Calle Defensa</a:t>
            </a:r>
            <a:endParaRPr lang="en-US" sz="1100" dirty="0"/>
          </a:p>
        </p:txBody>
      </p:sp>
      <p:sp>
        <p:nvSpPr>
          <p:cNvPr id="33" name="Shape 31"/>
          <p:cNvSpPr/>
          <p:nvPr/>
        </p:nvSpPr>
        <p:spPr>
          <a:xfrm>
            <a:off x="2011680" y="3063240"/>
            <a:ext cx="274320" cy="274320"/>
          </a:xfrm>
          <a:prstGeom prst="ellipse">
            <a:avLst/>
          </a:prstGeom>
          <a:solidFill>
            <a:srgbClr val="0B132B"/>
          </a:solidFill>
          <a:ln w="12700">
            <a:solidFill>
              <a:srgbClr val="FFFFFF"/>
            </a:solidFill>
            <a:prstDash val="solid"/>
          </a:ln>
        </p:spPr>
      </p:sp>
      <p:sp>
        <p:nvSpPr>
          <p:cNvPr id="34" name="Text 32"/>
          <p:cNvSpPr txBox="1"/>
          <p:nvPr/>
        </p:nvSpPr>
        <p:spPr>
          <a:xfrm>
            <a:off x="2011680" y="3063240"/>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3</a:t>
            </a:r>
            <a:endParaRPr lang="en-US" sz="1000" dirty="0"/>
          </a:p>
        </p:txBody>
      </p:sp>
      <p:sp>
        <p:nvSpPr>
          <p:cNvPr id="35" name="Text 33"/>
          <p:cNvSpPr txBox="1"/>
          <p:nvPr/>
        </p:nvSpPr>
        <p:spPr>
          <a:xfrm>
            <a:off x="4754880" y="3648456"/>
            <a:ext cx="1828800" cy="329184"/>
          </a:xfrm>
          <a:prstGeom prst="rect">
            <a:avLst/>
          </a:prstGeom>
          <a:noFill/>
          <a:ln/>
        </p:spPr>
        <p:txBody>
          <a:bodyPr wrap="square" lIns="0" tIns="0" rIns="0" bIns="0" rtlCol="0" anchor="ctr"/>
          <a:lstStyle/>
          <a:p>
            <a:pPr indent="0" marL="0">
              <a:buNone/>
            </a:pPr>
            <a:r>
              <a:rPr lang="en-US" sz="1100" b="1" dirty="0">
                <a:solidFill>
                  <a:srgbClr val="1F7A73"/>
                </a:solidFill>
                <a:latin typeface="Arial" pitchFamily="34" charset="0"/>
                <a:ea typeface="Arial" pitchFamily="34" charset="-122"/>
                <a:cs typeface="Arial" pitchFamily="34" charset="-120"/>
              </a:rPr>
              <a:t>3  </a:t>
            </a:r>
            <a:pPr indent="0" marL="0">
              <a:buNone/>
            </a:pPr>
            <a:r>
              <a:rPr lang="en-US" sz="1100" dirty="0">
                <a:solidFill>
                  <a:srgbClr val="0B132B"/>
                </a:solidFill>
                <a:latin typeface="Arial" pitchFamily="34" charset="0"/>
                <a:ea typeface="Arial" pitchFamily="34" charset="-122"/>
                <a:cs typeface="Arial" pitchFamily="34" charset="-120"/>
              </a:rPr>
              <a:t>Plaza Dorrego</a:t>
            </a:r>
            <a:endParaRPr lang="en-US" sz="1100" dirty="0"/>
          </a:p>
        </p:txBody>
      </p:sp>
      <p:sp>
        <p:nvSpPr>
          <p:cNvPr id="36" name="Shape 34"/>
          <p:cNvSpPr/>
          <p:nvPr/>
        </p:nvSpPr>
        <p:spPr>
          <a:xfrm>
            <a:off x="2468880" y="3611880"/>
            <a:ext cx="274320" cy="274320"/>
          </a:xfrm>
          <a:prstGeom prst="ellipse">
            <a:avLst/>
          </a:prstGeom>
          <a:solidFill>
            <a:srgbClr val="0B132B"/>
          </a:solidFill>
          <a:ln w="12700">
            <a:solidFill>
              <a:srgbClr val="FFFFFF"/>
            </a:solidFill>
            <a:prstDash val="solid"/>
          </a:ln>
        </p:spPr>
      </p:sp>
      <p:sp>
        <p:nvSpPr>
          <p:cNvPr id="37" name="Text 35"/>
          <p:cNvSpPr txBox="1"/>
          <p:nvPr/>
        </p:nvSpPr>
        <p:spPr>
          <a:xfrm>
            <a:off x="2468880" y="3611880"/>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4</a:t>
            </a:r>
            <a:endParaRPr lang="en-US" sz="1000" dirty="0"/>
          </a:p>
        </p:txBody>
      </p:sp>
      <p:sp>
        <p:nvSpPr>
          <p:cNvPr id="38" name="Text 36"/>
          <p:cNvSpPr txBox="1"/>
          <p:nvPr/>
        </p:nvSpPr>
        <p:spPr>
          <a:xfrm>
            <a:off x="4754880" y="4032504"/>
            <a:ext cx="1828800" cy="329184"/>
          </a:xfrm>
          <a:prstGeom prst="rect">
            <a:avLst/>
          </a:prstGeom>
          <a:noFill/>
          <a:ln/>
        </p:spPr>
        <p:txBody>
          <a:bodyPr wrap="square" lIns="0" tIns="0" rIns="0" bIns="0" rtlCol="0" anchor="ctr"/>
          <a:lstStyle/>
          <a:p>
            <a:pPr indent="0" marL="0">
              <a:buNone/>
            </a:pPr>
            <a:r>
              <a:rPr lang="en-US" sz="1100" b="1" dirty="0">
                <a:solidFill>
                  <a:srgbClr val="1F7A73"/>
                </a:solidFill>
                <a:latin typeface="Arial" pitchFamily="34" charset="0"/>
                <a:ea typeface="Arial" pitchFamily="34" charset="-122"/>
                <a:cs typeface="Arial" pitchFamily="34" charset="-120"/>
              </a:rPr>
              <a:t>4  </a:t>
            </a:r>
            <a:pPr indent="0" marL="0">
              <a:buNone/>
            </a:pPr>
            <a:r>
              <a:rPr lang="en-US" sz="1100" dirty="0">
                <a:solidFill>
                  <a:srgbClr val="0B132B"/>
                </a:solidFill>
                <a:latin typeface="Arial" pitchFamily="34" charset="0"/>
                <a:ea typeface="Arial" pitchFamily="34" charset="-122"/>
                <a:cs typeface="Arial" pitchFamily="34" charset="-120"/>
              </a:rPr>
              <a:t>Mercado de San Telmo</a:t>
            </a:r>
            <a:endParaRPr lang="en-US" sz="1100" dirty="0"/>
          </a:p>
        </p:txBody>
      </p:sp>
      <p:sp>
        <p:nvSpPr>
          <p:cNvPr id="39" name="Shape 37"/>
          <p:cNvSpPr/>
          <p:nvPr/>
        </p:nvSpPr>
        <p:spPr>
          <a:xfrm>
            <a:off x="3017520" y="4114800"/>
            <a:ext cx="274320" cy="274320"/>
          </a:xfrm>
          <a:prstGeom prst="ellipse">
            <a:avLst/>
          </a:prstGeom>
          <a:solidFill>
            <a:srgbClr val="0B132B"/>
          </a:solidFill>
          <a:ln w="12700">
            <a:solidFill>
              <a:srgbClr val="FFFFFF"/>
            </a:solidFill>
            <a:prstDash val="solid"/>
          </a:ln>
        </p:spPr>
      </p:sp>
      <p:sp>
        <p:nvSpPr>
          <p:cNvPr id="40" name="Text 38"/>
          <p:cNvSpPr txBox="1"/>
          <p:nvPr/>
        </p:nvSpPr>
        <p:spPr>
          <a:xfrm>
            <a:off x="3017520" y="4114800"/>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5</a:t>
            </a:r>
            <a:endParaRPr lang="en-US" sz="1000" dirty="0"/>
          </a:p>
        </p:txBody>
      </p:sp>
      <p:sp>
        <p:nvSpPr>
          <p:cNvPr id="41" name="Text 39"/>
          <p:cNvSpPr txBox="1"/>
          <p:nvPr/>
        </p:nvSpPr>
        <p:spPr>
          <a:xfrm>
            <a:off x="4754880" y="4416552"/>
            <a:ext cx="1828800" cy="329184"/>
          </a:xfrm>
          <a:prstGeom prst="rect">
            <a:avLst/>
          </a:prstGeom>
          <a:noFill/>
          <a:ln/>
        </p:spPr>
        <p:txBody>
          <a:bodyPr wrap="square" lIns="0" tIns="0" rIns="0" bIns="0" rtlCol="0" anchor="ctr"/>
          <a:lstStyle/>
          <a:p>
            <a:pPr indent="0" marL="0">
              <a:buNone/>
            </a:pPr>
            <a:r>
              <a:rPr lang="en-US" sz="1100" b="1" dirty="0">
                <a:solidFill>
                  <a:srgbClr val="1F7A73"/>
                </a:solidFill>
                <a:latin typeface="Arial" pitchFamily="34" charset="0"/>
                <a:ea typeface="Arial" pitchFamily="34" charset="-122"/>
                <a:cs typeface="Arial" pitchFamily="34" charset="-120"/>
              </a:rPr>
              <a:t>5  </a:t>
            </a:r>
            <a:pPr indent="0" marL="0">
              <a:buNone/>
            </a:pPr>
            <a:r>
              <a:rPr lang="en-US" sz="1100" dirty="0">
                <a:solidFill>
                  <a:srgbClr val="0B132B"/>
                </a:solidFill>
                <a:latin typeface="Arial" pitchFamily="34" charset="0"/>
                <a:ea typeface="Arial" pitchFamily="34" charset="-122"/>
                <a:cs typeface="Arial" pitchFamily="34" charset="-120"/>
              </a:rPr>
              <a:t>Av. Almirante Brown</a:t>
            </a:r>
            <a:endParaRPr lang="en-US" sz="1100" dirty="0"/>
          </a:p>
        </p:txBody>
      </p:sp>
      <p:sp>
        <p:nvSpPr>
          <p:cNvPr id="42" name="Shape 40"/>
          <p:cNvSpPr/>
          <p:nvPr/>
        </p:nvSpPr>
        <p:spPr>
          <a:xfrm>
            <a:off x="3611880" y="3977640"/>
            <a:ext cx="274320" cy="274320"/>
          </a:xfrm>
          <a:prstGeom prst="ellipse">
            <a:avLst/>
          </a:prstGeom>
          <a:solidFill>
            <a:srgbClr val="0B132B"/>
          </a:solidFill>
          <a:ln w="12700">
            <a:solidFill>
              <a:srgbClr val="FFFFFF"/>
            </a:solidFill>
            <a:prstDash val="solid"/>
          </a:ln>
        </p:spPr>
      </p:sp>
      <p:sp>
        <p:nvSpPr>
          <p:cNvPr id="43" name="Text 41"/>
          <p:cNvSpPr txBox="1"/>
          <p:nvPr/>
        </p:nvSpPr>
        <p:spPr>
          <a:xfrm>
            <a:off x="3611880" y="3977640"/>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6</a:t>
            </a:r>
            <a:endParaRPr lang="en-US" sz="1000" dirty="0"/>
          </a:p>
        </p:txBody>
      </p:sp>
      <p:sp>
        <p:nvSpPr>
          <p:cNvPr id="44" name="Text 42"/>
          <p:cNvSpPr txBox="1"/>
          <p:nvPr/>
        </p:nvSpPr>
        <p:spPr>
          <a:xfrm>
            <a:off x="4754880" y="4800600"/>
            <a:ext cx="1828800" cy="329184"/>
          </a:xfrm>
          <a:prstGeom prst="rect">
            <a:avLst/>
          </a:prstGeom>
          <a:noFill/>
          <a:ln/>
        </p:spPr>
        <p:txBody>
          <a:bodyPr wrap="square" lIns="0" tIns="0" rIns="0" bIns="0" rtlCol="0" anchor="ctr"/>
          <a:lstStyle/>
          <a:p>
            <a:pPr indent="0" marL="0">
              <a:buNone/>
            </a:pPr>
            <a:r>
              <a:rPr lang="en-US" sz="1100" b="1" dirty="0">
                <a:solidFill>
                  <a:srgbClr val="1F7A73"/>
                </a:solidFill>
                <a:latin typeface="Arial" pitchFamily="34" charset="0"/>
                <a:ea typeface="Arial" pitchFamily="34" charset="-122"/>
                <a:cs typeface="Arial" pitchFamily="34" charset="-120"/>
              </a:rPr>
              <a:t>6  </a:t>
            </a:r>
            <a:pPr indent="0" marL="0">
              <a:buNone/>
            </a:pPr>
            <a:r>
              <a:rPr lang="en-US" sz="1100" dirty="0">
                <a:solidFill>
                  <a:srgbClr val="0B132B"/>
                </a:solidFill>
                <a:latin typeface="Arial" pitchFamily="34" charset="0"/>
                <a:ea typeface="Arial" pitchFamily="34" charset="-122"/>
                <a:cs typeface="Arial" pitchFamily="34" charset="-120"/>
              </a:rPr>
              <a:t>Caminito</a:t>
            </a:r>
            <a:endParaRPr lang="en-US" sz="1100" dirty="0"/>
          </a:p>
        </p:txBody>
      </p:sp>
      <p:sp>
        <p:nvSpPr>
          <p:cNvPr id="45" name="Shape 43"/>
          <p:cNvSpPr/>
          <p:nvPr/>
        </p:nvSpPr>
        <p:spPr>
          <a:xfrm>
            <a:off x="4069080" y="4709160"/>
            <a:ext cx="274320" cy="274320"/>
          </a:xfrm>
          <a:prstGeom prst="ellipse">
            <a:avLst/>
          </a:prstGeom>
          <a:solidFill>
            <a:srgbClr val="0B132B"/>
          </a:solidFill>
          <a:ln w="12700">
            <a:solidFill>
              <a:srgbClr val="FFFFFF"/>
            </a:solidFill>
            <a:prstDash val="solid"/>
          </a:ln>
        </p:spPr>
      </p:sp>
      <p:sp>
        <p:nvSpPr>
          <p:cNvPr id="46" name="Text 44"/>
          <p:cNvSpPr txBox="1"/>
          <p:nvPr/>
        </p:nvSpPr>
        <p:spPr>
          <a:xfrm>
            <a:off x="4069080" y="4709160"/>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7</a:t>
            </a:r>
            <a:endParaRPr lang="en-US" sz="1000" dirty="0"/>
          </a:p>
        </p:txBody>
      </p:sp>
      <p:sp>
        <p:nvSpPr>
          <p:cNvPr id="47" name="Text 45"/>
          <p:cNvSpPr txBox="1"/>
          <p:nvPr/>
        </p:nvSpPr>
        <p:spPr>
          <a:xfrm>
            <a:off x="4754880" y="5184648"/>
            <a:ext cx="1828800" cy="329184"/>
          </a:xfrm>
          <a:prstGeom prst="rect">
            <a:avLst/>
          </a:prstGeom>
          <a:noFill/>
          <a:ln/>
        </p:spPr>
        <p:txBody>
          <a:bodyPr wrap="square" lIns="0" tIns="0" rIns="0" bIns="0" rtlCol="0" anchor="ctr"/>
          <a:lstStyle/>
          <a:p>
            <a:pPr indent="0" marL="0">
              <a:buNone/>
            </a:pPr>
            <a:r>
              <a:rPr lang="en-US" sz="1100" b="1" dirty="0">
                <a:solidFill>
                  <a:srgbClr val="1F7A73"/>
                </a:solidFill>
                <a:latin typeface="Arial" pitchFamily="34" charset="0"/>
                <a:ea typeface="Arial" pitchFamily="34" charset="-122"/>
                <a:cs typeface="Arial" pitchFamily="34" charset="-120"/>
              </a:rPr>
              <a:t>7  </a:t>
            </a:r>
            <a:pPr indent="0" marL="0">
              <a:buNone/>
            </a:pPr>
            <a:r>
              <a:rPr lang="en-US" sz="1100" dirty="0">
                <a:solidFill>
                  <a:srgbClr val="0B132B"/>
                </a:solidFill>
                <a:latin typeface="Arial" pitchFamily="34" charset="0"/>
                <a:ea typeface="Arial" pitchFamily="34" charset="-122"/>
                <a:cs typeface="Arial" pitchFamily="34" charset="-120"/>
              </a:rPr>
              <a:t>Riachuelo</a:t>
            </a:r>
            <a:endParaRPr lang="en-US" sz="1100" dirty="0"/>
          </a:p>
        </p:txBody>
      </p:sp>
      <p:sp>
        <p:nvSpPr>
          <p:cNvPr id="48" name="Text 46"/>
          <p:cNvSpPr txBox="1"/>
          <p:nvPr/>
        </p:nvSpPr>
        <p:spPr>
          <a:xfrm>
            <a:off x="822960" y="5760720"/>
            <a:ext cx="3657600" cy="228600"/>
          </a:xfrm>
          <a:prstGeom prst="rect">
            <a:avLst/>
          </a:prstGeom>
          <a:noFill/>
          <a:ln/>
        </p:spPr>
        <p:txBody>
          <a:bodyPr wrap="square" lIns="0" tIns="0" rIns="0" bIns="0" rtlCol="0" anchor="t"/>
          <a:lstStyle/>
          <a:p>
            <a:pPr indent="0" marL="0">
              <a:buNone/>
            </a:pPr>
            <a:r>
              <a:rPr lang="en-US" sz="900" i="1" dirty="0">
                <a:solidFill>
                  <a:srgbClr val="6B7385"/>
                </a:solidFill>
                <a:latin typeface="Arial" pitchFamily="34" charset="0"/>
                <a:ea typeface="Arial" pitchFamily="34" charset="-122"/>
                <a:cs typeface="Arial" pitchFamily="34" charset="-120"/>
              </a:rPr>
              <a:t>Esquema ilustrativo, no cartografía a escala.</a:t>
            </a:r>
            <a:endParaRPr lang="en-US" sz="900" dirty="0"/>
          </a:p>
        </p:txBody>
      </p:sp>
      <p:sp>
        <p:nvSpPr>
          <p:cNvPr id="49" name="Text 47"/>
          <p:cNvSpPr txBox="1"/>
          <p:nvPr/>
        </p:nvSpPr>
        <p:spPr>
          <a:xfrm>
            <a:off x="6995160" y="1691640"/>
            <a:ext cx="1005840" cy="502920"/>
          </a:xfrm>
          <a:prstGeom prst="rect">
            <a:avLst/>
          </a:prstGeom>
          <a:noFill/>
          <a:ln/>
        </p:spPr>
        <p:txBody>
          <a:bodyPr wrap="square" lIns="0" tIns="0" rIns="0" bIns="0" rtlCol="0" anchor="ctr"/>
          <a:lstStyle/>
          <a:p>
            <a:pPr indent="0" marL="0">
              <a:buNone/>
            </a:pPr>
            <a:r>
              <a:rPr lang="en-US" sz="2200" b="1" dirty="0">
                <a:solidFill>
                  <a:srgbClr val="1F7A73"/>
                </a:solidFill>
                <a:latin typeface="Arial" pitchFamily="34" charset="0"/>
                <a:ea typeface="Arial" pitchFamily="34" charset="-122"/>
                <a:cs typeface="Arial" pitchFamily="34" charset="-120"/>
              </a:rPr>
              <a:t>Real</a:t>
            </a:r>
            <a:endParaRPr lang="en-US" sz="2200" dirty="0"/>
          </a:p>
        </p:txBody>
      </p:sp>
      <p:sp>
        <p:nvSpPr>
          <p:cNvPr id="50" name="Text 48"/>
          <p:cNvSpPr txBox="1"/>
          <p:nvPr/>
        </p:nvSpPr>
        <p:spPr>
          <a:xfrm>
            <a:off x="8046720" y="1691640"/>
            <a:ext cx="3566160" cy="502920"/>
          </a:xfrm>
          <a:prstGeom prst="rect">
            <a:avLst/>
          </a:prstGeom>
          <a:noFill/>
          <a:ln/>
        </p:spPr>
        <p:txBody>
          <a:bodyPr wrap="square" lIns="0" tIns="0" rIns="0" bIns="0" rtlCol="0" anchor="ctr"/>
          <a:lstStyle/>
          <a:p>
            <a:pPr indent="0" marL="0">
              <a:buNone/>
            </a:pPr>
            <a:r>
              <a:rPr lang="en-US" sz="1250" dirty="0">
                <a:solidFill>
                  <a:srgbClr val="0B132B"/>
                </a:solidFill>
                <a:latin typeface="Arial" pitchFamily="34" charset="0"/>
                <a:ea typeface="Arial" pitchFamily="34" charset="-122"/>
                <a:cs typeface="Arial" pitchFamily="34" charset="-120"/>
              </a:rPr>
              <a:t>un recorrido publicado que cruza dos barrios</a:t>
            </a:r>
            <a:endParaRPr lang="en-US" sz="1250" dirty="0"/>
          </a:p>
        </p:txBody>
      </p:sp>
      <p:sp>
        <p:nvSpPr>
          <p:cNvPr id="51" name="Text 49"/>
          <p:cNvSpPr txBox="1"/>
          <p:nvPr/>
        </p:nvSpPr>
        <p:spPr>
          <a:xfrm>
            <a:off x="6995160" y="2258568"/>
            <a:ext cx="1005840" cy="502920"/>
          </a:xfrm>
          <a:prstGeom prst="rect">
            <a:avLst/>
          </a:prstGeom>
          <a:noFill/>
          <a:ln/>
        </p:spPr>
        <p:txBody>
          <a:bodyPr wrap="square" lIns="0" tIns="0" rIns="0" bIns="0" rtlCol="0" anchor="ctr"/>
          <a:lstStyle/>
          <a:p>
            <a:pPr indent="0" marL="0">
              <a:buNone/>
            </a:pPr>
            <a:r>
              <a:rPr lang="en-US" sz="2200" b="1" dirty="0">
                <a:solidFill>
                  <a:srgbClr val="1F7A73"/>
                </a:solidFill>
                <a:latin typeface="Arial" pitchFamily="34" charset="0"/>
                <a:ea typeface="Arial" pitchFamily="34" charset="-122"/>
                <a:cs typeface="Arial" pitchFamily="34" charset="-120"/>
              </a:rPr>
              <a:t>7/7</a:t>
            </a:r>
            <a:endParaRPr lang="en-US" sz="2200" dirty="0"/>
          </a:p>
        </p:txBody>
      </p:sp>
      <p:sp>
        <p:nvSpPr>
          <p:cNvPr id="52" name="Text 50"/>
          <p:cNvSpPr txBox="1"/>
          <p:nvPr/>
        </p:nvSpPr>
        <p:spPr>
          <a:xfrm>
            <a:off x="8046720" y="2258568"/>
            <a:ext cx="3566160" cy="502920"/>
          </a:xfrm>
          <a:prstGeom prst="rect">
            <a:avLst/>
          </a:prstGeom>
          <a:noFill/>
          <a:ln/>
        </p:spPr>
        <p:txBody>
          <a:bodyPr wrap="square" lIns="0" tIns="0" rIns="0" bIns="0" rtlCol="0" anchor="ctr"/>
          <a:lstStyle/>
          <a:p>
            <a:pPr indent="0" marL="0">
              <a:buNone/>
            </a:pPr>
            <a:r>
              <a:rPr lang="en-US" sz="1250" dirty="0">
                <a:solidFill>
                  <a:srgbClr val="0B132B"/>
                </a:solidFill>
                <a:latin typeface="Arial" pitchFamily="34" charset="0"/>
                <a:ea typeface="Arial" pitchFamily="34" charset="-122"/>
                <a:cs typeface="Arial" pitchFamily="34" charset="-120"/>
              </a:rPr>
              <a:t>paradas respaldadas por la fuente</a:t>
            </a:r>
            <a:endParaRPr lang="en-US" sz="1250" dirty="0"/>
          </a:p>
        </p:txBody>
      </p:sp>
      <p:sp>
        <p:nvSpPr>
          <p:cNvPr id="53" name="Text 51"/>
          <p:cNvSpPr txBox="1"/>
          <p:nvPr/>
        </p:nvSpPr>
        <p:spPr>
          <a:xfrm>
            <a:off x="6995160" y="2825496"/>
            <a:ext cx="1005840" cy="502920"/>
          </a:xfrm>
          <a:prstGeom prst="rect">
            <a:avLst/>
          </a:prstGeom>
          <a:noFill/>
          <a:ln/>
        </p:spPr>
        <p:txBody>
          <a:bodyPr wrap="square" lIns="0" tIns="0" rIns="0" bIns="0" rtlCol="0" anchor="ctr"/>
          <a:lstStyle/>
          <a:p>
            <a:pPr indent="0" marL="0">
              <a:buNone/>
            </a:pPr>
            <a:r>
              <a:rPr lang="en-US" sz="2200" b="1" dirty="0">
                <a:solidFill>
                  <a:srgbClr val="1F7A73"/>
                </a:solidFill>
                <a:latin typeface="Arial" pitchFamily="34" charset="0"/>
                <a:ea typeface="Arial" pitchFamily="34" charset="-122"/>
                <a:cs typeface="Arial" pitchFamily="34" charset="-120"/>
              </a:rPr>
              <a:t>7/7</a:t>
            </a:r>
            <a:endParaRPr lang="en-US" sz="2200" dirty="0"/>
          </a:p>
        </p:txBody>
      </p:sp>
      <p:sp>
        <p:nvSpPr>
          <p:cNvPr id="54" name="Text 52"/>
          <p:cNvSpPr txBox="1"/>
          <p:nvPr/>
        </p:nvSpPr>
        <p:spPr>
          <a:xfrm>
            <a:off x="8046720" y="2825496"/>
            <a:ext cx="3566160" cy="502920"/>
          </a:xfrm>
          <a:prstGeom prst="rect">
            <a:avLst/>
          </a:prstGeom>
          <a:noFill/>
          <a:ln/>
        </p:spPr>
        <p:txBody>
          <a:bodyPr wrap="square" lIns="0" tIns="0" rIns="0" bIns="0" rtlCol="0" anchor="ctr"/>
          <a:lstStyle/>
          <a:p>
            <a:pPr indent="0" marL="0">
              <a:buNone/>
            </a:pPr>
            <a:r>
              <a:rPr lang="en-US" sz="1250" dirty="0">
                <a:solidFill>
                  <a:srgbClr val="0B132B"/>
                </a:solidFill>
                <a:latin typeface="Arial" pitchFamily="34" charset="0"/>
                <a:ea typeface="Arial" pitchFamily="34" charset="-122"/>
                <a:cs typeface="Arial" pitchFamily="34" charset="-120"/>
              </a:rPr>
              <a:t>paradas ubicadas en el mapa</a:t>
            </a:r>
            <a:endParaRPr lang="en-US" sz="1250" dirty="0"/>
          </a:p>
        </p:txBody>
      </p:sp>
      <p:sp>
        <p:nvSpPr>
          <p:cNvPr id="55" name="Text 53"/>
          <p:cNvSpPr txBox="1"/>
          <p:nvPr/>
        </p:nvSpPr>
        <p:spPr>
          <a:xfrm>
            <a:off x="6995160" y="3392424"/>
            <a:ext cx="1005840" cy="502920"/>
          </a:xfrm>
          <a:prstGeom prst="rect">
            <a:avLst/>
          </a:prstGeom>
          <a:noFill/>
          <a:ln/>
        </p:spPr>
        <p:txBody>
          <a:bodyPr wrap="square" lIns="0" tIns="0" rIns="0" bIns="0" rtlCol="0" anchor="ctr"/>
          <a:lstStyle/>
          <a:p>
            <a:pPr indent="0" marL="0">
              <a:buNone/>
            </a:pPr>
            <a:r>
              <a:rPr lang="en-US" sz="2200" b="1" dirty="0">
                <a:solidFill>
                  <a:srgbClr val="1F7A73"/>
                </a:solidFill>
                <a:latin typeface="Arial" pitchFamily="34" charset="0"/>
                <a:ea typeface="Arial" pitchFamily="34" charset="-122"/>
                <a:cs typeface="Arial" pitchFamily="34" charset="-120"/>
              </a:rPr>
              <a:t>✓</a:t>
            </a:r>
            <a:endParaRPr lang="en-US" sz="2200" dirty="0"/>
          </a:p>
        </p:txBody>
      </p:sp>
      <p:sp>
        <p:nvSpPr>
          <p:cNvPr id="56" name="Text 54"/>
          <p:cNvSpPr txBox="1"/>
          <p:nvPr/>
        </p:nvSpPr>
        <p:spPr>
          <a:xfrm>
            <a:off x="8046720" y="3392424"/>
            <a:ext cx="3566160" cy="502920"/>
          </a:xfrm>
          <a:prstGeom prst="rect">
            <a:avLst/>
          </a:prstGeom>
          <a:noFill/>
          <a:ln/>
        </p:spPr>
        <p:txBody>
          <a:bodyPr wrap="square" lIns="0" tIns="0" rIns="0" bIns="0" rtlCol="0" anchor="ctr"/>
          <a:lstStyle/>
          <a:p>
            <a:pPr indent="0" marL="0">
              <a:buNone/>
            </a:pPr>
            <a:r>
              <a:rPr lang="en-US" sz="1250" dirty="0">
                <a:solidFill>
                  <a:srgbClr val="0B132B"/>
                </a:solidFill>
                <a:latin typeface="Arial" pitchFamily="34" charset="0"/>
                <a:ea typeface="Arial" pitchFamily="34" charset="-122"/>
                <a:cs typeface="Arial" pitchFamily="34" charset="-120"/>
              </a:rPr>
              <a:t>no se inventó juntando lugares cercanos</a:t>
            </a:r>
            <a:endParaRPr lang="en-US" sz="1250" dirty="0"/>
          </a:p>
        </p:txBody>
      </p:sp>
      <p:sp>
        <p:nvSpPr>
          <p:cNvPr id="57" name="Text 55"/>
          <p:cNvSpPr txBox="1"/>
          <p:nvPr/>
        </p:nvSpPr>
        <p:spPr>
          <a:xfrm>
            <a:off x="6995160" y="3959352"/>
            <a:ext cx="1005840" cy="502920"/>
          </a:xfrm>
          <a:prstGeom prst="rect">
            <a:avLst/>
          </a:prstGeom>
          <a:noFill/>
          <a:ln/>
        </p:spPr>
        <p:txBody>
          <a:bodyPr wrap="square" lIns="0" tIns="0" rIns="0" bIns="0" rtlCol="0" anchor="ctr"/>
          <a:lstStyle/>
          <a:p>
            <a:pPr indent="0" marL="0">
              <a:buNone/>
            </a:pPr>
            <a:r>
              <a:rPr lang="en-US" sz="2200" b="1" dirty="0">
                <a:solidFill>
                  <a:srgbClr val="1F7A73"/>
                </a:solidFill>
                <a:latin typeface="Arial" pitchFamily="34" charset="0"/>
                <a:ea typeface="Arial" pitchFamily="34" charset="-122"/>
                <a:cs typeface="Arial" pitchFamily="34" charset="-120"/>
              </a:rPr>
              <a:t>✓</a:t>
            </a:r>
            <a:endParaRPr lang="en-US" sz="2200" dirty="0"/>
          </a:p>
        </p:txBody>
      </p:sp>
      <p:sp>
        <p:nvSpPr>
          <p:cNvPr id="58" name="Text 56"/>
          <p:cNvSpPr txBox="1"/>
          <p:nvPr/>
        </p:nvSpPr>
        <p:spPr>
          <a:xfrm>
            <a:off x="8046720" y="3959352"/>
            <a:ext cx="3566160" cy="502920"/>
          </a:xfrm>
          <a:prstGeom prst="rect">
            <a:avLst/>
          </a:prstGeom>
          <a:noFill/>
          <a:ln/>
        </p:spPr>
        <p:txBody>
          <a:bodyPr wrap="square" lIns="0" tIns="0" rIns="0" bIns="0" rtlCol="0" anchor="ctr"/>
          <a:lstStyle/>
          <a:p>
            <a:pPr indent="0" marL="0">
              <a:buNone/>
            </a:pPr>
            <a:r>
              <a:rPr lang="en-US" sz="1250" dirty="0">
                <a:solidFill>
                  <a:srgbClr val="0B132B"/>
                </a:solidFill>
                <a:latin typeface="Arial" pitchFamily="34" charset="0"/>
                <a:ea typeface="Arial" pitchFamily="34" charset="-122"/>
                <a:cs typeface="Arial" pitchFamily="34" charset="-120"/>
              </a:rPr>
              <a:t>guardada para reutilizarla</a:t>
            </a:r>
            <a:endParaRPr lang="en-US" sz="1250" dirty="0"/>
          </a:p>
        </p:txBody>
      </p:sp>
      <p:sp>
        <p:nvSpPr>
          <p:cNvPr id="59" name="Text 57"/>
          <p:cNvSpPr txBox="1"/>
          <p:nvPr/>
        </p:nvSpPr>
        <p:spPr>
          <a:xfrm>
            <a:off x="6995160" y="4526280"/>
            <a:ext cx="1005840" cy="502920"/>
          </a:xfrm>
          <a:prstGeom prst="rect">
            <a:avLst/>
          </a:prstGeom>
          <a:noFill/>
          <a:ln/>
        </p:spPr>
        <p:txBody>
          <a:bodyPr wrap="square" lIns="0" tIns="0" rIns="0" bIns="0" rtlCol="0" anchor="ctr"/>
          <a:lstStyle/>
          <a:p>
            <a:pPr indent="0" marL="0">
              <a:buNone/>
            </a:pPr>
            <a:r>
              <a:rPr lang="en-US" sz="2200" b="1" dirty="0">
                <a:solidFill>
                  <a:srgbClr val="1F7A73"/>
                </a:solidFill>
                <a:latin typeface="Arial" pitchFamily="34" charset="0"/>
                <a:ea typeface="Arial" pitchFamily="34" charset="-122"/>
                <a:cs typeface="Arial" pitchFamily="34" charset="-120"/>
              </a:rPr>
              <a:t>0</a:t>
            </a:r>
            <a:endParaRPr lang="en-US" sz="2200" dirty="0"/>
          </a:p>
        </p:txBody>
      </p:sp>
      <p:sp>
        <p:nvSpPr>
          <p:cNvPr id="60" name="Text 58"/>
          <p:cNvSpPr txBox="1"/>
          <p:nvPr/>
        </p:nvSpPr>
        <p:spPr>
          <a:xfrm>
            <a:off x="8046720" y="4526280"/>
            <a:ext cx="3566160" cy="502920"/>
          </a:xfrm>
          <a:prstGeom prst="rect">
            <a:avLst/>
          </a:prstGeom>
          <a:noFill/>
          <a:ln/>
        </p:spPr>
        <p:txBody>
          <a:bodyPr wrap="square" lIns="0" tIns="0" rIns="0" bIns="0" rtlCol="0" anchor="ctr"/>
          <a:lstStyle/>
          <a:p>
            <a:pPr indent="0" marL="0">
              <a:buNone/>
            </a:pPr>
            <a:r>
              <a:rPr lang="en-US" sz="1250" dirty="0">
                <a:solidFill>
                  <a:srgbClr val="0B132B"/>
                </a:solidFill>
                <a:latin typeface="Arial" pitchFamily="34" charset="0"/>
                <a:ea typeface="Arial" pitchFamily="34" charset="-122"/>
                <a:cs typeface="Arial" pitchFamily="34" charset="-120"/>
              </a:rPr>
              <a:t>investigaciones nuevas al pedirla otra vez</a:t>
            </a:r>
            <a:endParaRPr lang="en-US" sz="1250" dirty="0"/>
          </a:p>
        </p:txBody>
      </p:sp>
      <p:sp>
        <p:nvSpPr>
          <p:cNvPr id="61" name="Shape 59"/>
          <p:cNvSpPr/>
          <p:nvPr/>
        </p:nvSpPr>
        <p:spPr>
          <a:xfrm>
            <a:off x="6995160" y="5212080"/>
            <a:ext cx="4599432" cy="868680"/>
          </a:xfrm>
          <a:prstGeom prst="roundRect">
            <a:avLst>
              <a:gd name="adj" fmla="val 10526"/>
            </a:avLst>
          </a:prstGeom>
          <a:solidFill>
            <a:srgbClr val="0B132B"/>
          </a:solidFill>
          <a:ln w="9525">
            <a:solidFill>
              <a:srgbClr val="0B132B"/>
            </a:solidFill>
            <a:prstDash val="solid"/>
          </a:ln>
        </p:spPr>
      </p:sp>
      <p:sp>
        <p:nvSpPr>
          <p:cNvPr id="62" name="Text 60"/>
          <p:cNvSpPr txBox="1"/>
          <p:nvPr/>
        </p:nvSpPr>
        <p:spPr>
          <a:xfrm>
            <a:off x="7223760" y="5212080"/>
            <a:ext cx="4206240" cy="868680"/>
          </a:xfrm>
          <a:prstGeom prst="rect">
            <a:avLst/>
          </a:prstGeom>
          <a:noFill/>
          <a:ln/>
        </p:spPr>
        <p:txBody>
          <a:bodyPr wrap="square" lIns="0" tIns="0" rIns="0" bIns="0" rtlCol="0" anchor="ctr"/>
          <a:lstStyle/>
          <a:p>
            <a:pPr indent="0" marL="0">
              <a:buNone/>
            </a:pPr>
            <a:r>
              <a:rPr lang="en-US" sz="1350" b="1" dirty="0">
                <a:solidFill>
                  <a:srgbClr val="FFFFFF"/>
                </a:solidFill>
                <a:latin typeface="Arial" pitchFamily="34" charset="0"/>
                <a:ea typeface="Arial" pitchFamily="34" charset="-122"/>
                <a:cs typeface="Arial" pitchFamily="34" charset="-120"/>
              </a:rPr>
              <a:t>Zig-Zag puede aprender una experiencia de viaje real, no solo juntar puntos cercanos.</a:t>
            </a:r>
            <a:endParaRPr lang="en-US" sz="13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1E8"/>
        </a:solidFill>
      </p:bgPr>
    </p:bg>
    <p:spTree>
      <p:nvGrpSpPr>
        <p:cNvPr id="1" name=""/>
        <p:cNvGrpSpPr/>
        <p:nvPr/>
      </p:nvGrpSpPr>
      <p:grpSpPr>
        <a:xfrm>
          <a:off x="0" y="0"/>
          <a:ext cx="0" cy="0"/>
          <a:chOff x="0" y="0"/>
          <a:chExt cx="0" cy="0"/>
        </a:xfrm>
      </p:grpSpPr>
      <p:sp>
        <p:nvSpPr>
          <p:cNvPr id="2" name="Shape 0"/>
          <p:cNvSpPr/>
          <p:nvPr/>
        </p:nvSpPr>
        <p:spPr>
          <a:xfrm flipV="1">
            <a:off x="594360" y="384048"/>
            <a:ext cx="120701" cy="98755"/>
          </a:xfrm>
          <a:prstGeom prst="line">
            <a:avLst/>
          </a:prstGeom>
          <a:noFill/>
          <a:ln w="22225">
            <a:solidFill>
              <a:srgbClr val="5BC0BE"/>
            </a:solidFill>
            <a:prstDash val="solid"/>
          </a:ln>
        </p:spPr>
      </p:sp>
      <p:sp>
        <p:nvSpPr>
          <p:cNvPr id="3" name="Shape 1"/>
          <p:cNvSpPr/>
          <p:nvPr/>
        </p:nvSpPr>
        <p:spPr>
          <a:xfrm>
            <a:off x="715061" y="384048"/>
            <a:ext cx="120701" cy="98755"/>
          </a:xfrm>
          <a:prstGeom prst="line">
            <a:avLst/>
          </a:prstGeom>
          <a:noFill/>
          <a:ln w="22225">
            <a:solidFill>
              <a:srgbClr val="5BC0BE"/>
            </a:solidFill>
            <a:prstDash val="solid"/>
          </a:ln>
        </p:spPr>
      </p:sp>
      <p:sp>
        <p:nvSpPr>
          <p:cNvPr id="4" name="Shape 2"/>
          <p:cNvSpPr/>
          <p:nvPr/>
        </p:nvSpPr>
        <p:spPr>
          <a:xfrm flipV="1">
            <a:off x="835762" y="384048"/>
            <a:ext cx="120701" cy="98755"/>
          </a:xfrm>
          <a:prstGeom prst="line">
            <a:avLst/>
          </a:prstGeom>
          <a:noFill/>
          <a:ln w="22225">
            <a:solidFill>
              <a:srgbClr val="5BC0BE"/>
            </a:solidFill>
            <a:prstDash val="solid"/>
          </a:ln>
        </p:spPr>
      </p:sp>
      <p:sp>
        <p:nvSpPr>
          <p:cNvPr id="5" name="Shape 3"/>
          <p:cNvSpPr/>
          <p:nvPr/>
        </p:nvSpPr>
        <p:spPr>
          <a:xfrm>
            <a:off x="566928" y="455371"/>
            <a:ext cx="54864" cy="54864"/>
          </a:xfrm>
          <a:prstGeom prst="ellipse">
            <a:avLst/>
          </a:prstGeom>
          <a:solidFill>
            <a:srgbClr val="5BC0BE"/>
          </a:solidFill>
          <a:ln w="12700">
            <a:solidFill>
              <a:srgbClr val="5BC0BE"/>
            </a:solidFill>
            <a:prstDash val="solid"/>
          </a:ln>
        </p:spPr>
      </p:sp>
      <p:sp>
        <p:nvSpPr>
          <p:cNvPr id="6" name="Shape 4"/>
          <p:cNvSpPr/>
          <p:nvPr/>
        </p:nvSpPr>
        <p:spPr>
          <a:xfrm>
            <a:off x="687629" y="356616"/>
            <a:ext cx="54864" cy="54864"/>
          </a:xfrm>
          <a:prstGeom prst="ellipse">
            <a:avLst/>
          </a:prstGeom>
          <a:solidFill>
            <a:srgbClr val="5BC0BE"/>
          </a:solidFill>
          <a:ln w="12700">
            <a:solidFill>
              <a:srgbClr val="5BC0BE"/>
            </a:solidFill>
            <a:prstDash val="solid"/>
          </a:ln>
        </p:spPr>
      </p:sp>
      <p:sp>
        <p:nvSpPr>
          <p:cNvPr id="7" name="Shape 5"/>
          <p:cNvSpPr/>
          <p:nvPr/>
        </p:nvSpPr>
        <p:spPr>
          <a:xfrm>
            <a:off x="808330" y="455371"/>
            <a:ext cx="54864" cy="54864"/>
          </a:xfrm>
          <a:prstGeom prst="ellipse">
            <a:avLst/>
          </a:prstGeom>
          <a:solidFill>
            <a:srgbClr val="5BC0BE"/>
          </a:solidFill>
          <a:ln w="12700">
            <a:solidFill>
              <a:srgbClr val="5BC0BE"/>
            </a:solidFill>
            <a:prstDash val="solid"/>
          </a:ln>
        </p:spPr>
      </p:sp>
      <p:sp>
        <p:nvSpPr>
          <p:cNvPr id="8" name="Shape 6"/>
          <p:cNvSpPr/>
          <p:nvPr/>
        </p:nvSpPr>
        <p:spPr>
          <a:xfrm>
            <a:off x="929030" y="356616"/>
            <a:ext cx="54864" cy="54864"/>
          </a:xfrm>
          <a:prstGeom prst="ellipse">
            <a:avLst/>
          </a:prstGeom>
          <a:solidFill>
            <a:srgbClr val="5BC0BE"/>
          </a:solidFill>
          <a:ln w="12700">
            <a:solidFill>
              <a:srgbClr val="5BC0BE"/>
            </a:solidFill>
            <a:prstDash val="solid"/>
          </a:ln>
        </p:spPr>
      </p:sp>
      <p:sp>
        <p:nvSpPr>
          <p:cNvPr id="9" name="Shape 7"/>
          <p:cNvSpPr/>
          <p:nvPr/>
        </p:nvSpPr>
        <p:spPr>
          <a:xfrm>
            <a:off x="1143000" y="329184"/>
            <a:ext cx="1563624" cy="274320"/>
          </a:xfrm>
          <a:prstGeom prst="roundRect">
            <a:avLst>
              <a:gd name="adj" fmla="val 50000"/>
            </a:avLst>
          </a:prstGeom>
          <a:solidFill>
            <a:srgbClr val="F6DCD5"/>
          </a:solidFill>
          <a:ln w="12700">
            <a:solidFill>
              <a:srgbClr val="F6DCD5"/>
            </a:solidFill>
            <a:prstDash val="solid"/>
          </a:ln>
        </p:spPr>
      </p:sp>
      <p:sp>
        <p:nvSpPr>
          <p:cNvPr id="10" name="Text 8"/>
          <p:cNvSpPr txBox="1"/>
          <p:nvPr/>
        </p:nvSpPr>
        <p:spPr>
          <a:xfrm>
            <a:off x="1143000" y="329184"/>
            <a:ext cx="1563624" cy="274320"/>
          </a:xfrm>
          <a:prstGeom prst="rect">
            <a:avLst/>
          </a:prstGeom>
          <a:noFill/>
          <a:ln/>
        </p:spPr>
        <p:txBody>
          <a:bodyPr wrap="square" lIns="0" tIns="0" rIns="0" bIns="0" rtlCol="0" anchor="ctr"/>
          <a:lstStyle/>
          <a:p>
            <a:pPr algn="ctr" indent="0" marL="0">
              <a:buNone/>
            </a:pPr>
            <a:r>
              <a:rPr lang="en-US" sz="900" b="1" spc="150" kern="0" dirty="0">
                <a:solidFill>
                  <a:srgbClr val="B04A36"/>
                </a:solidFill>
                <a:latin typeface="Arial" pitchFamily="34" charset="0"/>
                <a:ea typeface="Arial" pitchFamily="34" charset="-122"/>
                <a:cs typeface="Arial" pitchFamily="34" charset="-120"/>
              </a:rPr>
              <a:t>RIESGO OBSERVADO</a:t>
            </a:r>
            <a:endParaRPr lang="en-US" sz="900" dirty="0"/>
          </a:p>
        </p:txBody>
      </p:sp>
      <p:sp>
        <p:nvSpPr>
          <p:cNvPr id="11" name="Text 9"/>
          <p:cNvSpPr txBox="1"/>
          <p:nvPr/>
        </p:nvSpPr>
        <p:spPr>
          <a:xfrm>
            <a:off x="594360" y="777240"/>
            <a:ext cx="11002975" cy="731520"/>
          </a:xfrm>
          <a:prstGeom prst="rect">
            <a:avLst/>
          </a:prstGeom>
          <a:noFill/>
          <a:ln/>
        </p:spPr>
        <p:txBody>
          <a:bodyPr wrap="square" lIns="0" tIns="0" rIns="0" bIns="0" rtlCol="0" anchor="t"/>
          <a:lstStyle/>
          <a:p>
            <a:pPr indent="0" marL="0">
              <a:buNone/>
            </a:pPr>
            <a:r>
              <a:rPr lang="en-US" sz="3000" b="1" dirty="0">
                <a:solidFill>
                  <a:srgbClr val="0B132B"/>
                </a:solidFill>
                <a:latin typeface="Arial" pitchFamily="34" charset="0"/>
                <a:ea typeface="Arial" pitchFamily="34" charset="-122"/>
                <a:cs typeface="Arial" pitchFamily="34" charset="-120"/>
              </a:rPr>
              <a:t>Correcto ≠ útil</a:t>
            </a:r>
            <a:endParaRPr lang="en-US" sz="3000" dirty="0"/>
          </a:p>
        </p:txBody>
      </p:sp>
      <p:sp>
        <p:nvSpPr>
          <p:cNvPr id="12" name="Text 10"/>
          <p:cNvSpPr txBox="1"/>
          <p:nvPr/>
        </p:nvSpPr>
        <p:spPr>
          <a:xfrm>
            <a:off x="594360" y="6473952"/>
            <a:ext cx="7315200" cy="182880"/>
          </a:xfrm>
          <a:prstGeom prst="rect">
            <a:avLst/>
          </a:prstGeom>
          <a:noFill/>
          <a:ln/>
        </p:spPr>
        <p:txBody>
          <a:bodyPr wrap="square" lIns="0" tIns="0" rIns="0" bIns="0" rtlCol="0" anchor="t"/>
          <a:lstStyle/>
          <a:p>
            <a:pPr indent="0" marL="0">
              <a:buNone/>
            </a:pPr>
            <a:r>
              <a:rPr lang="en-US" sz="850" dirty="0">
                <a:solidFill>
                  <a:srgbClr val="6B7385"/>
                </a:solidFill>
                <a:latin typeface="Arial" pitchFamily="34" charset="0"/>
                <a:ea typeface="Arial" pitchFamily="34" charset="-122"/>
                <a:cs typeface="Arial" pitchFamily="34" charset="-120"/>
              </a:rPr>
              <a:t>Zig-Zag · Business, Product &amp; Strategy Update · Septiembre 2026</a:t>
            </a:r>
            <a:endParaRPr lang="en-US" sz="850" dirty="0"/>
          </a:p>
        </p:txBody>
      </p:sp>
      <p:sp>
        <p:nvSpPr>
          <p:cNvPr id="13" name="Text 11"/>
          <p:cNvSpPr txBox="1"/>
          <p:nvPr/>
        </p:nvSpPr>
        <p:spPr>
          <a:xfrm>
            <a:off x="11048695" y="6473952"/>
            <a:ext cx="548640" cy="182880"/>
          </a:xfrm>
          <a:prstGeom prst="rect">
            <a:avLst/>
          </a:prstGeom>
          <a:noFill/>
          <a:ln/>
        </p:spPr>
        <p:txBody>
          <a:bodyPr wrap="square" lIns="0" tIns="0" rIns="0" bIns="0" rtlCol="0" anchor="t"/>
          <a:lstStyle/>
          <a:p>
            <a:pPr algn="r" indent="0" marL="0">
              <a:buNone/>
            </a:pPr>
            <a:r>
              <a:rPr lang="en-US" sz="850" dirty="0">
                <a:solidFill>
                  <a:srgbClr val="6B7385"/>
                </a:solidFill>
                <a:latin typeface="Arial" pitchFamily="34" charset="0"/>
                <a:ea typeface="Arial" pitchFamily="34" charset="-122"/>
                <a:cs typeface="Arial" pitchFamily="34" charset="-120"/>
              </a:rPr>
              <a:t>11</a:t>
            </a:r>
            <a:endParaRPr lang="en-US" sz="850" dirty="0"/>
          </a:p>
        </p:txBody>
      </p:sp>
      <p:sp>
        <p:nvSpPr>
          <p:cNvPr id="14" name="Text 12"/>
          <p:cNvSpPr txBox="1"/>
          <p:nvPr/>
        </p:nvSpPr>
        <p:spPr>
          <a:xfrm>
            <a:off x="594360" y="1554480"/>
            <a:ext cx="10972800" cy="365760"/>
          </a:xfrm>
          <a:prstGeom prst="rect">
            <a:avLst/>
          </a:prstGeom>
          <a:noFill/>
          <a:ln/>
        </p:spPr>
        <p:txBody>
          <a:bodyPr wrap="square" lIns="0" tIns="0" rIns="0" bIns="0" rtlCol="0" anchor="t"/>
          <a:lstStyle/>
          <a:p>
            <a:pPr indent="0" marL="0">
              <a:buNone/>
            </a:pPr>
            <a:r>
              <a:rPr lang="en-US" sz="1600" dirty="0">
                <a:solidFill>
                  <a:srgbClr val="3D4659"/>
                </a:solidFill>
                <a:latin typeface="Arial" pitchFamily="34" charset="0"/>
                <a:ea typeface="Arial" pitchFamily="34" charset="-122"/>
                <a:cs typeface="Arial" pitchFamily="34" charset="-120"/>
              </a:rPr>
              <a:t>En el caso de Buenos Aires, Zig-Zag encontró la caminata correcta. Aun así, el plan final mostró cinco museos sueltos.</a:t>
            </a:r>
            <a:endParaRPr lang="en-US" sz="1600" dirty="0"/>
          </a:p>
        </p:txBody>
      </p:sp>
      <p:sp>
        <p:nvSpPr>
          <p:cNvPr id="15" name="Shape 13"/>
          <p:cNvSpPr/>
          <p:nvPr/>
        </p:nvSpPr>
        <p:spPr>
          <a:xfrm>
            <a:off x="594360" y="2148840"/>
            <a:ext cx="5394960" cy="502920"/>
          </a:xfrm>
          <a:prstGeom prst="roundRect">
            <a:avLst>
              <a:gd name="adj" fmla="val 14545"/>
            </a:avLst>
          </a:prstGeom>
          <a:solidFill>
            <a:srgbClr val="D5F0EE"/>
          </a:solidFill>
          <a:ln w="9525">
            <a:solidFill>
              <a:srgbClr val="D5F0EE"/>
            </a:solidFill>
            <a:prstDash val="solid"/>
          </a:ln>
        </p:spPr>
      </p:sp>
      <p:sp>
        <p:nvSpPr>
          <p:cNvPr id="16" name="Text 14"/>
          <p:cNvSpPr txBox="1"/>
          <p:nvPr/>
        </p:nvSpPr>
        <p:spPr>
          <a:xfrm>
            <a:off x="822960" y="2148840"/>
            <a:ext cx="3291840" cy="502920"/>
          </a:xfrm>
          <a:prstGeom prst="rect">
            <a:avLst/>
          </a:prstGeom>
          <a:noFill/>
          <a:ln/>
        </p:spPr>
        <p:txBody>
          <a:bodyPr wrap="square" lIns="0" tIns="0" rIns="0" bIns="0" rtlCol="0" anchor="ctr"/>
          <a:lstStyle/>
          <a:p>
            <a:pPr indent="0" marL="0">
              <a:buNone/>
            </a:pPr>
            <a:r>
              <a:rPr lang="en-US" sz="1400" dirty="0">
                <a:solidFill>
                  <a:srgbClr val="0B132B"/>
                </a:solidFill>
                <a:latin typeface="Arial" pitchFamily="34" charset="0"/>
                <a:ea typeface="Arial" pitchFamily="34" charset="-122"/>
                <a:cs typeface="Arial" pitchFamily="34" charset="-120"/>
              </a:rPr>
              <a:t>Corrección de la investigación</a:t>
            </a:r>
            <a:endParaRPr lang="en-US" sz="1400" dirty="0"/>
          </a:p>
        </p:txBody>
      </p:sp>
      <p:sp>
        <p:nvSpPr>
          <p:cNvPr id="17" name="Text 15"/>
          <p:cNvSpPr txBox="1"/>
          <p:nvPr/>
        </p:nvSpPr>
        <p:spPr>
          <a:xfrm>
            <a:off x="4069080" y="2148840"/>
            <a:ext cx="1783080" cy="502920"/>
          </a:xfrm>
          <a:prstGeom prst="rect">
            <a:avLst/>
          </a:prstGeom>
          <a:noFill/>
          <a:ln/>
        </p:spPr>
        <p:txBody>
          <a:bodyPr wrap="square" lIns="0" tIns="0" rIns="0" bIns="0" rtlCol="0" anchor="ctr"/>
          <a:lstStyle/>
          <a:p>
            <a:pPr algn="r" indent="0" marL="0">
              <a:buNone/>
            </a:pPr>
            <a:r>
              <a:rPr lang="en-US" sz="1250" b="1" dirty="0">
                <a:solidFill>
                  <a:srgbClr val="1F7A73"/>
                </a:solidFill>
                <a:latin typeface="Arial" pitchFamily="34" charset="0"/>
                <a:ea typeface="Arial" pitchFamily="34" charset="-122"/>
                <a:cs typeface="Arial" pitchFamily="34" charset="-120"/>
              </a:rPr>
              <a:t>Correcto</a:t>
            </a:r>
            <a:endParaRPr lang="en-US" sz="1250" dirty="0"/>
          </a:p>
        </p:txBody>
      </p:sp>
      <p:sp>
        <p:nvSpPr>
          <p:cNvPr id="18" name="Shape 16"/>
          <p:cNvSpPr/>
          <p:nvPr/>
        </p:nvSpPr>
        <p:spPr>
          <a:xfrm>
            <a:off x="594360" y="2752344"/>
            <a:ext cx="5394960" cy="502920"/>
          </a:xfrm>
          <a:prstGeom prst="roundRect">
            <a:avLst>
              <a:gd name="adj" fmla="val 14545"/>
            </a:avLst>
          </a:prstGeom>
          <a:solidFill>
            <a:srgbClr val="D5F0EE"/>
          </a:solidFill>
          <a:ln w="9525">
            <a:solidFill>
              <a:srgbClr val="D5F0EE"/>
            </a:solidFill>
            <a:prstDash val="solid"/>
          </a:ln>
        </p:spPr>
      </p:sp>
      <p:sp>
        <p:nvSpPr>
          <p:cNvPr id="19" name="Text 17"/>
          <p:cNvSpPr txBox="1"/>
          <p:nvPr/>
        </p:nvSpPr>
        <p:spPr>
          <a:xfrm>
            <a:off x="822960" y="2752344"/>
            <a:ext cx="3291840" cy="502920"/>
          </a:xfrm>
          <a:prstGeom prst="rect">
            <a:avLst/>
          </a:prstGeom>
          <a:noFill/>
          <a:ln/>
        </p:spPr>
        <p:txBody>
          <a:bodyPr wrap="square" lIns="0" tIns="0" rIns="0" bIns="0" rtlCol="0" anchor="ctr"/>
          <a:lstStyle/>
          <a:p>
            <a:pPr indent="0" marL="0">
              <a:buNone/>
            </a:pPr>
            <a:r>
              <a:rPr lang="en-US" sz="1400" dirty="0">
                <a:solidFill>
                  <a:srgbClr val="0B132B"/>
                </a:solidFill>
                <a:latin typeface="Arial" pitchFamily="34" charset="0"/>
                <a:ea typeface="Arial" pitchFamily="34" charset="-122"/>
                <a:cs typeface="Arial" pitchFamily="34" charset="-120"/>
              </a:rPr>
              <a:t>Corrección de identidad</a:t>
            </a:r>
            <a:endParaRPr lang="en-US" sz="1400" dirty="0"/>
          </a:p>
        </p:txBody>
      </p:sp>
      <p:sp>
        <p:nvSpPr>
          <p:cNvPr id="20" name="Text 18"/>
          <p:cNvSpPr txBox="1"/>
          <p:nvPr/>
        </p:nvSpPr>
        <p:spPr>
          <a:xfrm>
            <a:off x="4069080" y="2752344"/>
            <a:ext cx="1783080" cy="502920"/>
          </a:xfrm>
          <a:prstGeom prst="rect">
            <a:avLst/>
          </a:prstGeom>
          <a:noFill/>
          <a:ln/>
        </p:spPr>
        <p:txBody>
          <a:bodyPr wrap="square" lIns="0" tIns="0" rIns="0" bIns="0" rtlCol="0" anchor="ctr"/>
          <a:lstStyle/>
          <a:p>
            <a:pPr algn="r" indent="0" marL="0">
              <a:buNone/>
            </a:pPr>
            <a:r>
              <a:rPr lang="en-US" sz="1250" b="1" dirty="0">
                <a:solidFill>
                  <a:srgbClr val="1F7A73"/>
                </a:solidFill>
                <a:latin typeface="Arial" pitchFamily="34" charset="0"/>
                <a:ea typeface="Arial" pitchFamily="34" charset="-122"/>
                <a:cs typeface="Arial" pitchFamily="34" charset="-120"/>
              </a:rPr>
              <a:t>Correcto</a:t>
            </a:r>
            <a:endParaRPr lang="en-US" sz="1250" dirty="0"/>
          </a:p>
        </p:txBody>
      </p:sp>
      <p:sp>
        <p:nvSpPr>
          <p:cNvPr id="21" name="Shape 19"/>
          <p:cNvSpPr/>
          <p:nvPr/>
        </p:nvSpPr>
        <p:spPr>
          <a:xfrm>
            <a:off x="594360" y="3355848"/>
            <a:ext cx="5394960" cy="502920"/>
          </a:xfrm>
          <a:prstGeom prst="roundRect">
            <a:avLst>
              <a:gd name="adj" fmla="val 14545"/>
            </a:avLst>
          </a:prstGeom>
          <a:solidFill>
            <a:srgbClr val="D5F0EE"/>
          </a:solidFill>
          <a:ln w="9525">
            <a:solidFill>
              <a:srgbClr val="D5F0EE"/>
            </a:solidFill>
            <a:prstDash val="solid"/>
          </a:ln>
        </p:spPr>
      </p:sp>
      <p:sp>
        <p:nvSpPr>
          <p:cNvPr id="22" name="Text 20"/>
          <p:cNvSpPr txBox="1"/>
          <p:nvPr/>
        </p:nvSpPr>
        <p:spPr>
          <a:xfrm>
            <a:off x="822960" y="3355848"/>
            <a:ext cx="3291840" cy="502920"/>
          </a:xfrm>
          <a:prstGeom prst="rect">
            <a:avLst/>
          </a:prstGeom>
          <a:noFill/>
          <a:ln/>
        </p:spPr>
        <p:txBody>
          <a:bodyPr wrap="square" lIns="0" tIns="0" rIns="0" bIns="0" rtlCol="0" anchor="ctr"/>
          <a:lstStyle/>
          <a:p>
            <a:pPr indent="0" marL="0">
              <a:buNone/>
            </a:pPr>
            <a:r>
              <a:rPr lang="en-US" sz="1400" dirty="0">
                <a:solidFill>
                  <a:srgbClr val="0B132B"/>
                </a:solidFill>
                <a:latin typeface="Arial" pitchFamily="34" charset="0"/>
                <a:ea typeface="Arial" pitchFamily="34" charset="-122"/>
                <a:cs typeface="Arial" pitchFamily="34" charset="-120"/>
              </a:rPr>
              <a:t>Corrección geográfica</a:t>
            </a:r>
            <a:endParaRPr lang="en-US" sz="1400" dirty="0"/>
          </a:p>
        </p:txBody>
      </p:sp>
      <p:sp>
        <p:nvSpPr>
          <p:cNvPr id="23" name="Text 21"/>
          <p:cNvSpPr txBox="1"/>
          <p:nvPr/>
        </p:nvSpPr>
        <p:spPr>
          <a:xfrm>
            <a:off x="4069080" y="3355848"/>
            <a:ext cx="1783080" cy="502920"/>
          </a:xfrm>
          <a:prstGeom prst="rect">
            <a:avLst/>
          </a:prstGeom>
          <a:noFill/>
          <a:ln/>
        </p:spPr>
        <p:txBody>
          <a:bodyPr wrap="square" lIns="0" tIns="0" rIns="0" bIns="0" rtlCol="0" anchor="ctr"/>
          <a:lstStyle/>
          <a:p>
            <a:pPr algn="r" indent="0" marL="0">
              <a:buNone/>
            </a:pPr>
            <a:r>
              <a:rPr lang="en-US" sz="1250" b="1" dirty="0">
                <a:solidFill>
                  <a:srgbClr val="1F7A73"/>
                </a:solidFill>
                <a:latin typeface="Arial" pitchFamily="34" charset="0"/>
                <a:ea typeface="Arial" pitchFamily="34" charset="-122"/>
                <a:cs typeface="Arial" pitchFamily="34" charset="-120"/>
              </a:rPr>
              <a:t>Correcto</a:t>
            </a:r>
            <a:endParaRPr lang="en-US" sz="1250" dirty="0"/>
          </a:p>
        </p:txBody>
      </p:sp>
      <p:sp>
        <p:nvSpPr>
          <p:cNvPr id="24" name="Shape 22"/>
          <p:cNvSpPr/>
          <p:nvPr/>
        </p:nvSpPr>
        <p:spPr>
          <a:xfrm>
            <a:off x="594360" y="3959352"/>
            <a:ext cx="5394960" cy="502920"/>
          </a:xfrm>
          <a:prstGeom prst="roundRect">
            <a:avLst>
              <a:gd name="adj" fmla="val 14545"/>
            </a:avLst>
          </a:prstGeom>
          <a:solidFill>
            <a:srgbClr val="F6DCD5"/>
          </a:solidFill>
          <a:ln w="9525">
            <a:solidFill>
              <a:srgbClr val="F6DCD5"/>
            </a:solidFill>
            <a:prstDash val="solid"/>
          </a:ln>
        </p:spPr>
      </p:sp>
      <p:sp>
        <p:nvSpPr>
          <p:cNvPr id="25" name="Text 23"/>
          <p:cNvSpPr txBox="1"/>
          <p:nvPr/>
        </p:nvSpPr>
        <p:spPr>
          <a:xfrm>
            <a:off x="822960" y="3959352"/>
            <a:ext cx="3291840" cy="502920"/>
          </a:xfrm>
          <a:prstGeom prst="rect">
            <a:avLst/>
          </a:prstGeom>
          <a:noFill/>
          <a:ln/>
        </p:spPr>
        <p:txBody>
          <a:bodyPr wrap="square" lIns="0" tIns="0" rIns="0" bIns="0" rtlCol="0" anchor="ctr"/>
          <a:lstStyle/>
          <a:p>
            <a:pPr indent="0" marL="0">
              <a:buNone/>
            </a:pPr>
            <a:r>
              <a:rPr lang="en-US" sz="1400" b="1" dirty="0">
                <a:solidFill>
                  <a:srgbClr val="0B132B"/>
                </a:solidFill>
                <a:latin typeface="Arial" pitchFamily="34" charset="0"/>
                <a:ea typeface="Arial" pitchFamily="34" charset="-122"/>
                <a:cs typeface="Arial" pitchFamily="34" charset="-120"/>
              </a:rPr>
              <a:t>Utilidad final para el viajero</a:t>
            </a:r>
            <a:endParaRPr lang="en-US" sz="1400" dirty="0"/>
          </a:p>
        </p:txBody>
      </p:sp>
      <p:sp>
        <p:nvSpPr>
          <p:cNvPr id="26" name="Text 24"/>
          <p:cNvSpPr txBox="1"/>
          <p:nvPr/>
        </p:nvSpPr>
        <p:spPr>
          <a:xfrm>
            <a:off x="4069080" y="3959352"/>
            <a:ext cx="1783080" cy="502920"/>
          </a:xfrm>
          <a:prstGeom prst="rect">
            <a:avLst/>
          </a:prstGeom>
          <a:noFill/>
          <a:ln/>
        </p:spPr>
        <p:txBody>
          <a:bodyPr wrap="square" lIns="0" tIns="0" rIns="0" bIns="0" rtlCol="0" anchor="ctr"/>
          <a:lstStyle/>
          <a:p>
            <a:pPr algn="r" indent="0" marL="0">
              <a:buNone/>
            </a:pPr>
            <a:r>
              <a:rPr lang="en-US" sz="1250" b="1" dirty="0">
                <a:solidFill>
                  <a:srgbClr val="B04A36"/>
                </a:solidFill>
                <a:latin typeface="Arial" pitchFamily="34" charset="0"/>
                <a:ea typeface="Arial" pitchFamily="34" charset="-122"/>
                <a:cs typeface="Arial" pitchFamily="34" charset="-120"/>
              </a:rPr>
              <a:t>Requiere calibración</a:t>
            </a:r>
            <a:endParaRPr lang="en-US" sz="1250" dirty="0"/>
          </a:p>
        </p:txBody>
      </p:sp>
      <p:sp>
        <p:nvSpPr>
          <p:cNvPr id="27" name="Shape 25"/>
          <p:cNvSpPr/>
          <p:nvPr/>
        </p:nvSpPr>
        <p:spPr>
          <a:xfrm>
            <a:off x="6291072" y="2148840"/>
            <a:ext cx="5303520" cy="2377440"/>
          </a:xfrm>
          <a:prstGeom prst="roundRect">
            <a:avLst>
              <a:gd name="adj" fmla="val 3846"/>
            </a:avLst>
          </a:prstGeom>
          <a:solidFill>
            <a:srgbClr val="0B132B"/>
          </a:solidFill>
          <a:ln w="9525">
            <a:solidFill>
              <a:srgbClr val="0B132B"/>
            </a:solidFill>
            <a:prstDash val="solid"/>
          </a:ln>
        </p:spPr>
      </p:sp>
      <p:sp>
        <p:nvSpPr>
          <p:cNvPr id="28" name="Text 26"/>
          <p:cNvSpPr txBox="1"/>
          <p:nvPr/>
        </p:nvSpPr>
        <p:spPr>
          <a:xfrm>
            <a:off x="6537960" y="2286000"/>
            <a:ext cx="4846320" cy="320040"/>
          </a:xfrm>
          <a:prstGeom prst="rect">
            <a:avLst/>
          </a:prstGeom>
          <a:noFill/>
          <a:ln/>
        </p:spPr>
        <p:txBody>
          <a:bodyPr wrap="square" lIns="0" tIns="0" rIns="0" bIns="0" rtlCol="0" anchor="t"/>
          <a:lstStyle/>
          <a:p>
            <a:pPr indent="0" marL="0">
              <a:buNone/>
            </a:pPr>
            <a:r>
              <a:rPr lang="en-US" sz="1400" b="1" dirty="0">
                <a:solidFill>
                  <a:srgbClr val="5BC0BE"/>
                </a:solidFill>
                <a:latin typeface="Arial" pitchFamily="34" charset="0"/>
                <a:ea typeface="Arial" pitchFamily="34" charset="-122"/>
                <a:cs typeface="Arial" pitchFamily="34" charset="-120"/>
              </a:rPr>
              <a:t>El registro de decisiones mostró por qué</a:t>
            </a:r>
            <a:endParaRPr lang="en-US" sz="1400" dirty="0"/>
          </a:p>
        </p:txBody>
      </p:sp>
      <p:sp>
        <p:nvSpPr>
          <p:cNvPr id="29" name="Text 27"/>
          <p:cNvSpPr txBox="1"/>
          <p:nvPr/>
        </p:nvSpPr>
        <p:spPr>
          <a:xfrm>
            <a:off x="6537960" y="2651760"/>
            <a:ext cx="4846320" cy="640080"/>
          </a:xfrm>
          <a:prstGeom prst="rect">
            <a:avLst/>
          </a:prstGeom>
          <a:noFill/>
          <a:ln/>
        </p:spPr>
        <p:txBody>
          <a:bodyPr wrap="square" lIns="0" tIns="0" rIns="0" bIns="0" rtlCol="0" anchor="t"/>
          <a:lstStyle/>
          <a:p>
            <a:pPr indent="0" marL="0">
              <a:buNone/>
            </a:pPr>
            <a:r>
              <a:rPr lang="en-US" sz="1250" dirty="0">
                <a:solidFill>
                  <a:srgbClr val="E4E9F2"/>
                </a:solidFill>
                <a:latin typeface="Arial" pitchFamily="34" charset="0"/>
                <a:ea typeface="Arial" pitchFamily="34" charset="-122"/>
                <a:cs typeface="Arial" pitchFamily="34" charset="-120"/>
              </a:rPr>
              <a:t>La caminata llegó a la etapa de armado del plan, pero se descartó por los límites de caminata del pedido:</a:t>
            </a:r>
            <a:endParaRPr lang="en-US" sz="1250" dirty="0"/>
          </a:p>
        </p:txBody>
      </p:sp>
      <p:sp>
        <p:nvSpPr>
          <p:cNvPr id="30" name="Text 28"/>
          <p:cNvSpPr txBox="1"/>
          <p:nvPr/>
        </p:nvSpPr>
        <p:spPr>
          <a:xfrm>
            <a:off x="6537960" y="3291840"/>
            <a:ext cx="4846320" cy="640080"/>
          </a:xfrm>
          <a:prstGeom prst="rect">
            <a:avLst/>
          </a:prstGeom>
          <a:noFill/>
          <a:ln/>
        </p:spPr>
        <p:txBody>
          <a:bodyPr wrap="square" lIns="0" tIns="0" rIns="0" bIns="0" rtlCol="0" anchor="t"/>
          <a:lstStyle/>
          <a:p>
            <a:pPr indent="0" marL="0">
              <a:buNone/>
            </a:pPr>
            <a:r>
              <a:rPr lang="en-US" sz="1300" b="1" dirty="0">
                <a:solidFill>
                  <a:srgbClr val="FFFFFF"/>
                </a:solidFill>
                <a:latin typeface="Arial" pitchFamily="34" charset="0"/>
                <a:ea typeface="Arial" pitchFamily="34" charset="-122"/>
                <a:cs typeface="Arial" pitchFamily="34" charset="-120"/>
              </a:rPr>
              <a:t>• superaba el máximo de caminata por día</a:t>
            </a:r>
            <a:endParaRPr lang="en-US" sz="1300" dirty="0"/>
          </a:p>
          <a:p>
            <a:pPr indent="0" marL="0">
              <a:buNone/>
            </a:pPr>
            <a:r>
              <a:rPr lang="en-US" sz="1300" b="1" dirty="0">
                <a:solidFill>
                  <a:srgbClr val="FFFFFF"/>
                </a:solidFill>
                <a:latin typeface="Arial" pitchFamily="34" charset="0"/>
                <a:ea typeface="Arial" pitchFamily="34" charset="-122"/>
                <a:cs typeface="Arial" pitchFamily="34" charset="-120"/>
              </a:rPr>
              <a:t>• tenía un tramo continuo más largo que el permitido</a:t>
            </a:r>
            <a:endParaRPr lang="en-US" sz="1300" dirty="0"/>
          </a:p>
        </p:txBody>
      </p:sp>
      <p:sp>
        <p:nvSpPr>
          <p:cNvPr id="31" name="Text 29"/>
          <p:cNvSpPr txBox="1"/>
          <p:nvPr/>
        </p:nvSpPr>
        <p:spPr>
          <a:xfrm>
            <a:off x="6537960" y="4023360"/>
            <a:ext cx="4846320" cy="320040"/>
          </a:xfrm>
          <a:prstGeom prst="rect">
            <a:avLst/>
          </a:prstGeom>
          <a:noFill/>
          <a:ln/>
        </p:spPr>
        <p:txBody>
          <a:bodyPr wrap="square" lIns="0" tIns="0" rIns="0" bIns="0" rtlCol="0" anchor="t"/>
          <a:lstStyle/>
          <a:p>
            <a:pPr indent="0" marL="0">
              <a:buNone/>
            </a:pPr>
            <a:r>
              <a:rPr lang="en-US" sz="1150" i="1" dirty="0">
                <a:solidFill>
                  <a:srgbClr val="C7D0E0"/>
                </a:solidFill>
                <a:latin typeface="Arial" pitchFamily="34" charset="0"/>
                <a:ea typeface="Arial" pitchFamily="34" charset="-122"/>
                <a:cs typeface="Arial" pitchFamily="34" charset="-120"/>
              </a:rPr>
              <a:t>No fue ignorada ni quedó mal ubicada: la frenó una regla.</a:t>
            </a:r>
            <a:endParaRPr lang="en-US" sz="1150" dirty="0"/>
          </a:p>
        </p:txBody>
      </p:sp>
      <p:sp>
        <p:nvSpPr>
          <p:cNvPr id="32" name="Text 30"/>
          <p:cNvSpPr txBox="1"/>
          <p:nvPr/>
        </p:nvSpPr>
        <p:spPr>
          <a:xfrm>
            <a:off x="6291072" y="4681728"/>
            <a:ext cx="2743200" cy="274320"/>
          </a:xfrm>
          <a:prstGeom prst="rect">
            <a:avLst/>
          </a:prstGeom>
          <a:noFill/>
          <a:ln/>
        </p:spPr>
        <p:txBody>
          <a:bodyPr wrap="square" lIns="0" tIns="0" rIns="0" bIns="0" rtlCol="0" anchor="t"/>
          <a:lstStyle/>
          <a:p>
            <a:pPr indent="0" marL="0">
              <a:buNone/>
            </a:pPr>
            <a:r>
              <a:rPr lang="en-US" sz="1200" b="1" dirty="0">
                <a:solidFill>
                  <a:srgbClr val="1F7A73"/>
                </a:solidFill>
                <a:latin typeface="Arial" pitchFamily="34" charset="0"/>
                <a:ea typeface="Arial" pitchFamily="34" charset="-122"/>
                <a:cs typeface="Arial" pitchFamily="34" charset="-120"/>
              </a:rPr>
              <a:t>Lo que ya corregimos</a:t>
            </a:r>
            <a:endParaRPr lang="en-US" sz="1200" dirty="0"/>
          </a:p>
        </p:txBody>
      </p:sp>
      <p:sp>
        <p:nvSpPr>
          <p:cNvPr id="33" name="Text 31"/>
          <p:cNvSpPr txBox="1"/>
          <p:nvPr/>
        </p:nvSpPr>
        <p:spPr>
          <a:xfrm>
            <a:off x="6291072" y="4956048"/>
            <a:ext cx="5303520" cy="502920"/>
          </a:xfrm>
          <a:prstGeom prst="rect">
            <a:avLst/>
          </a:prstGeom>
          <a:noFill/>
          <a:ln/>
        </p:spPr>
        <p:txBody>
          <a:bodyPr wrap="square" lIns="0" tIns="0" rIns="0" bIns="0" rtlCol="0" anchor="t"/>
          <a:lstStyle/>
          <a:p>
            <a:pPr indent="0" marL="0">
              <a:buNone/>
            </a:pPr>
            <a:r>
              <a:rPr lang="en-US" sz="1100" dirty="0">
                <a:solidFill>
                  <a:srgbClr val="3D4659"/>
                </a:solidFill>
                <a:latin typeface="Arial" pitchFamily="34" charset="0"/>
                <a:ea typeface="Arial" pitchFamily="34" charset="-122"/>
                <a:cs typeface="Arial" pitchFamily="34" charset="-120"/>
              </a:rPr>
              <a:t>✓ el registro muestra cuánto se camina vs. el límite   ✓ se ve cómo se armó la selección   ✓ los barrios nombrados llegan a la investigación</a:t>
            </a:r>
            <a:endParaRPr lang="en-US" sz="1100" dirty="0"/>
          </a:p>
        </p:txBody>
      </p:sp>
      <p:sp>
        <p:nvSpPr>
          <p:cNvPr id="34" name="Text 32"/>
          <p:cNvSpPr txBox="1"/>
          <p:nvPr/>
        </p:nvSpPr>
        <p:spPr>
          <a:xfrm>
            <a:off x="6291072" y="5486400"/>
            <a:ext cx="5303520" cy="457200"/>
          </a:xfrm>
          <a:prstGeom prst="rect">
            <a:avLst/>
          </a:prstGeom>
          <a:noFill/>
          <a:ln/>
        </p:spPr>
        <p:txBody>
          <a:bodyPr wrap="square" lIns="0" tIns="0" rIns="0" bIns="0" rtlCol="0" anchor="t"/>
          <a:lstStyle/>
          <a:p>
            <a:pPr indent="0" marL="0">
              <a:buNone/>
            </a:pPr>
            <a:r>
              <a:rPr lang="en-US" sz="1100" i="1" dirty="0">
                <a:solidFill>
                  <a:srgbClr val="B04A36"/>
                </a:solidFill>
                <a:latin typeface="Arial" pitchFamily="34" charset="0"/>
                <a:ea typeface="Arial" pitchFamily="34" charset="-122"/>
                <a:cs typeface="Arial" pitchFamily="34" charset="-120"/>
              </a:rPr>
              <a:t>Falta decidir (producto): qué límites de caminata usar por defecto.</a:t>
            </a:r>
            <a:endParaRPr lang="en-US" sz="1100" dirty="0"/>
          </a:p>
        </p:txBody>
      </p:sp>
      <p:sp>
        <p:nvSpPr>
          <p:cNvPr id="35" name="Text 33"/>
          <p:cNvSpPr txBox="1"/>
          <p:nvPr/>
        </p:nvSpPr>
        <p:spPr>
          <a:xfrm>
            <a:off x="594360" y="4754880"/>
            <a:ext cx="5394960" cy="1188720"/>
          </a:xfrm>
          <a:prstGeom prst="rect">
            <a:avLst/>
          </a:prstGeom>
          <a:noFill/>
          <a:ln/>
        </p:spPr>
        <p:txBody>
          <a:bodyPr wrap="square" lIns="0" tIns="0" rIns="0" bIns="0" rtlCol="0" anchor="ctr"/>
          <a:lstStyle/>
          <a:p>
            <a:pPr indent="0" marL="0">
              <a:buNone/>
            </a:pPr>
            <a:r>
              <a:rPr lang="en-US" sz="1800" b="1" dirty="0">
                <a:solidFill>
                  <a:srgbClr val="0B132B"/>
                </a:solidFill>
                <a:latin typeface="Arial" pitchFamily="34" charset="0"/>
                <a:ea typeface="Arial" pitchFamily="34" charset="-122"/>
                <a:cs typeface="Arial" pitchFamily="34" charset="-120"/>
              </a:rPr>
              <a:t>La corrección de ingeniería es necesaria. La calidad de decisión de producto es la próxima frontera.</a:t>
            </a:r>
            <a:endParaRPr lang="en-US" sz="1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B132B"/>
        </a:solidFill>
      </p:bgPr>
    </p:bg>
    <p:spTree>
      <p:nvGrpSpPr>
        <p:cNvPr id="1" name=""/>
        <p:cNvGrpSpPr/>
        <p:nvPr/>
      </p:nvGrpSpPr>
      <p:grpSpPr>
        <a:xfrm>
          <a:off x="0" y="0"/>
          <a:ext cx="0" cy="0"/>
          <a:chOff x="0" y="0"/>
          <a:chExt cx="0" cy="0"/>
        </a:xfrm>
      </p:grpSpPr>
      <p:sp>
        <p:nvSpPr>
          <p:cNvPr id="2" name="Shape 0"/>
          <p:cNvSpPr/>
          <p:nvPr/>
        </p:nvSpPr>
        <p:spPr>
          <a:xfrm flipV="1">
            <a:off x="594360" y="384048"/>
            <a:ext cx="120701" cy="98755"/>
          </a:xfrm>
          <a:prstGeom prst="line">
            <a:avLst/>
          </a:prstGeom>
          <a:noFill/>
          <a:ln w="22225">
            <a:solidFill>
              <a:srgbClr val="5BC0BE"/>
            </a:solidFill>
            <a:prstDash val="solid"/>
          </a:ln>
        </p:spPr>
      </p:sp>
      <p:sp>
        <p:nvSpPr>
          <p:cNvPr id="3" name="Shape 1"/>
          <p:cNvSpPr/>
          <p:nvPr/>
        </p:nvSpPr>
        <p:spPr>
          <a:xfrm>
            <a:off x="715061" y="384048"/>
            <a:ext cx="120701" cy="98755"/>
          </a:xfrm>
          <a:prstGeom prst="line">
            <a:avLst/>
          </a:prstGeom>
          <a:noFill/>
          <a:ln w="22225">
            <a:solidFill>
              <a:srgbClr val="5BC0BE"/>
            </a:solidFill>
            <a:prstDash val="solid"/>
          </a:ln>
        </p:spPr>
      </p:sp>
      <p:sp>
        <p:nvSpPr>
          <p:cNvPr id="4" name="Shape 2"/>
          <p:cNvSpPr/>
          <p:nvPr/>
        </p:nvSpPr>
        <p:spPr>
          <a:xfrm flipV="1">
            <a:off x="835762" y="384048"/>
            <a:ext cx="120701" cy="98755"/>
          </a:xfrm>
          <a:prstGeom prst="line">
            <a:avLst/>
          </a:prstGeom>
          <a:noFill/>
          <a:ln w="22225">
            <a:solidFill>
              <a:srgbClr val="5BC0BE"/>
            </a:solidFill>
            <a:prstDash val="solid"/>
          </a:ln>
        </p:spPr>
      </p:sp>
      <p:sp>
        <p:nvSpPr>
          <p:cNvPr id="5" name="Shape 3"/>
          <p:cNvSpPr/>
          <p:nvPr/>
        </p:nvSpPr>
        <p:spPr>
          <a:xfrm>
            <a:off x="566928" y="455371"/>
            <a:ext cx="54864" cy="54864"/>
          </a:xfrm>
          <a:prstGeom prst="ellipse">
            <a:avLst/>
          </a:prstGeom>
          <a:solidFill>
            <a:srgbClr val="5BC0BE"/>
          </a:solidFill>
          <a:ln w="12700">
            <a:solidFill>
              <a:srgbClr val="5BC0BE"/>
            </a:solidFill>
            <a:prstDash val="solid"/>
          </a:ln>
        </p:spPr>
      </p:sp>
      <p:sp>
        <p:nvSpPr>
          <p:cNvPr id="6" name="Shape 4"/>
          <p:cNvSpPr/>
          <p:nvPr/>
        </p:nvSpPr>
        <p:spPr>
          <a:xfrm>
            <a:off x="687629" y="356616"/>
            <a:ext cx="54864" cy="54864"/>
          </a:xfrm>
          <a:prstGeom prst="ellipse">
            <a:avLst/>
          </a:prstGeom>
          <a:solidFill>
            <a:srgbClr val="5BC0BE"/>
          </a:solidFill>
          <a:ln w="12700">
            <a:solidFill>
              <a:srgbClr val="5BC0BE"/>
            </a:solidFill>
            <a:prstDash val="solid"/>
          </a:ln>
        </p:spPr>
      </p:sp>
      <p:sp>
        <p:nvSpPr>
          <p:cNvPr id="7" name="Shape 5"/>
          <p:cNvSpPr/>
          <p:nvPr/>
        </p:nvSpPr>
        <p:spPr>
          <a:xfrm>
            <a:off x="808330" y="455371"/>
            <a:ext cx="54864" cy="54864"/>
          </a:xfrm>
          <a:prstGeom prst="ellipse">
            <a:avLst/>
          </a:prstGeom>
          <a:solidFill>
            <a:srgbClr val="5BC0BE"/>
          </a:solidFill>
          <a:ln w="12700">
            <a:solidFill>
              <a:srgbClr val="5BC0BE"/>
            </a:solidFill>
            <a:prstDash val="solid"/>
          </a:ln>
        </p:spPr>
      </p:sp>
      <p:sp>
        <p:nvSpPr>
          <p:cNvPr id="8" name="Shape 6"/>
          <p:cNvSpPr/>
          <p:nvPr/>
        </p:nvSpPr>
        <p:spPr>
          <a:xfrm>
            <a:off x="929030" y="356616"/>
            <a:ext cx="54864" cy="54864"/>
          </a:xfrm>
          <a:prstGeom prst="ellipse">
            <a:avLst/>
          </a:prstGeom>
          <a:solidFill>
            <a:srgbClr val="5BC0BE"/>
          </a:solidFill>
          <a:ln w="12700">
            <a:solidFill>
              <a:srgbClr val="5BC0BE"/>
            </a:solidFill>
            <a:prstDash val="solid"/>
          </a:ln>
        </p:spPr>
      </p:sp>
      <p:sp>
        <p:nvSpPr>
          <p:cNvPr id="9" name="Shape 7"/>
          <p:cNvSpPr/>
          <p:nvPr/>
        </p:nvSpPr>
        <p:spPr>
          <a:xfrm>
            <a:off x="1143000" y="329184"/>
            <a:ext cx="1874520" cy="274320"/>
          </a:xfrm>
          <a:prstGeom prst="roundRect">
            <a:avLst>
              <a:gd name="adj" fmla="val 50000"/>
            </a:avLst>
          </a:prstGeom>
          <a:solidFill>
            <a:srgbClr val="F5E6C4"/>
          </a:solidFill>
          <a:ln w="12700">
            <a:solidFill>
              <a:srgbClr val="F5E6C4"/>
            </a:solidFill>
            <a:prstDash val="solid"/>
          </a:ln>
        </p:spPr>
      </p:sp>
      <p:sp>
        <p:nvSpPr>
          <p:cNvPr id="10" name="Text 8"/>
          <p:cNvSpPr txBox="1"/>
          <p:nvPr/>
        </p:nvSpPr>
        <p:spPr>
          <a:xfrm>
            <a:off x="1143000" y="329184"/>
            <a:ext cx="1874520" cy="274320"/>
          </a:xfrm>
          <a:prstGeom prst="rect">
            <a:avLst/>
          </a:prstGeom>
          <a:noFill/>
          <a:ln/>
        </p:spPr>
        <p:txBody>
          <a:bodyPr wrap="square" lIns="0" tIns="0" rIns="0" bIns="0" rtlCol="0" anchor="ctr"/>
          <a:lstStyle/>
          <a:p>
            <a:pPr algn="ctr" indent="0" marL="0">
              <a:buNone/>
            </a:pPr>
            <a:r>
              <a:rPr lang="en-US" sz="900" b="1" spc="150" kern="0" dirty="0">
                <a:solidFill>
                  <a:srgbClr val="8A5A06"/>
                </a:solidFill>
                <a:latin typeface="Arial" pitchFamily="34" charset="0"/>
                <a:ea typeface="Arial" pitchFamily="34" charset="-122"/>
                <a:cs typeface="Arial" pitchFamily="34" charset="-120"/>
              </a:rPr>
              <a:t>HIPÓTESIS DE NEGOCIO</a:t>
            </a:r>
            <a:endParaRPr lang="en-US" sz="900" dirty="0"/>
          </a:p>
        </p:txBody>
      </p:sp>
      <p:sp>
        <p:nvSpPr>
          <p:cNvPr id="11" name="Text 9"/>
          <p:cNvSpPr txBox="1"/>
          <p:nvPr/>
        </p:nvSpPr>
        <p:spPr>
          <a:xfrm>
            <a:off x="594360" y="777240"/>
            <a:ext cx="11002975" cy="731520"/>
          </a:xfrm>
          <a:prstGeom prst="rect">
            <a:avLst/>
          </a:prstGeom>
          <a:noFill/>
          <a:ln/>
        </p:spPr>
        <p:txBody>
          <a:bodyPr wrap="square" lIns="0" tIns="0" rIns="0" bIns="0" rtlCol="0" anchor="t"/>
          <a:lstStyle/>
          <a:p>
            <a:pPr indent="0" marL="0">
              <a:buNone/>
            </a:pPr>
            <a:r>
              <a:rPr lang="en-US" sz="3000" b="1" dirty="0">
                <a:solidFill>
                  <a:srgbClr val="FFFFFF"/>
                </a:solidFill>
                <a:latin typeface="Arial" pitchFamily="34" charset="0"/>
                <a:ea typeface="Arial" pitchFamily="34" charset="-122"/>
                <a:cs typeface="Arial" pitchFamily="34" charset="-120"/>
              </a:rPr>
              <a:t>La app B2C es una distribución. El motor es el activo.</a:t>
            </a:r>
            <a:endParaRPr lang="en-US" sz="3000" dirty="0"/>
          </a:p>
        </p:txBody>
      </p:sp>
      <p:sp>
        <p:nvSpPr>
          <p:cNvPr id="12" name="Text 10"/>
          <p:cNvSpPr txBox="1"/>
          <p:nvPr/>
        </p:nvSpPr>
        <p:spPr>
          <a:xfrm>
            <a:off x="594360" y="6473952"/>
            <a:ext cx="7315200" cy="182880"/>
          </a:xfrm>
          <a:prstGeom prst="rect">
            <a:avLst/>
          </a:prstGeom>
          <a:noFill/>
          <a:ln/>
        </p:spPr>
        <p:txBody>
          <a:bodyPr wrap="square" lIns="0" tIns="0" rIns="0" bIns="0" rtlCol="0" anchor="t"/>
          <a:lstStyle/>
          <a:p>
            <a:pPr indent="0" marL="0">
              <a:buNone/>
            </a:pPr>
            <a:r>
              <a:rPr lang="en-US" sz="850" dirty="0">
                <a:solidFill>
                  <a:srgbClr val="8391AE"/>
                </a:solidFill>
                <a:latin typeface="Arial" pitchFamily="34" charset="0"/>
                <a:ea typeface="Arial" pitchFamily="34" charset="-122"/>
                <a:cs typeface="Arial" pitchFamily="34" charset="-120"/>
              </a:rPr>
              <a:t>Zig-Zag · Business, Product &amp; Strategy Update · Septiembre 2026</a:t>
            </a:r>
            <a:endParaRPr lang="en-US" sz="850" dirty="0"/>
          </a:p>
        </p:txBody>
      </p:sp>
      <p:sp>
        <p:nvSpPr>
          <p:cNvPr id="13" name="Text 11"/>
          <p:cNvSpPr txBox="1"/>
          <p:nvPr/>
        </p:nvSpPr>
        <p:spPr>
          <a:xfrm>
            <a:off x="11048695" y="6473952"/>
            <a:ext cx="548640" cy="182880"/>
          </a:xfrm>
          <a:prstGeom prst="rect">
            <a:avLst/>
          </a:prstGeom>
          <a:noFill/>
          <a:ln/>
        </p:spPr>
        <p:txBody>
          <a:bodyPr wrap="square" lIns="0" tIns="0" rIns="0" bIns="0" rtlCol="0" anchor="t"/>
          <a:lstStyle/>
          <a:p>
            <a:pPr algn="r" indent="0" marL="0">
              <a:buNone/>
            </a:pPr>
            <a:r>
              <a:rPr lang="en-US" sz="850" dirty="0">
                <a:solidFill>
                  <a:srgbClr val="8391AE"/>
                </a:solidFill>
                <a:latin typeface="Arial" pitchFamily="34" charset="0"/>
                <a:ea typeface="Arial" pitchFamily="34" charset="-122"/>
                <a:cs typeface="Arial" pitchFamily="34" charset="-120"/>
              </a:rPr>
              <a:t>12</a:t>
            </a:r>
            <a:endParaRPr lang="en-US" sz="850" dirty="0"/>
          </a:p>
        </p:txBody>
      </p:sp>
      <p:sp>
        <p:nvSpPr>
          <p:cNvPr id="14" name="Shape 12"/>
          <p:cNvSpPr/>
          <p:nvPr/>
        </p:nvSpPr>
        <p:spPr>
          <a:xfrm>
            <a:off x="2788920" y="2834640"/>
            <a:ext cx="2286000" cy="2286000"/>
          </a:xfrm>
          <a:prstGeom prst="ellipse">
            <a:avLst/>
          </a:prstGeom>
          <a:solidFill>
            <a:srgbClr val="5BC0BE"/>
          </a:solidFill>
          <a:ln w="12700">
            <a:solidFill>
              <a:srgbClr val="5BC0BE"/>
            </a:solidFill>
            <a:prstDash val="solid"/>
          </a:ln>
        </p:spPr>
      </p:sp>
      <p:sp>
        <p:nvSpPr>
          <p:cNvPr id="15" name="Text 13"/>
          <p:cNvSpPr txBox="1"/>
          <p:nvPr/>
        </p:nvSpPr>
        <p:spPr>
          <a:xfrm>
            <a:off x="2926080" y="2834640"/>
            <a:ext cx="2011680" cy="2286000"/>
          </a:xfrm>
          <a:prstGeom prst="rect">
            <a:avLst/>
          </a:prstGeom>
          <a:noFill/>
          <a:ln/>
        </p:spPr>
        <p:txBody>
          <a:bodyPr wrap="square" lIns="0" tIns="0" rIns="0" bIns="0" rtlCol="0" anchor="ctr"/>
          <a:lstStyle/>
          <a:p>
            <a:pPr algn="ctr" indent="0" marL="0">
              <a:buNone/>
            </a:pPr>
            <a:r>
              <a:rPr lang="en-US" sz="2000" b="1" dirty="0">
                <a:solidFill>
                  <a:srgbClr val="0B132B"/>
                </a:solidFill>
                <a:latin typeface="Arial" pitchFamily="34" charset="0"/>
                <a:ea typeface="Arial" pitchFamily="34" charset="-122"/>
                <a:cs typeface="Arial" pitchFamily="34" charset="-120"/>
              </a:rPr>
              <a:t>Zig-Zag</a:t>
            </a:r>
            <a:endParaRPr lang="en-US" sz="2000" dirty="0"/>
          </a:p>
          <a:p>
            <a:pPr algn="ctr" indent="0" marL="0">
              <a:buNone/>
            </a:pPr>
            <a:r>
              <a:rPr lang="en-US" sz="1200" b="1" dirty="0">
                <a:solidFill>
                  <a:srgbClr val="0B132B"/>
                </a:solidFill>
                <a:latin typeface="Arial" pitchFamily="34" charset="0"/>
                <a:ea typeface="Arial" pitchFamily="34" charset="-122"/>
                <a:cs typeface="Arial" pitchFamily="34" charset="-120"/>
              </a:rPr>
              <a:t>Travel Decision Engine</a:t>
            </a:r>
            <a:endParaRPr lang="en-US" sz="2000" dirty="0"/>
          </a:p>
        </p:txBody>
      </p:sp>
      <p:sp>
        <p:nvSpPr>
          <p:cNvPr id="16" name="Shape 14"/>
          <p:cNvSpPr/>
          <p:nvPr/>
        </p:nvSpPr>
        <p:spPr>
          <a:xfrm flipV="1">
            <a:off x="3931920" y="2066544"/>
            <a:ext cx="914" cy="768096"/>
          </a:xfrm>
          <a:prstGeom prst="line">
            <a:avLst/>
          </a:prstGeom>
          <a:noFill/>
          <a:ln w="19050">
            <a:solidFill>
              <a:srgbClr val="34426A"/>
            </a:solidFill>
            <a:prstDash val="solid"/>
          </a:ln>
        </p:spPr>
      </p:sp>
      <p:sp>
        <p:nvSpPr>
          <p:cNvPr id="17" name="Shape 15"/>
          <p:cNvSpPr/>
          <p:nvPr/>
        </p:nvSpPr>
        <p:spPr>
          <a:xfrm>
            <a:off x="3017520" y="1591056"/>
            <a:ext cx="1828800" cy="475488"/>
          </a:xfrm>
          <a:prstGeom prst="roundRect">
            <a:avLst>
              <a:gd name="adj" fmla="val 19231"/>
            </a:avLst>
          </a:prstGeom>
          <a:solidFill>
            <a:srgbClr val="243054"/>
          </a:solidFill>
          <a:ln w="9525">
            <a:solidFill>
              <a:srgbClr val="34426A"/>
            </a:solidFill>
            <a:prstDash val="solid"/>
          </a:ln>
        </p:spPr>
      </p:sp>
      <p:sp>
        <p:nvSpPr>
          <p:cNvPr id="18" name="Text 16"/>
          <p:cNvSpPr txBox="1"/>
          <p:nvPr/>
        </p:nvSpPr>
        <p:spPr>
          <a:xfrm>
            <a:off x="3017520" y="1591056"/>
            <a:ext cx="1828800" cy="475488"/>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App B2C</a:t>
            </a:r>
            <a:endParaRPr lang="en-US" sz="1200" dirty="0"/>
          </a:p>
        </p:txBody>
      </p:sp>
      <p:sp>
        <p:nvSpPr>
          <p:cNvPr id="19" name="Shape 17"/>
          <p:cNvSpPr/>
          <p:nvPr/>
        </p:nvSpPr>
        <p:spPr>
          <a:xfrm flipV="1">
            <a:off x="4825553" y="2786091"/>
            <a:ext cx="627331" cy="478900"/>
          </a:xfrm>
          <a:prstGeom prst="line">
            <a:avLst/>
          </a:prstGeom>
          <a:noFill/>
          <a:ln w="19050">
            <a:solidFill>
              <a:srgbClr val="34426A"/>
            </a:solidFill>
            <a:prstDash val="solid"/>
          </a:ln>
        </p:spPr>
      </p:sp>
      <p:sp>
        <p:nvSpPr>
          <p:cNvPr id="20" name="Shape 18"/>
          <p:cNvSpPr/>
          <p:nvPr/>
        </p:nvSpPr>
        <p:spPr>
          <a:xfrm>
            <a:off x="5117558" y="2400116"/>
            <a:ext cx="1828800" cy="475488"/>
          </a:xfrm>
          <a:prstGeom prst="roundRect">
            <a:avLst>
              <a:gd name="adj" fmla="val 19231"/>
            </a:avLst>
          </a:prstGeom>
          <a:solidFill>
            <a:srgbClr val="243054"/>
          </a:solidFill>
          <a:ln w="9525">
            <a:solidFill>
              <a:srgbClr val="34426A"/>
            </a:solidFill>
            <a:prstDash val="solid"/>
          </a:ln>
        </p:spPr>
      </p:sp>
      <p:sp>
        <p:nvSpPr>
          <p:cNvPr id="21" name="Text 19"/>
          <p:cNvSpPr txBox="1"/>
          <p:nvPr/>
        </p:nvSpPr>
        <p:spPr>
          <a:xfrm>
            <a:off x="5117558" y="2400116"/>
            <a:ext cx="1828800" cy="475488"/>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Reservas / afiliación</a:t>
            </a:r>
            <a:endParaRPr lang="en-US" sz="1200" dirty="0"/>
          </a:p>
        </p:txBody>
      </p:sp>
      <p:sp>
        <p:nvSpPr>
          <p:cNvPr id="22" name="Shape 20"/>
          <p:cNvSpPr/>
          <p:nvPr/>
        </p:nvSpPr>
        <p:spPr>
          <a:xfrm>
            <a:off x="5046263" y="4231981"/>
            <a:ext cx="782269" cy="170917"/>
          </a:xfrm>
          <a:prstGeom prst="line">
            <a:avLst/>
          </a:prstGeom>
          <a:noFill/>
          <a:ln w="19050">
            <a:solidFill>
              <a:srgbClr val="34426A"/>
            </a:solidFill>
            <a:prstDash val="solid"/>
          </a:ln>
        </p:spPr>
      </p:sp>
      <p:sp>
        <p:nvSpPr>
          <p:cNvPr id="23" name="Shape 21"/>
          <p:cNvSpPr/>
          <p:nvPr/>
        </p:nvSpPr>
        <p:spPr>
          <a:xfrm>
            <a:off x="5636225" y="4218058"/>
            <a:ext cx="1828800" cy="475488"/>
          </a:xfrm>
          <a:prstGeom prst="roundRect">
            <a:avLst>
              <a:gd name="adj" fmla="val 19231"/>
            </a:avLst>
          </a:prstGeom>
          <a:solidFill>
            <a:srgbClr val="243054"/>
          </a:solidFill>
          <a:ln w="9525">
            <a:solidFill>
              <a:srgbClr val="34426A"/>
            </a:solidFill>
            <a:prstDash val="solid"/>
          </a:ln>
        </p:spPr>
      </p:sp>
      <p:sp>
        <p:nvSpPr>
          <p:cNvPr id="24" name="Text 22"/>
          <p:cNvSpPr txBox="1"/>
          <p:nvPr/>
        </p:nvSpPr>
        <p:spPr>
          <a:xfrm>
            <a:off x="5636225" y="4218058"/>
            <a:ext cx="1828800" cy="475488"/>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Premium / Trip Pass</a:t>
            </a:r>
            <a:endParaRPr lang="en-US" sz="1200" dirty="0"/>
          </a:p>
        </p:txBody>
      </p:sp>
      <p:sp>
        <p:nvSpPr>
          <p:cNvPr id="25" name="Shape 23"/>
          <p:cNvSpPr/>
          <p:nvPr/>
        </p:nvSpPr>
        <p:spPr>
          <a:xfrm>
            <a:off x="4427849" y="5007447"/>
            <a:ext cx="348142" cy="692031"/>
          </a:xfrm>
          <a:prstGeom prst="line">
            <a:avLst/>
          </a:prstGeom>
          <a:noFill/>
          <a:ln w="19050">
            <a:solidFill>
              <a:srgbClr val="34426A"/>
            </a:solidFill>
            <a:prstDash val="solid"/>
          </a:ln>
        </p:spPr>
      </p:sp>
      <p:sp>
        <p:nvSpPr>
          <p:cNvPr id="26" name="Shape 24"/>
          <p:cNvSpPr/>
          <p:nvPr/>
        </p:nvSpPr>
        <p:spPr>
          <a:xfrm>
            <a:off x="4182953" y="5675934"/>
            <a:ext cx="1828800" cy="475488"/>
          </a:xfrm>
          <a:prstGeom prst="roundRect">
            <a:avLst>
              <a:gd name="adj" fmla="val 19231"/>
            </a:avLst>
          </a:prstGeom>
          <a:solidFill>
            <a:srgbClr val="243054"/>
          </a:solidFill>
          <a:ln w="9525">
            <a:solidFill>
              <a:srgbClr val="34426A"/>
            </a:solidFill>
            <a:prstDash val="solid"/>
          </a:ln>
        </p:spPr>
      </p:sp>
      <p:sp>
        <p:nvSpPr>
          <p:cNvPr id="27" name="Text 25"/>
          <p:cNvSpPr txBox="1"/>
          <p:nvPr/>
        </p:nvSpPr>
        <p:spPr>
          <a:xfrm>
            <a:off x="4182953" y="5675934"/>
            <a:ext cx="1828800" cy="475488"/>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Integrado en otras apps</a:t>
            </a:r>
            <a:endParaRPr lang="en-US" sz="1200" dirty="0"/>
          </a:p>
        </p:txBody>
      </p:sp>
      <p:sp>
        <p:nvSpPr>
          <p:cNvPr id="28" name="Shape 26"/>
          <p:cNvSpPr/>
          <p:nvPr/>
        </p:nvSpPr>
        <p:spPr>
          <a:xfrm flipV="1">
            <a:off x="3087849" y="5007447"/>
            <a:ext cx="348142" cy="692031"/>
          </a:xfrm>
          <a:prstGeom prst="line">
            <a:avLst/>
          </a:prstGeom>
          <a:noFill/>
          <a:ln w="19050">
            <a:solidFill>
              <a:srgbClr val="34426A"/>
            </a:solidFill>
            <a:prstDash val="solid"/>
          </a:ln>
        </p:spPr>
      </p:sp>
      <p:sp>
        <p:nvSpPr>
          <p:cNvPr id="29" name="Shape 27"/>
          <p:cNvSpPr/>
          <p:nvPr/>
        </p:nvSpPr>
        <p:spPr>
          <a:xfrm>
            <a:off x="1852087" y="5675934"/>
            <a:ext cx="1828800" cy="475488"/>
          </a:xfrm>
          <a:prstGeom prst="roundRect">
            <a:avLst>
              <a:gd name="adj" fmla="val 19231"/>
            </a:avLst>
          </a:prstGeom>
          <a:solidFill>
            <a:srgbClr val="243054"/>
          </a:solidFill>
          <a:ln w="9525">
            <a:solidFill>
              <a:srgbClr val="34426A"/>
            </a:solidFill>
            <a:prstDash val="solid"/>
          </a:ln>
        </p:spPr>
      </p:sp>
      <p:sp>
        <p:nvSpPr>
          <p:cNvPr id="30" name="Text 28"/>
          <p:cNvSpPr txBox="1"/>
          <p:nvPr/>
        </p:nvSpPr>
        <p:spPr>
          <a:xfrm>
            <a:off x="1852087" y="5675934"/>
            <a:ext cx="1828800" cy="475488"/>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Marketplace (futuro)</a:t>
            </a:r>
            <a:endParaRPr lang="en-US" sz="1200" dirty="0"/>
          </a:p>
        </p:txBody>
      </p:sp>
      <p:sp>
        <p:nvSpPr>
          <p:cNvPr id="31" name="Shape 29"/>
          <p:cNvSpPr/>
          <p:nvPr/>
        </p:nvSpPr>
        <p:spPr>
          <a:xfrm flipV="1">
            <a:off x="2035309" y="4231981"/>
            <a:ext cx="782269" cy="170917"/>
          </a:xfrm>
          <a:prstGeom prst="line">
            <a:avLst/>
          </a:prstGeom>
          <a:noFill/>
          <a:ln w="19050">
            <a:solidFill>
              <a:srgbClr val="34426A"/>
            </a:solidFill>
            <a:prstDash val="solid"/>
          </a:ln>
        </p:spPr>
      </p:sp>
      <p:sp>
        <p:nvSpPr>
          <p:cNvPr id="32" name="Shape 30"/>
          <p:cNvSpPr/>
          <p:nvPr/>
        </p:nvSpPr>
        <p:spPr>
          <a:xfrm>
            <a:off x="398815" y="4218058"/>
            <a:ext cx="1828800" cy="475488"/>
          </a:xfrm>
          <a:prstGeom prst="roundRect">
            <a:avLst>
              <a:gd name="adj" fmla="val 19231"/>
            </a:avLst>
          </a:prstGeom>
          <a:solidFill>
            <a:srgbClr val="243054"/>
          </a:solidFill>
          <a:ln w="9525">
            <a:solidFill>
              <a:srgbClr val="34426A"/>
            </a:solidFill>
            <a:prstDash val="solid"/>
          </a:ln>
        </p:spPr>
      </p:sp>
      <p:sp>
        <p:nvSpPr>
          <p:cNvPr id="33" name="Text 31"/>
          <p:cNvSpPr txBox="1"/>
          <p:nvPr/>
        </p:nvSpPr>
        <p:spPr>
          <a:xfrm>
            <a:off x="398815" y="4218058"/>
            <a:ext cx="1828800" cy="475488"/>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White-label</a:t>
            </a:r>
            <a:endParaRPr lang="en-US" sz="1200" dirty="0"/>
          </a:p>
        </p:txBody>
      </p:sp>
      <p:sp>
        <p:nvSpPr>
          <p:cNvPr id="34" name="Shape 32"/>
          <p:cNvSpPr/>
          <p:nvPr/>
        </p:nvSpPr>
        <p:spPr>
          <a:xfrm>
            <a:off x="2410956" y="2786091"/>
            <a:ext cx="627331" cy="478900"/>
          </a:xfrm>
          <a:prstGeom prst="line">
            <a:avLst/>
          </a:prstGeom>
          <a:noFill/>
          <a:ln w="19050">
            <a:solidFill>
              <a:srgbClr val="34426A"/>
            </a:solidFill>
            <a:prstDash val="solid"/>
          </a:ln>
        </p:spPr>
      </p:sp>
      <p:sp>
        <p:nvSpPr>
          <p:cNvPr id="35" name="Shape 33"/>
          <p:cNvSpPr/>
          <p:nvPr/>
        </p:nvSpPr>
        <p:spPr>
          <a:xfrm>
            <a:off x="917482" y="2400116"/>
            <a:ext cx="1828800" cy="475488"/>
          </a:xfrm>
          <a:prstGeom prst="roundRect">
            <a:avLst>
              <a:gd name="adj" fmla="val 19231"/>
            </a:avLst>
          </a:prstGeom>
          <a:solidFill>
            <a:srgbClr val="243054"/>
          </a:solidFill>
          <a:ln w="9525">
            <a:solidFill>
              <a:srgbClr val="34426A"/>
            </a:solidFill>
            <a:prstDash val="solid"/>
          </a:ln>
        </p:spPr>
      </p:sp>
      <p:sp>
        <p:nvSpPr>
          <p:cNvPr id="36" name="Text 34"/>
          <p:cNvSpPr txBox="1"/>
          <p:nvPr/>
        </p:nvSpPr>
        <p:spPr>
          <a:xfrm>
            <a:off x="917482" y="2400116"/>
            <a:ext cx="1828800" cy="475488"/>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B2B API</a:t>
            </a:r>
            <a:endParaRPr lang="en-US" sz="1200" dirty="0"/>
          </a:p>
        </p:txBody>
      </p:sp>
      <p:sp>
        <p:nvSpPr>
          <p:cNvPr id="37" name="Text 35"/>
          <p:cNvSpPr txBox="1"/>
          <p:nvPr/>
        </p:nvSpPr>
        <p:spPr>
          <a:xfrm>
            <a:off x="7589520" y="1920240"/>
            <a:ext cx="4023360" cy="1463040"/>
          </a:xfrm>
          <a:prstGeom prst="rect">
            <a:avLst/>
          </a:prstGeom>
          <a:noFill/>
          <a:ln/>
        </p:spPr>
        <p:txBody>
          <a:bodyPr wrap="square" lIns="0" tIns="0" rIns="0" bIns="0" rtlCol="0" anchor="t"/>
          <a:lstStyle/>
          <a:p>
            <a:pPr indent="0" marL="0">
              <a:buNone/>
            </a:pPr>
            <a:r>
              <a:rPr lang="en-US" sz="1500" dirty="0">
                <a:solidFill>
                  <a:srgbClr val="C7D0E0"/>
                </a:solidFill>
                <a:latin typeface="Arial" pitchFamily="34" charset="0"/>
                <a:ea typeface="Arial" pitchFamily="34" charset="-122"/>
                <a:cs typeface="Arial" pitchFamily="34" charset="-120"/>
              </a:rPr>
              <a:t>El mismo motor puede servir a canales distintos: consumidores directos, empresas que integran la API y marcas que ofrecen la experiencia con su nombre.</a:t>
            </a:r>
            <a:endParaRPr lang="en-US" sz="1500" dirty="0"/>
          </a:p>
        </p:txBody>
      </p:sp>
      <p:sp>
        <p:nvSpPr>
          <p:cNvPr id="38" name="Shape 36"/>
          <p:cNvSpPr/>
          <p:nvPr/>
        </p:nvSpPr>
        <p:spPr>
          <a:xfrm>
            <a:off x="7589520" y="3657600"/>
            <a:ext cx="4005072" cy="2194560"/>
          </a:xfrm>
          <a:prstGeom prst="roundRect">
            <a:avLst>
              <a:gd name="adj" fmla="val 4167"/>
            </a:avLst>
          </a:prstGeom>
          <a:solidFill>
            <a:srgbClr val="243054"/>
          </a:solidFill>
          <a:ln w="9525">
            <a:solidFill>
              <a:srgbClr val="34426A"/>
            </a:solidFill>
            <a:prstDash val="solid"/>
          </a:ln>
        </p:spPr>
      </p:sp>
      <p:sp>
        <p:nvSpPr>
          <p:cNvPr id="39" name="Text 37"/>
          <p:cNvSpPr txBox="1"/>
          <p:nvPr/>
        </p:nvSpPr>
        <p:spPr>
          <a:xfrm>
            <a:off x="7818120" y="3794760"/>
            <a:ext cx="3657600" cy="320040"/>
          </a:xfrm>
          <a:prstGeom prst="rect">
            <a:avLst/>
          </a:prstGeom>
          <a:noFill/>
          <a:ln/>
        </p:spPr>
        <p:txBody>
          <a:bodyPr wrap="square" lIns="0" tIns="0" rIns="0" bIns="0" rtlCol="0" anchor="t"/>
          <a:lstStyle/>
          <a:p>
            <a:pPr indent="0" marL="0">
              <a:buNone/>
            </a:pPr>
            <a:r>
              <a:rPr lang="en-US" sz="1300" b="1" dirty="0">
                <a:solidFill>
                  <a:srgbClr val="5BC0BE"/>
                </a:solidFill>
                <a:latin typeface="Arial" pitchFamily="34" charset="0"/>
                <a:ea typeface="Arial" pitchFamily="34" charset="-122"/>
                <a:cs typeface="Arial" pitchFamily="34" charset="-120"/>
              </a:rPr>
              <a:t>Principio de neutralidad</a:t>
            </a:r>
            <a:endParaRPr lang="en-US" sz="1300" dirty="0"/>
          </a:p>
        </p:txBody>
      </p:sp>
      <p:sp>
        <p:nvSpPr>
          <p:cNvPr id="40" name="Text 38"/>
          <p:cNvSpPr txBox="1"/>
          <p:nvPr/>
        </p:nvSpPr>
        <p:spPr>
          <a:xfrm>
            <a:off x="7818120" y="4160520"/>
            <a:ext cx="3611880" cy="1600200"/>
          </a:xfrm>
          <a:prstGeom prst="rect">
            <a:avLst/>
          </a:prstGeom>
          <a:noFill/>
          <a:ln/>
        </p:spPr>
        <p:txBody>
          <a:bodyPr wrap="square" lIns="0" tIns="0" rIns="0" bIns="0" rtlCol="0" anchor="t"/>
          <a:lstStyle/>
          <a:p>
            <a:pPr indent="0" marL="0">
              <a:buNone/>
            </a:pPr>
            <a:r>
              <a:rPr lang="en-US" sz="1250" dirty="0">
                <a:solidFill>
                  <a:srgbClr val="E4E9F2"/>
                </a:solidFill>
                <a:latin typeface="Arial" pitchFamily="34" charset="0"/>
                <a:ea typeface="Arial" pitchFamily="34" charset="-122"/>
                <a:cs typeface="Arial" pitchFamily="34" charset="-120"/>
              </a:rPr>
              <a:t>La selección prioriza lo que mejor encaja con el viajero. La monetización se adjunta después de decidir qué experiencia es adecuada. Si el motor favorece lo que paga más comisión, se erosiona la confianza.</a:t>
            </a:r>
            <a:endParaRPr lang="en-US" sz="12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1E8"/>
        </a:solidFill>
      </p:bgPr>
    </p:bg>
    <p:spTree>
      <p:nvGrpSpPr>
        <p:cNvPr id="1" name=""/>
        <p:cNvGrpSpPr/>
        <p:nvPr/>
      </p:nvGrpSpPr>
      <p:grpSpPr>
        <a:xfrm>
          <a:off x="0" y="0"/>
          <a:ext cx="0" cy="0"/>
          <a:chOff x="0" y="0"/>
          <a:chExt cx="0" cy="0"/>
        </a:xfrm>
      </p:grpSpPr>
      <p:sp>
        <p:nvSpPr>
          <p:cNvPr id="2" name="Shape 0"/>
          <p:cNvSpPr/>
          <p:nvPr/>
        </p:nvSpPr>
        <p:spPr>
          <a:xfrm flipV="1">
            <a:off x="594360" y="384048"/>
            <a:ext cx="120701" cy="98755"/>
          </a:xfrm>
          <a:prstGeom prst="line">
            <a:avLst/>
          </a:prstGeom>
          <a:noFill/>
          <a:ln w="22225">
            <a:solidFill>
              <a:srgbClr val="5BC0BE"/>
            </a:solidFill>
            <a:prstDash val="solid"/>
          </a:ln>
        </p:spPr>
      </p:sp>
      <p:sp>
        <p:nvSpPr>
          <p:cNvPr id="3" name="Shape 1"/>
          <p:cNvSpPr/>
          <p:nvPr/>
        </p:nvSpPr>
        <p:spPr>
          <a:xfrm>
            <a:off x="715061" y="384048"/>
            <a:ext cx="120701" cy="98755"/>
          </a:xfrm>
          <a:prstGeom prst="line">
            <a:avLst/>
          </a:prstGeom>
          <a:noFill/>
          <a:ln w="22225">
            <a:solidFill>
              <a:srgbClr val="5BC0BE"/>
            </a:solidFill>
            <a:prstDash val="solid"/>
          </a:ln>
        </p:spPr>
      </p:sp>
      <p:sp>
        <p:nvSpPr>
          <p:cNvPr id="4" name="Shape 2"/>
          <p:cNvSpPr/>
          <p:nvPr/>
        </p:nvSpPr>
        <p:spPr>
          <a:xfrm flipV="1">
            <a:off x="835762" y="384048"/>
            <a:ext cx="120701" cy="98755"/>
          </a:xfrm>
          <a:prstGeom prst="line">
            <a:avLst/>
          </a:prstGeom>
          <a:noFill/>
          <a:ln w="22225">
            <a:solidFill>
              <a:srgbClr val="5BC0BE"/>
            </a:solidFill>
            <a:prstDash val="solid"/>
          </a:ln>
        </p:spPr>
      </p:sp>
      <p:sp>
        <p:nvSpPr>
          <p:cNvPr id="5" name="Shape 3"/>
          <p:cNvSpPr/>
          <p:nvPr/>
        </p:nvSpPr>
        <p:spPr>
          <a:xfrm>
            <a:off x="566928" y="455371"/>
            <a:ext cx="54864" cy="54864"/>
          </a:xfrm>
          <a:prstGeom prst="ellipse">
            <a:avLst/>
          </a:prstGeom>
          <a:solidFill>
            <a:srgbClr val="5BC0BE"/>
          </a:solidFill>
          <a:ln w="12700">
            <a:solidFill>
              <a:srgbClr val="5BC0BE"/>
            </a:solidFill>
            <a:prstDash val="solid"/>
          </a:ln>
        </p:spPr>
      </p:sp>
      <p:sp>
        <p:nvSpPr>
          <p:cNvPr id="6" name="Shape 4"/>
          <p:cNvSpPr/>
          <p:nvPr/>
        </p:nvSpPr>
        <p:spPr>
          <a:xfrm>
            <a:off x="687629" y="356616"/>
            <a:ext cx="54864" cy="54864"/>
          </a:xfrm>
          <a:prstGeom prst="ellipse">
            <a:avLst/>
          </a:prstGeom>
          <a:solidFill>
            <a:srgbClr val="5BC0BE"/>
          </a:solidFill>
          <a:ln w="12700">
            <a:solidFill>
              <a:srgbClr val="5BC0BE"/>
            </a:solidFill>
            <a:prstDash val="solid"/>
          </a:ln>
        </p:spPr>
      </p:sp>
      <p:sp>
        <p:nvSpPr>
          <p:cNvPr id="7" name="Shape 5"/>
          <p:cNvSpPr/>
          <p:nvPr/>
        </p:nvSpPr>
        <p:spPr>
          <a:xfrm>
            <a:off x="808330" y="455371"/>
            <a:ext cx="54864" cy="54864"/>
          </a:xfrm>
          <a:prstGeom prst="ellipse">
            <a:avLst/>
          </a:prstGeom>
          <a:solidFill>
            <a:srgbClr val="5BC0BE"/>
          </a:solidFill>
          <a:ln w="12700">
            <a:solidFill>
              <a:srgbClr val="5BC0BE"/>
            </a:solidFill>
            <a:prstDash val="solid"/>
          </a:ln>
        </p:spPr>
      </p:sp>
      <p:sp>
        <p:nvSpPr>
          <p:cNvPr id="8" name="Shape 6"/>
          <p:cNvSpPr/>
          <p:nvPr/>
        </p:nvSpPr>
        <p:spPr>
          <a:xfrm>
            <a:off x="929030" y="356616"/>
            <a:ext cx="54864" cy="54864"/>
          </a:xfrm>
          <a:prstGeom prst="ellipse">
            <a:avLst/>
          </a:prstGeom>
          <a:solidFill>
            <a:srgbClr val="5BC0BE"/>
          </a:solidFill>
          <a:ln w="12700">
            <a:solidFill>
              <a:srgbClr val="5BC0BE"/>
            </a:solidFill>
            <a:prstDash val="solid"/>
          </a:ln>
        </p:spPr>
      </p:sp>
      <p:sp>
        <p:nvSpPr>
          <p:cNvPr id="9" name="Shape 7"/>
          <p:cNvSpPr/>
          <p:nvPr/>
        </p:nvSpPr>
        <p:spPr>
          <a:xfrm>
            <a:off x="1143000" y="329184"/>
            <a:ext cx="1874520" cy="274320"/>
          </a:xfrm>
          <a:prstGeom prst="roundRect">
            <a:avLst>
              <a:gd name="adj" fmla="val 50000"/>
            </a:avLst>
          </a:prstGeom>
          <a:solidFill>
            <a:srgbClr val="F5E6C4"/>
          </a:solidFill>
          <a:ln w="12700">
            <a:solidFill>
              <a:srgbClr val="F5E6C4"/>
            </a:solidFill>
            <a:prstDash val="solid"/>
          </a:ln>
        </p:spPr>
      </p:sp>
      <p:sp>
        <p:nvSpPr>
          <p:cNvPr id="10" name="Text 8"/>
          <p:cNvSpPr txBox="1"/>
          <p:nvPr/>
        </p:nvSpPr>
        <p:spPr>
          <a:xfrm>
            <a:off x="1143000" y="329184"/>
            <a:ext cx="1874520" cy="274320"/>
          </a:xfrm>
          <a:prstGeom prst="rect">
            <a:avLst/>
          </a:prstGeom>
          <a:noFill/>
          <a:ln/>
        </p:spPr>
        <p:txBody>
          <a:bodyPr wrap="square" lIns="0" tIns="0" rIns="0" bIns="0" rtlCol="0" anchor="ctr"/>
          <a:lstStyle/>
          <a:p>
            <a:pPr algn="ctr" indent="0" marL="0">
              <a:buNone/>
            </a:pPr>
            <a:r>
              <a:rPr lang="en-US" sz="900" b="1" spc="150" kern="0" dirty="0">
                <a:solidFill>
                  <a:srgbClr val="8A5A06"/>
                </a:solidFill>
                <a:latin typeface="Arial" pitchFamily="34" charset="0"/>
                <a:ea typeface="Arial" pitchFamily="34" charset="-122"/>
                <a:cs typeface="Arial" pitchFamily="34" charset="-120"/>
              </a:rPr>
              <a:t>HIPÓTESIS DE NEGOCIO</a:t>
            </a:r>
            <a:endParaRPr lang="en-US" sz="900" dirty="0"/>
          </a:p>
        </p:txBody>
      </p:sp>
      <p:sp>
        <p:nvSpPr>
          <p:cNvPr id="11" name="Text 9"/>
          <p:cNvSpPr txBox="1"/>
          <p:nvPr/>
        </p:nvSpPr>
        <p:spPr>
          <a:xfrm>
            <a:off x="594360" y="777240"/>
            <a:ext cx="11002975" cy="731520"/>
          </a:xfrm>
          <a:prstGeom prst="rect">
            <a:avLst/>
          </a:prstGeom>
          <a:noFill/>
          <a:ln/>
        </p:spPr>
        <p:txBody>
          <a:bodyPr wrap="square" lIns="0" tIns="0" rIns="0" bIns="0" rtlCol="0" anchor="t"/>
          <a:lstStyle/>
          <a:p>
            <a:pPr indent="0" marL="0">
              <a:buNone/>
            </a:pPr>
            <a:r>
              <a:rPr lang="en-US" sz="3000" b="1" dirty="0">
                <a:solidFill>
                  <a:srgbClr val="0B132B"/>
                </a:solidFill>
                <a:latin typeface="Arial" pitchFamily="34" charset="0"/>
                <a:ea typeface="Arial" pitchFamily="34" charset="-122"/>
                <a:cs typeface="Arial" pitchFamily="34" charset="-120"/>
              </a:rPr>
              <a:t>Opciones de modelo de negocio</a:t>
            </a:r>
            <a:endParaRPr lang="en-US" sz="3000" dirty="0"/>
          </a:p>
        </p:txBody>
      </p:sp>
      <p:sp>
        <p:nvSpPr>
          <p:cNvPr id="12" name="Text 10"/>
          <p:cNvSpPr txBox="1"/>
          <p:nvPr/>
        </p:nvSpPr>
        <p:spPr>
          <a:xfrm>
            <a:off x="594360" y="6473952"/>
            <a:ext cx="7315200" cy="182880"/>
          </a:xfrm>
          <a:prstGeom prst="rect">
            <a:avLst/>
          </a:prstGeom>
          <a:noFill/>
          <a:ln/>
        </p:spPr>
        <p:txBody>
          <a:bodyPr wrap="square" lIns="0" tIns="0" rIns="0" bIns="0" rtlCol="0" anchor="t"/>
          <a:lstStyle/>
          <a:p>
            <a:pPr indent="0" marL="0">
              <a:buNone/>
            </a:pPr>
            <a:r>
              <a:rPr lang="en-US" sz="850" dirty="0">
                <a:solidFill>
                  <a:srgbClr val="6B7385"/>
                </a:solidFill>
                <a:latin typeface="Arial" pitchFamily="34" charset="0"/>
                <a:ea typeface="Arial" pitchFamily="34" charset="-122"/>
                <a:cs typeface="Arial" pitchFamily="34" charset="-120"/>
              </a:rPr>
              <a:t>Zig-Zag · Business, Product &amp; Strategy Update · Septiembre 2026</a:t>
            </a:r>
            <a:endParaRPr lang="en-US" sz="850" dirty="0"/>
          </a:p>
        </p:txBody>
      </p:sp>
      <p:sp>
        <p:nvSpPr>
          <p:cNvPr id="13" name="Text 11"/>
          <p:cNvSpPr txBox="1"/>
          <p:nvPr/>
        </p:nvSpPr>
        <p:spPr>
          <a:xfrm>
            <a:off x="11048695" y="6473952"/>
            <a:ext cx="548640" cy="182880"/>
          </a:xfrm>
          <a:prstGeom prst="rect">
            <a:avLst/>
          </a:prstGeom>
          <a:noFill/>
          <a:ln/>
        </p:spPr>
        <p:txBody>
          <a:bodyPr wrap="square" lIns="0" tIns="0" rIns="0" bIns="0" rtlCol="0" anchor="t"/>
          <a:lstStyle/>
          <a:p>
            <a:pPr algn="r" indent="0" marL="0">
              <a:buNone/>
            </a:pPr>
            <a:r>
              <a:rPr lang="en-US" sz="850" dirty="0">
                <a:solidFill>
                  <a:srgbClr val="6B7385"/>
                </a:solidFill>
                <a:latin typeface="Arial" pitchFamily="34" charset="0"/>
                <a:ea typeface="Arial" pitchFamily="34" charset="-122"/>
                <a:cs typeface="Arial" pitchFamily="34" charset="-120"/>
              </a:rPr>
              <a:t>13</a:t>
            </a:r>
            <a:endParaRPr lang="en-US" sz="850" dirty="0"/>
          </a:p>
        </p:txBody>
      </p:sp>
      <p:sp>
        <p:nvSpPr>
          <p:cNvPr id="14" name="Shape 12"/>
          <p:cNvSpPr/>
          <p:nvPr/>
        </p:nvSpPr>
        <p:spPr>
          <a:xfrm>
            <a:off x="594360" y="1645920"/>
            <a:ext cx="2068921" cy="685800"/>
          </a:xfrm>
          <a:prstGeom prst="roundRect">
            <a:avLst>
              <a:gd name="adj" fmla="val 10667"/>
            </a:avLst>
          </a:prstGeom>
          <a:solidFill>
            <a:srgbClr val="0B132B"/>
          </a:solidFill>
          <a:ln w="9525">
            <a:solidFill>
              <a:srgbClr val="0B132B"/>
            </a:solidFill>
            <a:prstDash val="solid"/>
          </a:ln>
        </p:spPr>
      </p:sp>
      <p:sp>
        <p:nvSpPr>
          <p:cNvPr id="15" name="Text 13"/>
          <p:cNvSpPr txBox="1"/>
          <p:nvPr/>
        </p:nvSpPr>
        <p:spPr>
          <a:xfrm>
            <a:off x="731520" y="1645920"/>
            <a:ext cx="1794601" cy="685800"/>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B2C gratis + reservas</a:t>
            </a:r>
            <a:endParaRPr lang="en-US" sz="1300" dirty="0"/>
          </a:p>
        </p:txBody>
      </p:sp>
      <p:sp>
        <p:nvSpPr>
          <p:cNvPr id="16" name="Shape 14"/>
          <p:cNvSpPr/>
          <p:nvPr/>
        </p:nvSpPr>
        <p:spPr>
          <a:xfrm>
            <a:off x="594360" y="2423160"/>
            <a:ext cx="2068921" cy="3886200"/>
          </a:xfrm>
          <a:prstGeom prst="roundRect">
            <a:avLst>
              <a:gd name="adj" fmla="val 3536"/>
            </a:avLst>
          </a:prstGeom>
          <a:solidFill>
            <a:srgbClr val="FFFFFF"/>
          </a:solidFill>
          <a:ln w="9525">
            <a:solidFill>
              <a:srgbClr val="D8D2C4"/>
            </a:solidFill>
            <a:prstDash val="solid"/>
          </a:ln>
        </p:spPr>
      </p:sp>
      <p:sp>
        <p:nvSpPr>
          <p:cNvPr id="17" name="Text 15"/>
          <p:cNvSpPr txBox="1"/>
          <p:nvPr/>
        </p:nvSpPr>
        <p:spPr>
          <a:xfrm>
            <a:off x="731520" y="2560320"/>
            <a:ext cx="1794601" cy="201168"/>
          </a:xfrm>
          <a:prstGeom prst="rect">
            <a:avLst/>
          </a:prstGeom>
          <a:noFill/>
          <a:ln/>
        </p:spPr>
        <p:txBody>
          <a:bodyPr wrap="square" lIns="0" tIns="0" rIns="0" bIns="0" rtlCol="0" anchor="t"/>
          <a:lstStyle/>
          <a:p>
            <a:pPr indent="0" marL="0">
              <a:buNone/>
            </a:pPr>
            <a:r>
              <a:rPr lang="en-US" sz="850" b="1" spc="100" kern="0" dirty="0">
                <a:solidFill>
                  <a:srgbClr val="6B7385"/>
                </a:solidFill>
                <a:latin typeface="Arial" pitchFamily="34" charset="0"/>
                <a:ea typeface="Arial" pitchFamily="34" charset="-122"/>
                <a:cs typeface="Arial" pitchFamily="34" charset="-120"/>
              </a:rPr>
              <a:t>ROL</a:t>
            </a:r>
            <a:endParaRPr lang="en-US" sz="850" dirty="0"/>
          </a:p>
        </p:txBody>
      </p:sp>
      <p:sp>
        <p:nvSpPr>
          <p:cNvPr id="18" name="Text 16"/>
          <p:cNvSpPr txBox="1"/>
          <p:nvPr/>
        </p:nvSpPr>
        <p:spPr>
          <a:xfrm>
            <a:off x="731520" y="2770632"/>
            <a:ext cx="1794601" cy="713232"/>
          </a:xfrm>
          <a:prstGeom prst="rect">
            <a:avLst/>
          </a:prstGeom>
          <a:noFill/>
          <a:ln/>
        </p:spPr>
        <p:txBody>
          <a:bodyPr wrap="square" lIns="0" tIns="0" rIns="0" bIns="0" rtlCol="0" anchor="t"/>
          <a:lstStyle/>
          <a:p>
            <a:pPr indent="0" marL="0">
              <a:buNone/>
            </a:pPr>
            <a:r>
              <a:rPr lang="en-US" sz="1050" dirty="0">
                <a:solidFill>
                  <a:srgbClr val="0B132B"/>
                </a:solidFill>
                <a:latin typeface="Arial" pitchFamily="34" charset="0"/>
                <a:ea typeface="Arial" pitchFamily="34" charset="-122"/>
                <a:cs typeface="Arial" pitchFamily="34" charset="-120"/>
              </a:rPr>
              <a:t>Adquisición, aprendizaje de uso, crecimiento del catálogo, marca</a:t>
            </a:r>
            <a:endParaRPr lang="en-US" sz="1050" dirty="0"/>
          </a:p>
        </p:txBody>
      </p:sp>
      <p:sp>
        <p:nvSpPr>
          <p:cNvPr id="19" name="Text 17"/>
          <p:cNvSpPr txBox="1"/>
          <p:nvPr/>
        </p:nvSpPr>
        <p:spPr>
          <a:xfrm>
            <a:off x="731520" y="3511296"/>
            <a:ext cx="1794601" cy="201168"/>
          </a:xfrm>
          <a:prstGeom prst="rect">
            <a:avLst/>
          </a:prstGeom>
          <a:noFill/>
          <a:ln/>
        </p:spPr>
        <p:txBody>
          <a:bodyPr wrap="square" lIns="0" tIns="0" rIns="0" bIns="0" rtlCol="0" anchor="t"/>
          <a:lstStyle/>
          <a:p>
            <a:pPr indent="0" marL="0">
              <a:buNone/>
            </a:pPr>
            <a:r>
              <a:rPr lang="en-US" sz="850" b="1" spc="100" kern="0" dirty="0">
                <a:solidFill>
                  <a:srgbClr val="6B7385"/>
                </a:solidFill>
                <a:latin typeface="Arial" pitchFamily="34" charset="0"/>
                <a:ea typeface="Arial" pitchFamily="34" charset="-122"/>
                <a:cs typeface="Arial" pitchFamily="34" charset="-120"/>
              </a:rPr>
              <a:t>COBRO</a:t>
            </a:r>
            <a:endParaRPr lang="en-US" sz="850" dirty="0"/>
          </a:p>
        </p:txBody>
      </p:sp>
      <p:sp>
        <p:nvSpPr>
          <p:cNvPr id="20" name="Text 18"/>
          <p:cNvSpPr txBox="1"/>
          <p:nvPr/>
        </p:nvSpPr>
        <p:spPr>
          <a:xfrm>
            <a:off x="731520" y="3721608"/>
            <a:ext cx="1794601" cy="713232"/>
          </a:xfrm>
          <a:prstGeom prst="rect">
            <a:avLst/>
          </a:prstGeom>
          <a:noFill/>
          <a:ln/>
        </p:spPr>
        <p:txBody>
          <a:bodyPr wrap="square" lIns="0" tIns="0" rIns="0" bIns="0" rtlCol="0" anchor="t"/>
          <a:lstStyle/>
          <a:p>
            <a:pPr indent="0" marL="0">
              <a:buNone/>
            </a:pPr>
            <a:r>
              <a:rPr lang="en-US" sz="1050" dirty="0">
                <a:solidFill>
                  <a:srgbClr val="0B132B"/>
                </a:solidFill>
                <a:latin typeface="Arial" pitchFamily="34" charset="0"/>
                <a:ea typeface="Arial" pitchFamily="34" charset="-122"/>
                <a:cs typeface="Arial" pitchFamily="34" charset="-120"/>
              </a:rPr>
              <a:t>Comisión por reserva: actividades, hoteles, transporte, experiencias</a:t>
            </a:r>
            <a:endParaRPr lang="en-US" sz="1050" dirty="0"/>
          </a:p>
        </p:txBody>
      </p:sp>
      <p:sp>
        <p:nvSpPr>
          <p:cNvPr id="21" name="Text 19"/>
          <p:cNvSpPr txBox="1"/>
          <p:nvPr/>
        </p:nvSpPr>
        <p:spPr>
          <a:xfrm>
            <a:off x="731520" y="4462272"/>
            <a:ext cx="1794601" cy="201168"/>
          </a:xfrm>
          <a:prstGeom prst="rect">
            <a:avLst/>
          </a:prstGeom>
          <a:noFill/>
          <a:ln/>
        </p:spPr>
        <p:txBody>
          <a:bodyPr wrap="square" lIns="0" tIns="0" rIns="0" bIns="0" rtlCol="0" anchor="t"/>
          <a:lstStyle/>
          <a:p>
            <a:pPr indent="0" marL="0">
              <a:buNone/>
            </a:pPr>
            <a:r>
              <a:rPr lang="en-US" sz="850" b="1" spc="100" kern="0" dirty="0">
                <a:solidFill>
                  <a:srgbClr val="6B7385"/>
                </a:solidFill>
                <a:latin typeface="Arial" pitchFamily="34" charset="0"/>
                <a:ea typeface="Arial" pitchFamily="34" charset="-122"/>
                <a:cs typeface="Arial" pitchFamily="34" charset="-120"/>
              </a:rPr>
              <a:t>FORTALEZA</a:t>
            </a:r>
            <a:endParaRPr lang="en-US" sz="850" dirty="0"/>
          </a:p>
        </p:txBody>
      </p:sp>
      <p:sp>
        <p:nvSpPr>
          <p:cNvPr id="22" name="Text 20"/>
          <p:cNvSpPr txBox="1"/>
          <p:nvPr/>
        </p:nvSpPr>
        <p:spPr>
          <a:xfrm>
            <a:off x="731520" y="4672584"/>
            <a:ext cx="1794601" cy="713232"/>
          </a:xfrm>
          <a:prstGeom prst="rect">
            <a:avLst/>
          </a:prstGeom>
          <a:noFill/>
          <a:ln/>
        </p:spPr>
        <p:txBody>
          <a:bodyPr wrap="square" lIns="0" tIns="0" rIns="0" bIns="0" rtlCol="0" anchor="t"/>
          <a:lstStyle/>
          <a:p>
            <a:pPr indent="0" marL="0">
              <a:buNone/>
            </a:pPr>
            <a:r>
              <a:rPr lang="en-US" sz="1050" dirty="0">
                <a:solidFill>
                  <a:srgbClr val="0B132B"/>
                </a:solidFill>
                <a:latin typeface="Arial" pitchFamily="34" charset="0"/>
                <a:ea typeface="Arial" pitchFamily="34" charset="-122"/>
                <a:cs typeface="Arial" pitchFamily="34" charset="-120"/>
              </a:rPr>
              <a:t>Feedback directo; ingreso alineado con el éxito del viajero</a:t>
            </a:r>
            <a:endParaRPr lang="en-US" sz="1050" dirty="0"/>
          </a:p>
        </p:txBody>
      </p:sp>
      <p:sp>
        <p:nvSpPr>
          <p:cNvPr id="23" name="Text 21"/>
          <p:cNvSpPr txBox="1"/>
          <p:nvPr/>
        </p:nvSpPr>
        <p:spPr>
          <a:xfrm>
            <a:off x="731520" y="5413248"/>
            <a:ext cx="1794601" cy="201168"/>
          </a:xfrm>
          <a:prstGeom prst="rect">
            <a:avLst/>
          </a:prstGeom>
          <a:noFill/>
          <a:ln/>
        </p:spPr>
        <p:txBody>
          <a:bodyPr wrap="square" lIns="0" tIns="0" rIns="0" bIns="0" rtlCol="0" anchor="t"/>
          <a:lstStyle/>
          <a:p>
            <a:pPr indent="0" marL="0">
              <a:buNone/>
            </a:pPr>
            <a:r>
              <a:rPr lang="en-US" sz="850" b="1" spc="100" kern="0" dirty="0">
                <a:solidFill>
                  <a:srgbClr val="6B7385"/>
                </a:solidFill>
                <a:latin typeface="Arial" pitchFamily="34" charset="0"/>
                <a:ea typeface="Arial" pitchFamily="34" charset="-122"/>
                <a:cs typeface="Arial" pitchFamily="34" charset="-120"/>
              </a:rPr>
              <a:t>DESAFÍO</a:t>
            </a:r>
            <a:endParaRPr lang="en-US" sz="850" dirty="0"/>
          </a:p>
        </p:txBody>
      </p:sp>
      <p:sp>
        <p:nvSpPr>
          <p:cNvPr id="24" name="Text 22"/>
          <p:cNvSpPr txBox="1"/>
          <p:nvPr/>
        </p:nvSpPr>
        <p:spPr>
          <a:xfrm>
            <a:off x="731520" y="5623560"/>
            <a:ext cx="1794601" cy="713232"/>
          </a:xfrm>
          <a:prstGeom prst="rect">
            <a:avLst/>
          </a:prstGeom>
          <a:noFill/>
          <a:ln/>
        </p:spPr>
        <p:txBody>
          <a:bodyPr wrap="square" lIns="0" tIns="0" rIns="0" bIns="0" rtlCol="0" anchor="t"/>
          <a:lstStyle/>
          <a:p>
            <a:pPr indent="0" marL="0">
              <a:buNone/>
            </a:pPr>
            <a:r>
              <a:rPr lang="en-US" sz="1050" dirty="0">
                <a:solidFill>
                  <a:srgbClr val="0B132B"/>
                </a:solidFill>
                <a:latin typeface="Arial" pitchFamily="34" charset="0"/>
                <a:ea typeface="Arial" pitchFamily="34" charset="-122"/>
                <a:cs typeface="Arial" pitchFamily="34" charset="-120"/>
              </a:rPr>
              <a:t>Costo de adquisición; dependencia de partners y atribución</a:t>
            </a:r>
            <a:endParaRPr lang="en-US" sz="1050" dirty="0"/>
          </a:p>
        </p:txBody>
      </p:sp>
      <p:sp>
        <p:nvSpPr>
          <p:cNvPr id="25" name="Shape 23"/>
          <p:cNvSpPr/>
          <p:nvPr/>
        </p:nvSpPr>
        <p:spPr>
          <a:xfrm>
            <a:off x="2827873" y="1645920"/>
            <a:ext cx="2068921" cy="685800"/>
          </a:xfrm>
          <a:prstGeom prst="roundRect">
            <a:avLst>
              <a:gd name="adj" fmla="val 10667"/>
            </a:avLst>
          </a:prstGeom>
          <a:solidFill>
            <a:srgbClr val="3A506B"/>
          </a:solidFill>
          <a:ln w="9525">
            <a:solidFill>
              <a:srgbClr val="3A506B"/>
            </a:solidFill>
            <a:prstDash val="solid"/>
          </a:ln>
        </p:spPr>
      </p:sp>
      <p:sp>
        <p:nvSpPr>
          <p:cNvPr id="26" name="Text 24"/>
          <p:cNvSpPr txBox="1"/>
          <p:nvPr/>
        </p:nvSpPr>
        <p:spPr>
          <a:xfrm>
            <a:off x="2965033" y="1645920"/>
            <a:ext cx="1794601" cy="685800"/>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B2C Premium / Trip Pass</a:t>
            </a:r>
            <a:endParaRPr lang="en-US" sz="1300" dirty="0"/>
          </a:p>
        </p:txBody>
      </p:sp>
      <p:sp>
        <p:nvSpPr>
          <p:cNvPr id="27" name="Shape 25"/>
          <p:cNvSpPr/>
          <p:nvPr/>
        </p:nvSpPr>
        <p:spPr>
          <a:xfrm>
            <a:off x="2827873" y="2423160"/>
            <a:ext cx="2068921" cy="3886200"/>
          </a:xfrm>
          <a:prstGeom prst="roundRect">
            <a:avLst>
              <a:gd name="adj" fmla="val 3536"/>
            </a:avLst>
          </a:prstGeom>
          <a:solidFill>
            <a:srgbClr val="FFFFFF"/>
          </a:solidFill>
          <a:ln w="9525">
            <a:solidFill>
              <a:srgbClr val="D8D2C4"/>
            </a:solidFill>
            <a:prstDash val="solid"/>
          </a:ln>
        </p:spPr>
      </p:sp>
      <p:sp>
        <p:nvSpPr>
          <p:cNvPr id="28" name="Text 26"/>
          <p:cNvSpPr txBox="1"/>
          <p:nvPr/>
        </p:nvSpPr>
        <p:spPr>
          <a:xfrm>
            <a:off x="2965033" y="2560320"/>
            <a:ext cx="1794601" cy="201168"/>
          </a:xfrm>
          <a:prstGeom prst="rect">
            <a:avLst/>
          </a:prstGeom>
          <a:noFill/>
          <a:ln/>
        </p:spPr>
        <p:txBody>
          <a:bodyPr wrap="square" lIns="0" tIns="0" rIns="0" bIns="0" rtlCol="0" anchor="t"/>
          <a:lstStyle/>
          <a:p>
            <a:pPr indent="0" marL="0">
              <a:buNone/>
            </a:pPr>
            <a:r>
              <a:rPr lang="en-US" sz="850" b="1" spc="100" kern="0" dirty="0">
                <a:solidFill>
                  <a:srgbClr val="6B7385"/>
                </a:solidFill>
                <a:latin typeface="Arial" pitchFamily="34" charset="0"/>
                <a:ea typeface="Arial" pitchFamily="34" charset="-122"/>
                <a:cs typeface="Arial" pitchFamily="34" charset="-120"/>
              </a:rPr>
              <a:t>OFERTA</a:t>
            </a:r>
            <a:endParaRPr lang="en-US" sz="850" dirty="0"/>
          </a:p>
        </p:txBody>
      </p:sp>
      <p:sp>
        <p:nvSpPr>
          <p:cNvPr id="29" name="Text 27"/>
          <p:cNvSpPr txBox="1"/>
          <p:nvPr/>
        </p:nvSpPr>
        <p:spPr>
          <a:xfrm>
            <a:off x="2965033" y="2770632"/>
            <a:ext cx="1794601" cy="713232"/>
          </a:xfrm>
          <a:prstGeom prst="rect">
            <a:avLst/>
          </a:prstGeom>
          <a:noFill/>
          <a:ln/>
        </p:spPr>
        <p:txBody>
          <a:bodyPr wrap="square" lIns="0" tIns="0" rIns="0" bIns="0" rtlCol="0" anchor="t"/>
          <a:lstStyle/>
          <a:p>
            <a:pPr indent="0" marL="0">
              <a:buNone/>
            </a:pPr>
            <a:r>
              <a:rPr lang="en-US" sz="1050" dirty="0">
                <a:solidFill>
                  <a:srgbClr val="0B132B"/>
                </a:solidFill>
                <a:latin typeface="Arial" pitchFamily="34" charset="0"/>
                <a:ea typeface="Arial" pitchFamily="34" charset="-122"/>
                <a:cs typeface="Arial" pitchFamily="34" charset="-120"/>
              </a:rPr>
              <a:t>Replanificación, alertas, colaboración, offline, Plan B</a:t>
            </a:r>
            <a:endParaRPr lang="en-US" sz="1050" dirty="0"/>
          </a:p>
        </p:txBody>
      </p:sp>
      <p:sp>
        <p:nvSpPr>
          <p:cNvPr id="30" name="Text 28"/>
          <p:cNvSpPr txBox="1"/>
          <p:nvPr/>
        </p:nvSpPr>
        <p:spPr>
          <a:xfrm>
            <a:off x="2965033" y="3511296"/>
            <a:ext cx="1794601" cy="201168"/>
          </a:xfrm>
          <a:prstGeom prst="rect">
            <a:avLst/>
          </a:prstGeom>
          <a:noFill/>
          <a:ln/>
        </p:spPr>
        <p:txBody>
          <a:bodyPr wrap="square" lIns="0" tIns="0" rIns="0" bIns="0" rtlCol="0" anchor="t"/>
          <a:lstStyle/>
          <a:p>
            <a:pPr indent="0" marL="0">
              <a:buNone/>
            </a:pPr>
            <a:r>
              <a:rPr lang="en-US" sz="850" b="1" spc="100" kern="0" dirty="0">
                <a:solidFill>
                  <a:srgbClr val="6B7385"/>
                </a:solidFill>
                <a:latin typeface="Arial" pitchFamily="34" charset="0"/>
                <a:ea typeface="Arial" pitchFamily="34" charset="-122"/>
                <a:cs typeface="Arial" pitchFamily="34" charset="-120"/>
              </a:rPr>
              <a:t>COBRO</a:t>
            </a:r>
            <a:endParaRPr lang="en-US" sz="850" dirty="0"/>
          </a:p>
        </p:txBody>
      </p:sp>
      <p:sp>
        <p:nvSpPr>
          <p:cNvPr id="31" name="Text 29"/>
          <p:cNvSpPr txBox="1"/>
          <p:nvPr/>
        </p:nvSpPr>
        <p:spPr>
          <a:xfrm>
            <a:off x="2965033" y="3721608"/>
            <a:ext cx="1794601" cy="713232"/>
          </a:xfrm>
          <a:prstGeom prst="rect">
            <a:avLst/>
          </a:prstGeom>
          <a:noFill/>
          <a:ln/>
        </p:spPr>
        <p:txBody>
          <a:bodyPr wrap="square" lIns="0" tIns="0" rIns="0" bIns="0" rtlCol="0" anchor="t"/>
          <a:lstStyle/>
          <a:p>
            <a:pPr indent="0" marL="0">
              <a:buNone/>
            </a:pPr>
            <a:r>
              <a:rPr lang="en-US" sz="1050" dirty="0">
                <a:solidFill>
                  <a:srgbClr val="0B132B"/>
                </a:solidFill>
                <a:latin typeface="Arial" pitchFamily="34" charset="0"/>
                <a:ea typeface="Arial" pitchFamily="34" charset="-122"/>
                <a:cs typeface="Arial" pitchFamily="34" charset="-120"/>
              </a:rPr>
              <a:t>Pago por viaje, no suscripción obligatoria</a:t>
            </a:r>
            <a:endParaRPr lang="en-US" sz="1050" dirty="0"/>
          </a:p>
        </p:txBody>
      </p:sp>
      <p:sp>
        <p:nvSpPr>
          <p:cNvPr id="32" name="Text 30"/>
          <p:cNvSpPr txBox="1"/>
          <p:nvPr/>
        </p:nvSpPr>
        <p:spPr>
          <a:xfrm>
            <a:off x="2965033" y="4462272"/>
            <a:ext cx="1794601" cy="201168"/>
          </a:xfrm>
          <a:prstGeom prst="rect">
            <a:avLst/>
          </a:prstGeom>
          <a:noFill/>
          <a:ln/>
        </p:spPr>
        <p:txBody>
          <a:bodyPr wrap="square" lIns="0" tIns="0" rIns="0" bIns="0" rtlCol="0" anchor="t"/>
          <a:lstStyle/>
          <a:p>
            <a:pPr indent="0" marL="0">
              <a:buNone/>
            </a:pPr>
            <a:r>
              <a:rPr lang="en-US" sz="850" b="1" spc="100" kern="0" dirty="0">
                <a:solidFill>
                  <a:srgbClr val="6B7385"/>
                </a:solidFill>
                <a:latin typeface="Arial" pitchFamily="34" charset="0"/>
                <a:ea typeface="Arial" pitchFamily="34" charset="-122"/>
                <a:cs typeface="Arial" pitchFamily="34" charset="-120"/>
              </a:rPr>
              <a:t>PRECIO</a:t>
            </a:r>
            <a:endParaRPr lang="en-US" sz="850" dirty="0"/>
          </a:p>
        </p:txBody>
      </p:sp>
      <p:sp>
        <p:nvSpPr>
          <p:cNvPr id="33" name="Text 31"/>
          <p:cNvSpPr txBox="1"/>
          <p:nvPr/>
        </p:nvSpPr>
        <p:spPr>
          <a:xfrm>
            <a:off x="2965033" y="4672584"/>
            <a:ext cx="1794601" cy="713232"/>
          </a:xfrm>
          <a:prstGeom prst="rect">
            <a:avLst/>
          </a:prstGeom>
          <a:noFill/>
          <a:ln/>
        </p:spPr>
        <p:txBody>
          <a:bodyPr wrap="square" lIns="0" tIns="0" rIns="0" bIns="0" rtlCol="0" anchor="t"/>
          <a:lstStyle/>
          <a:p>
            <a:pPr indent="0" marL="0">
              <a:buNone/>
            </a:pPr>
            <a:r>
              <a:rPr lang="en-US" sz="1050" dirty="0">
                <a:solidFill>
                  <a:srgbClr val="0B132B"/>
                </a:solidFill>
                <a:latin typeface="Arial" pitchFamily="34" charset="0"/>
                <a:ea typeface="Arial" pitchFamily="34" charset="-122"/>
                <a:cs typeface="Arial" pitchFamily="34" charset="-120"/>
              </a:rPr>
              <a:t>Supuesto histórico a experimentar, sin validar: un dígito bajo a pocos dólares de dos dígitos por viaje</a:t>
            </a:r>
            <a:endParaRPr lang="en-US" sz="1050" dirty="0"/>
          </a:p>
        </p:txBody>
      </p:sp>
      <p:sp>
        <p:nvSpPr>
          <p:cNvPr id="34" name="Text 32"/>
          <p:cNvSpPr txBox="1"/>
          <p:nvPr/>
        </p:nvSpPr>
        <p:spPr>
          <a:xfrm>
            <a:off x="2965033" y="5413248"/>
            <a:ext cx="1794601" cy="201168"/>
          </a:xfrm>
          <a:prstGeom prst="rect">
            <a:avLst/>
          </a:prstGeom>
          <a:noFill/>
          <a:ln/>
        </p:spPr>
        <p:txBody>
          <a:bodyPr wrap="square" lIns="0" tIns="0" rIns="0" bIns="0" rtlCol="0" anchor="t"/>
          <a:lstStyle/>
          <a:p>
            <a:pPr indent="0" marL="0">
              <a:buNone/>
            </a:pPr>
            <a:r>
              <a:rPr lang="en-US" sz="850" b="1" spc="100" kern="0" dirty="0">
                <a:solidFill>
                  <a:srgbClr val="6B7385"/>
                </a:solidFill>
                <a:latin typeface="Arial" pitchFamily="34" charset="0"/>
                <a:ea typeface="Arial" pitchFamily="34" charset="-122"/>
                <a:cs typeface="Arial" pitchFamily="34" charset="-120"/>
              </a:rPr>
              <a:t>DESAFÍO</a:t>
            </a:r>
            <a:endParaRPr lang="en-US" sz="850" dirty="0"/>
          </a:p>
        </p:txBody>
      </p:sp>
      <p:sp>
        <p:nvSpPr>
          <p:cNvPr id="35" name="Text 33"/>
          <p:cNvSpPr txBox="1"/>
          <p:nvPr/>
        </p:nvSpPr>
        <p:spPr>
          <a:xfrm>
            <a:off x="2965033" y="5623560"/>
            <a:ext cx="1794601" cy="713232"/>
          </a:xfrm>
          <a:prstGeom prst="rect">
            <a:avLst/>
          </a:prstGeom>
          <a:noFill/>
          <a:ln/>
        </p:spPr>
        <p:txBody>
          <a:bodyPr wrap="square" lIns="0" tIns="0" rIns="0" bIns="0" rtlCol="0" anchor="t"/>
          <a:lstStyle/>
          <a:p>
            <a:pPr indent="0" marL="0">
              <a:buNone/>
            </a:pPr>
            <a:r>
              <a:rPr lang="en-US" sz="1050" dirty="0">
                <a:solidFill>
                  <a:srgbClr val="0B132B"/>
                </a:solidFill>
                <a:latin typeface="Arial" pitchFamily="34" charset="0"/>
                <a:ea typeface="Arial" pitchFamily="34" charset="-122"/>
                <a:cs typeface="Arial" pitchFamily="34" charset="-120"/>
              </a:rPr>
              <a:t>Un paywall temprano frena la adopción</a:t>
            </a:r>
            <a:endParaRPr lang="en-US" sz="1050" dirty="0"/>
          </a:p>
        </p:txBody>
      </p:sp>
      <p:sp>
        <p:nvSpPr>
          <p:cNvPr id="36" name="Shape 34"/>
          <p:cNvSpPr/>
          <p:nvPr/>
        </p:nvSpPr>
        <p:spPr>
          <a:xfrm>
            <a:off x="5061387" y="1645920"/>
            <a:ext cx="2068921" cy="685800"/>
          </a:xfrm>
          <a:prstGeom prst="roundRect">
            <a:avLst>
              <a:gd name="adj" fmla="val 10667"/>
            </a:avLst>
          </a:prstGeom>
          <a:solidFill>
            <a:srgbClr val="1F7A73"/>
          </a:solidFill>
          <a:ln w="9525">
            <a:solidFill>
              <a:srgbClr val="1F7A73"/>
            </a:solidFill>
            <a:prstDash val="solid"/>
          </a:ln>
        </p:spPr>
      </p:sp>
      <p:sp>
        <p:nvSpPr>
          <p:cNvPr id="37" name="Text 35"/>
          <p:cNvSpPr txBox="1"/>
          <p:nvPr/>
        </p:nvSpPr>
        <p:spPr>
          <a:xfrm>
            <a:off x="5198547" y="1645920"/>
            <a:ext cx="1794601" cy="685800"/>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B2B API</a:t>
            </a:r>
            <a:endParaRPr lang="en-US" sz="1300" dirty="0"/>
          </a:p>
        </p:txBody>
      </p:sp>
      <p:sp>
        <p:nvSpPr>
          <p:cNvPr id="38" name="Shape 36"/>
          <p:cNvSpPr/>
          <p:nvPr/>
        </p:nvSpPr>
        <p:spPr>
          <a:xfrm>
            <a:off x="5061387" y="2423160"/>
            <a:ext cx="2068921" cy="3886200"/>
          </a:xfrm>
          <a:prstGeom prst="roundRect">
            <a:avLst>
              <a:gd name="adj" fmla="val 3536"/>
            </a:avLst>
          </a:prstGeom>
          <a:solidFill>
            <a:srgbClr val="FFFFFF"/>
          </a:solidFill>
          <a:ln w="9525">
            <a:solidFill>
              <a:srgbClr val="D8D2C4"/>
            </a:solidFill>
            <a:prstDash val="solid"/>
          </a:ln>
        </p:spPr>
      </p:sp>
      <p:sp>
        <p:nvSpPr>
          <p:cNvPr id="39" name="Text 37"/>
          <p:cNvSpPr txBox="1"/>
          <p:nvPr/>
        </p:nvSpPr>
        <p:spPr>
          <a:xfrm>
            <a:off x="5198547" y="2560320"/>
            <a:ext cx="1794601" cy="201168"/>
          </a:xfrm>
          <a:prstGeom prst="rect">
            <a:avLst/>
          </a:prstGeom>
          <a:noFill/>
          <a:ln/>
        </p:spPr>
        <p:txBody>
          <a:bodyPr wrap="square" lIns="0" tIns="0" rIns="0" bIns="0" rtlCol="0" anchor="t"/>
          <a:lstStyle/>
          <a:p>
            <a:pPr indent="0" marL="0">
              <a:buNone/>
            </a:pPr>
            <a:r>
              <a:rPr lang="en-US" sz="850" b="1" spc="100" kern="0" dirty="0">
                <a:solidFill>
                  <a:srgbClr val="6B7385"/>
                </a:solidFill>
                <a:latin typeface="Arial" pitchFamily="34" charset="0"/>
                <a:ea typeface="Arial" pitchFamily="34" charset="-122"/>
                <a:cs typeface="Arial" pitchFamily="34" charset="-120"/>
              </a:rPr>
              <a:t>CLIENTES</a:t>
            </a:r>
            <a:endParaRPr lang="en-US" sz="850" dirty="0"/>
          </a:p>
        </p:txBody>
      </p:sp>
      <p:sp>
        <p:nvSpPr>
          <p:cNvPr id="40" name="Text 38"/>
          <p:cNvSpPr txBox="1"/>
          <p:nvPr/>
        </p:nvSpPr>
        <p:spPr>
          <a:xfrm>
            <a:off x="5198547" y="2770632"/>
            <a:ext cx="1794601" cy="713232"/>
          </a:xfrm>
          <a:prstGeom prst="rect">
            <a:avLst/>
          </a:prstGeom>
          <a:noFill/>
          <a:ln/>
        </p:spPr>
        <p:txBody>
          <a:bodyPr wrap="square" lIns="0" tIns="0" rIns="0" bIns="0" rtlCol="0" anchor="t"/>
          <a:lstStyle/>
          <a:p>
            <a:pPr indent="0" marL="0">
              <a:buNone/>
            </a:pPr>
            <a:r>
              <a:rPr lang="en-US" sz="1050" dirty="0">
                <a:solidFill>
                  <a:srgbClr val="0B132B"/>
                </a:solidFill>
                <a:latin typeface="Arial" pitchFamily="34" charset="0"/>
                <a:ea typeface="Arial" pitchFamily="34" charset="-122"/>
                <a:cs typeface="Arial" pitchFamily="34" charset="-120"/>
              </a:rPr>
              <a:t>Apps de viaje, bancos, fintech, aerolíneas, seguros, movilidad, agencias online</a:t>
            </a:r>
            <a:endParaRPr lang="en-US" sz="1050" dirty="0"/>
          </a:p>
        </p:txBody>
      </p:sp>
      <p:sp>
        <p:nvSpPr>
          <p:cNvPr id="41" name="Text 39"/>
          <p:cNvSpPr txBox="1"/>
          <p:nvPr/>
        </p:nvSpPr>
        <p:spPr>
          <a:xfrm>
            <a:off x="5198547" y="3511296"/>
            <a:ext cx="1794601" cy="201168"/>
          </a:xfrm>
          <a:prstGeom prst="rect">
            <a:avLst/>
          </a:prstGeom>
          <a:noFill/>
          <a:ln/>
        </p:spPr>
        <p:txBody>
          <a:bodyPr wrap="square" lIns="0" tIns="0" rIns="0" bIns="0" rtlCol="0" anchor="t"/>
          <a:lstStyle/>
          <a:p>
            <a:pPr indent="0" marL="0">
              <a:buNone/>
            </a:pPr>
            <a:r>
              <a:rPr lang="en-US" sz="850" b="1" spc="100" kern="0" dirty="0">
                <a:solidFill>
                  <a:srgbClr val="6B7385"/>
                </a:solidFill>
                <a:latin typeface="Arial" pitchFamily="34" charset="0"/>
                <a:ea typeface="Arial" pitchFamily="34" charset="-122"/>
                <a:cs typeface="Arial" pitchFamily="34" charset="-120"/>
              </a:rPr>
              <a:t>OFERTA</a:t>
            </a:r>
            <a:endParaRPr lang="en-US" sz="850" dirty="0"/>
          </a:p>
        </p:txBody>
      </p:sp>
      <p:sp>
        <p:nvSpPr>
          <p:cNvPr id="42" name="Text 40"/>
          <p:cNvSpPr txBox="1"/>
          <p:nvPr/>
        </p:nvSpPr>
        <p:spPr>
          <a:xfrm>
            <a:off x="5198547" y="3721608"/>
            <a:ext cx="1794601" cy="713232"/>
          </a:xfrm>
          <a:prstGeom prst="rect">
            <a:avLst/>
          </a:prstGeom>
          <a:noFill/>
          <a:ln/>
        </p:spPr>
        <p:txBody>
          <a:bodyPr wrap="square" lIns="0" tIns="0" rIns="0" bIns="0" rtlCol="0" anchor="t"/>
          <a:lstStyle/>
          <a:p>
            <a:pPr indent="0" marL="0">
              <a:buNone/>
            </a:pPr>
            <a:r>
              <a:rPr lang="en-US" sz="1050" dirty="0">
                <a:solidFill>
                  <a:srgbClr val="0B132B"/>
                </a:solidFill>
                <a:latin typeface="Arial" pitchFamily="34" charset="0"/>
                <a:ea typeface="Arial" pitchFamily="34" charset="-122"/>
                <a:cs typeface="Arial" pitchFamily="34" charset="-120"/>
              </a:rPr>
              <a:t>Pedido del viajero → experiencias verificadas → itinerario</a:t>
            </a:r>
            <a:endParaRPr lang="en-US" sz="1050" dirty="0"/>
          </a:p>
        </p:txBody>
      </p:sp>
      <p:sp>
        <p:nvSpPr>
          <p:cNvPr id="43" name="Text 41"/>
          <p:cNvSpPr txBox="1"/>
          <p:nvPr/>
        </p:nvSpPr>
        <p:spPr>
          <a:xfrm>
            <a:off x="5198547" y="4462272"/>
            <a:ext cx="1794601" cy="201168"/>
          </a:xfrm>
          <a:prstGeom prst="rect">
            <a:avLst/>
          </a:prstGeom>
          <a:noFill/>
          <a:ln/>
        </p:spPr>
        <p:txBody>
          <a:bodyPr wrap="square" lIns="0" tIns="0" rIns="0" bIns="0" rtlCol="0" anchor="t"/>
          <a:lstStyle/>
          <a:p>
            <a:pPr indent="0" marL="0">
              <a:buNone/>
            </a:pPr>
            <a:r>
              <a:rPr lang="en-US" sz="850" b="1" spc="100" kern="0" dirty="0">
                <a:solidFill>
                  <a:srgbClr val="6B7385"/>
                </a:solidFill>
                <a:latin typeface="Arial" pitchFamily="34" charset="0"/>
                <a:ea typeface="Arial" pitchFamily="34" charset="-122"/>
                <a:cs typeface="Arial" pitchFamily="34" charset="-120"/>
              </a:rPr>
              <a:t>COBRO</a:t>
            </a:r>
            <a:endParaRPr lang="en-US" sz="850" dirty="0"/>
          </a:p>
        </p:txBody>
      </p:sp>
      <p:sp>
        <p:nvSpPr>
          <p:cNvPr id="44" name="Text 42"/>
          <p:cNvSpPr txBox="1"/>
          <p:nvPr/>
        </p:nvSpPr>
        <p:spPr>
          <a:xfrm>
            <a:off x="5198547" y="4672584"/>
            <a:ext cx="1794601" cy="713232"/>
          </a:xfrm>
          <a:prstGeom prst="rect">
            <a:avLst/>
          </a:prstGeom>
          <a:noFill/>
          <a:ln/>
        </p:spPr>
        <p:txBody>
          <a:bodyPr wrap="square" lIns="0" tIns="0" rIns="0" bIns="0" rtlCol="0" anchor="t"/>
          <a:lstStyle/>
          <a:p>
            <a:pPr indent="0" marL="0">
              <a:buNone/>
            </a:pPr>
            <a:r>
              <a:rPr lang="en-US" sz="1050" dirty="0">
                <a:solidFill>
                  <a:srgbClr val="0B132B"/>
                </a:solidFill>
                <a:latin typeface="Arial" pitchFamily="34" charset="0"/>
                <a:ea typeface="Arial" pitchFamily="34" charset="-122"/>
                <a:cs typeface="Arial" pitchFamily="34" charset="-120"/>
              </a:rPr>
              <a:t>Uso, suscripción, contrato enterprise, revenue share</a:t>
            </a:r>
            <a:endParaRPr lang="en-US" sz="1050" dirty="0"/>
          </a:p>
        </p:txBody>
      </p:sp>
      <p:sp>
        <p:nvSpPr>
          <p:cNvPr id="45" name="Text 43"/>
          <p:cNvSpPr txBox="1"/>
          <p:nvPr/>
        </p:nvSpPr>
        <p:spPr>
          <a:xfrm>
            <a:off x="5198547" y="5413248"/>
            <a:ext cx="1794601" cy="201168"/>
          </a:xfrm>
          <a:prstGeom prst="rect">
            <a:avLst/>
          </a:prstGeom>
          <a:noFill/>
          <a:ln/>
        </p:spPr>
        <p:txBody>
          <a:bodyPr wrap="square" lIns="0" tIns="0" rIns="0" bIns="0" rtlCol="0" anchor="t"/>
          <a:lstStyle/>
          <a:p>
            <a:pPr indent="0" marL="0">
              <a:buNone/>
            </a:pPr>
            <a:r>
              <a:rPr lang="en-US" sz="850" b="1" spc="100" kern="0" dirty="0">
                <a:solidFill>
                  <a:srgbClr val="6B7385"/>
                </a:solidFill>
                <a:latin typeface="Arial" pitchFamily="34" charset="0"/>
                <a:ea typeface="Arial" pitchFamily="34" charset="-122"/>
                <a:cs typeface="Arial" pitchFamily="34" charset="-120"/>
              </a:rPr>
              <a:t>VALOR</a:t>
            </a:r>
            <a:endParaRPr lang="en-US" sz="850" dirty="0"/>
          </a:p>
        </p:txBody>
      </p:sp>
      <p:sp>
        <p:nvSpPr>
          <p:cNvPr id="46" name="Text 44"/>
          <p:cNvSpPr txBox="1"/>
          <p:nvPr/>
        </p:nvSpPr>
        <p:spPr>
          <a:xfrm>
            <a:off x="5198547" y="5623560"/>
            <a:ext cx="1794601" cy="713232"/>
          </a:xfrm>
          <a:prstGeom prst="rect">
            <a:avLst/>
          </a:prstGeom>
          <a:noFill/>
          <a:ln/>
        </p:spPr>
        <p:txBody>
          <a:bodyPr wrap="square" lIns="0" tIns="0" rIns="0" bIns="0" rtlCol="0" anchor="t"/>
          <a:lstStyle/>
          <a:p>
            <a:pPr indent="0" marL="0">
              <a:buNone/>
            </a:pPr>
            <a:r>
              <a:rPr lang="en-US" sz="1050" dirty="0">
                <a:solidFill>
                  <a:srgbClr val="0B132B"/>
                </a:solidFill>
                <a:latin typeface="Arial" pitchFamily="34" charset="0"/>
                <a:ea typeface="Arial" pitchFamily="34" charset="-122"/>
                <a:cs typeface="Arial" pitchFamily="34" charset="-120"/>
              </a:rPr>
              <a:t>Monetizar el motor sin poseer toda la distribución</a:t>
            </a:r>
            <a:endParaRPr lang="en-US" sz="1050" dirty="0"/>
          </a:p>
        </p:txBody>
      </p:sp>
      <p:sp>
        <p:nvSpPr>
          <p:cNvPr id="47" name="Shape 45"/>
          <p:cNvSpPr/>
          <p:nvPr/>
        </p:nvSpPr>
        <p:spPr>
          <a:xfrm>
            <a:off x="7294900" y="1645920"/>
            <a:ext cx="2068921" cy="685800"/>
          </a:xfrm>
          <a:prstGeom prst="roundRect">
            <a:avLst>
              <a:gd name="adj" fmla="val 10667"/>
            </a:avLst>
          </a:prstGeom>
          <a:solidFill>
            <a:srgbClr val="1C2541"/>
          </a:solidFill>
          <a:ln w="9525">
            <a:solidFill>
              <a:srgbClr val="1C2541"/>
            </a:solidFill>
            <a:prstDash val="solid"/>
          </a:ln>
        </p:spPr>
      </p:sp>
      <p:sp>
        <p:nvSpPr>
          <p:cNvPr id="48" name="Text 46"/>
          <p:cNvSpPr txBox="1"/>
          <p:nvPr/>
        </p:nvSpPr>
        <p:spPr>
          <a:xfrm>
            <a:off x="7432060" y="1645920"/>
            <a:ext cx="1794601" cy="685800"/>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White-label</a:t>
            </a:r>
            <a:endParaRPr lang="en-US" sz="1300" dirty="0"/>
          </a:p>
        </p:txBody>
      </p:sp>
      <p:sp>
        <p:nvSpPr>
          <p:cNvPr id="49" name="Shape 47"/>
          <p:cNvSpPr/>
          <p:nvPr/>
        </p:nvSpPr>
        <p:spPr>
          <a:xfrm>
            <a:off x="7294900" y="2423160"/>
            <a:ext cx="2068921" cy="3886200"/>
          </a:xfrm>
          <a:prstGeom prst="roundRect">
            <a:avLst>
              <a:gd name="adj" fmla="val 3536"/>
            </a:avLst>
          </a:prstGeom>
          <a:solidFill>
            <a:srgbClr val="FFFFFF"/>
          </a:solidFill>
          <a:ln w="9525">
            <a:solidFill>
              <a:srgbClr val="D8D2C4"/>
            </a:solidFill>
            <a:prstDash val="solid"/>
          </a:ln>
        </p:spPr>
      </p:sp>
      <p:sp>
        <p:nvSpPr>
          <p:cNvPr id="50" name="Text 48"/>
          <p:cNvSpPr txBox="1"/>
          <p:nvPr/>
        </p:nvSpPr>
        <p:spPr>
          <a:xfrm>
            <a:off x="7432060" y="2560320"/>
            <a:ext cx="1794601" cy="201168"/>
          </a:xfrm>
          <a:prstGeom prst="rect">
            <a:avLst/>
          </a:prstGeom>
          <a:noFill/>
          <a:ln/>
        </p:spPr>
        <p:txBody>
          <a:bodyPr wrap="square" lIns="0" tIns="0" rIns="0" bIns="0" rtlCol="0" anchor="t"/>
          <a:lstStyle/>
          <a:p>
            <a:pPr indent="0" marL="0">
              <a:buNone/>
            </a:pPr>
            <a:r>
              <a:rPr lang="en-US" sz="850" b="1" spc="100" kern="0" dirty="0">
                <a:solidFill>
                  <a:srgbClr val="6B7385"/>
                </a:solidFill>
                <a:latin typeface="Arial" pitchFamily="34" charset="0"/>
                <a:ea typeface="Arial" pitchFamily="34" charset="-122"/>
                <a:cs typeface="Arial" pitchFamily="34" charset="-120"/>
              </a:rPr>
              <a:t>CLIENTES</a:t>
            </a:r>
            <a:endParaRPr lang="en-US" sz="850" dirty="0"/>
          </a:p>
        </p:txBody>
      </p:sp>
      <p:sp>
        <p:nvSpPr>
          <p:cNvPr id="51" name="Text 49"/>
          <p:cNvSpPr txBox="1"/>
          <p:nvPr/>
        </p:nvSpPr>
        <p:spPr>
          <a:xfrm>
            <a:off x="7432060" y="2770632"/>
            <a:ext cx="1794601" cy="713232"/>
          </a:xfrm>
          <a:prstGeom prst="rect">
            <a:avLst/>
          </a:prstGeom>
          <a:noFill/>
          <a:ln/>
        </p:spPr>
        <p:txBody>
          <a:bodyPr wrap="square" lIns="0" tIns="0" rIns="0" bIns="0" rtlCol="0" anchor="t"/>
          <a:lstStyle/>
          <a:p>
            <a:pPr indent="0" marL="0">
              <a:buNone/>
            </a:pPr>
            <a:r>
              <a:rPr lang="en-US" sz="1050" dirty="0">
                <a:solidFill>
                  <a:srgbClr val="0B132B"/>
                </a:solidFill>
                <a:latin typeface="Arial" pitchFamily="34" charset="0"/>
                <a:ea typeface="Arial" pitchFamily="34" charset="-122"/>
                <a:cs typeface="Arial" pitchFamily="34" charset="-120"/>
              </a:rPr>
              <a:t>Hoteles, agencias, entes de turismo, bancos, aerolíneas, concierges</a:t>
            </a:r>
            <a:endParaRPr lang="en-US" sz="1050" dirty="0"/>
          </a:p>
        </p:txBody>
      </p:sp>
      <p:sp>
        <p:nvSpPr>
          <p:cNvPr id="52" name="Text 50"/>
          <p:cNvSpPr txBox="1"/>
          <p:nvPr/>
        </p:nvSpPr>
        <p:spPr>
          <a:xfrm>
            <a:off x="7432060" y="3511296"/>
            <a:ext cx="1794601" cy="201168"/>
          </a:xfrm>
          <a:prstGeom prst="rect">
            <a:avLst/>
          </a:prstGeom>
          <a:noFill/>
          <a:ln/>
        </p:spPr>
        <p:txBody>
          <a:bodyPr wrap="square" lIns="0" tIns="0" rIns="0" bIns="0" rtlCol="0" anchor="t"/>
          <a:lstStyle/>
          <a:p>
            <a:pPr indent="0" marL="0">
              <a:buNone/>
            </a:pPr>
            <a:r>
              <a:rPr lang="en-US" sz="850" b="1" spc="100" kern="0" dirty="0">
                <a:solidFill>
                  <a:srgbClr val="6B7385"/>
                </a:solidFill>
                <a:latin typeface="Arial" pitchFamily="34" charset="0"/>
                <a:ea typeface="Arial" pitchFamily="34" charset="-122"/>
                <a:cs typeface="Arial" pitchFamily="34" charset="-120"/>
              </a:rPr>
              <a:t>OFERTA</a:t>
            </a:r>
            <a:endParaRPr lang="en-US" sz="850" dirty="0"/>
          </a:p>
        </p:txBody>
      </p:sp>
      <p:sp>
        <p:nvSpPr>
          <p:cNvPr id="53" name="Text 51"/>
          <p:cNvSpPr txBox="1"/>
          <p:nvPr/>
        </p:nvSpPr>
        <p:spPr>
          <a:xfrm>
            <a:off x="7432060" y="3721608"/>
            <a:ext cx="1794601" cy="713232"/>
          </a:xfrm>
          <a:prstGeom prst="rect">
            <a:avLst/>
          </a:prstGeom>
          <a:noFill/>
          <a:ln/>
        </p:spPr>
        <p:txBody>
          <a:bodyPr wrap="square" lIns="0" tIns="0" rIns="0" bIns="0" rtlCol="0" anchor="t"/>
          <a:lstStyle/>
          <a:p>
            <a:pPr indent="0" marL="0">
              <a:buNone/>
            </a:pPr>
            <a:r>
              <a:rPr lang="en-US" sz="1050" dirty="0">
                <a:solidFill>
                  <a:srgbClr val="0B132B"/>
                </a:solidFill>
                <a:latin typeface="Arial" pitchFamily="34" charset="0"/>
                <a:ea typeface="Arial" pitchFamily="34" charset="-122"/>
                <a:cs typeface="Arial" pitchFamily="34" charset="-120"/>
              </a:rPr>
              <a:t>Planificador local “Powered by Zig-Zag”</a:t>
            </a:r>
            <a:endParaRPr lang="en-US" sz="1050" dirty="0"/>
          </a:p>
        </p:txBody>
      </p:sp>
      <p:sp>
        <p:nvSpPr>
          <p:cNvPr id="54" name="Text 52"/>
          <p:cNvSpPr txBox="1"/>
          <p:nvPr/>
        </p:nvSpPr>
        <p:spPr>
          <a:xfrm>
            <a:off x="7432060" y="4462272"/>
            <a:ext cx="1794601" cy="201168"/>
          </a:xfrm>
          <a:prstGeom prst="rect">
            <a:avLst/>
          </a:prstGeom>
          <a:noFill/>
          <a:ln/>
        </p:spPr>
        <p:txBody>
          <a:bodyPr wrap="square" lIns="0" tIns="0" rIns="0" bIns="0" rtlCol="0" anchor="t"/>
          <a:lstStyle/>
          <a:p>
            <a:pPr indent="0" marL="0">
              <a:buNone/>
            </a:pPr>
            <a:r>
              <a:rPr lang="en-US" sz="850" b="1" spc="100" kern="0" dirty="0">
                <a:solidFill>
                  <a:srgbClr val="6B7385"/>
                </a:solidFill>
                <a:latin typeface="Arial" pitchFamily="34" charset="0"/>
                <a:ea typeface="Arial" pitchFamily="34" charset="-122"/>
                <a:cs typeface="Arial" pitchFamily="34" charset="-120"/>
              </a:rPr>
              <a:t>COBRO</a:t>
            </a:r>
            <a:endParaRPr lang="en-US" sz="850" dirty="0"/>
          </a:p>
        </p:txBody>
      </p:sp>
      <p:sp>
        <p:nvSpPr>
          <p:cNvPr id="55" name="Text 53"/>
          <p:cNvSpPr txBox="1"/>
          <p:nvPr/>
        </p:nvSpPr>
        <p:spPr>
          <a:xfrm>
            <a:off x="7432060" y="4672584"/>
            <a:ext cx="1794601" cy="713232"/>
          </a:xfrm>
          <a:prstGeom prst="rect">
            <a:avLst/>
          </a:prstGeom>
          <a:noFill/>
          <a:ln/>
        </p:spPr>
        <p:txBody>
          <a:bodyPr wrap="square" lIns="0" tIns="0" rIns="0" bIns="0" rtlCol="0" anchor="t"/>
          <a:lstStyle/>
          <a:p>
            <a:pPr indent="0" marL="0">
              <a:buNone/>
            </a:pPr>
            <a:r>
              <a:rPr lang="en-US" sz="1050" dirty="0">
                <a:solidFill>
                  <a:srgbClr val="0B132B"/>
                </a:solidFill>
                <a:latin typeface="Arial" pitchFamily="34" charset="0"/>
                <a:ea typeface="Arial" pitchFamily="34" charset="-122"/>
                <a:cs typeface="Arial" pitchFamily="34" charset="-120"/>
              </a:rPr>
              <a:t>Setup + mensual + uso / licencia</a:t>
            </a:r>
            <a:endParaRPr lang="en-US" sz="1050" dirty="0"/>
          </a:p>
        </p:txBody>
      </p:sp>
      <p:sp>
        <p:nvSpPr>
          <p:cNvPr id="56" name="Text 54"/>
          <p:cNvSpPr txBox="1"/>
          <p:nvPr/>
        </p:nvSpPr>
        <p:spPr>
          <a:xfrm>
            <a:off x="7432060" y="5413248"/>
            <a:ext cx="1794601" cy="201168"/>
          </a:xfrm>
          <a:prstGeom prst="rect">
            <a:avLst/>
          </a:prstGeom>
          <a:noFill/>
          <a:ln/>
        </p:spPr>
        <p:txBody>
          <a:bodyPr wrap="square" lIns="0" tIns="0" rIns="0" bIns="0" rtlCol="0" anchor="t"/>
          <a:lstStyle/>
          <a:p>
            <a:pPr indent="0" marL="0">
              <a:buNone/>
            </a:pPr>
            <a:r>
              <a:rPr lang="en-US" sz="850" b="1" spc="100" kern="0" dirty="0">
                <a:solidFill>
                  <a:srgbClr val="6B7385"/>
                </a:solidFill>
                <a:latin typeface="Arial" pitchFamily="34" charset="0"/>
                <a:ea typeface="Arial" pitchFamily="34" charset="-122"/>
                <a:cs typeface="Arial" pitchFamily="34" charset="-120"/>
              </a:rPr>
              <a:t>DESAFÍO</a:t>
            </a:r>
            <a:endParaRPr lang="en-US" sz="850" dirty="0"/>
          </a:p>
        </p:txBody>
      </p:sp>
      <p:sp>
        <p:nvSpPr>
          <p:cNvPr id="57" name="Text 55"/>
          <p:cNvSpPr txBox="1"/>
          <p:nvPr/>
        </p:nvSpPr>
        <p:spPr>
          <a:xfrm>
            <a:off x="7432060" y="5623560"/>
            <a:ext cx="1794601" cy="713232"/>
          </a:xfrm>
          <a:prstGeom prst="rect">
            <a:avLst/>
          </a:prstGeom>
          <a:noFill/>
          <a:ln/>
        </p:spPr>
        <p:txBody>
          <a:bodyPr wrap="square" lIns="0" tIns="0" rIns="0" bIns="0" rtlCol="0" anchor="t"/>
          <a:lstStyle/>
          <a:p>
            <a:pPr indent="0" marL="0">
              <a:buNone/>
            </a:pPr>
            <a:r>
              <a:rPr lang="en-US" sz="1050" dirty="0">
                <a:solidFill>
                  <a:srgbClr val="0B132B"/>
                </a:solidFill>
                <a:latin typeface="Arial" pitchFamily="34" charset="0"/>
                <a:ea typeface="Arial" pitchFamily="34" charset="-122"/>
                <a:cs typeface="Arial" pitchFamily="34" charset="-120"/>
              </a:rPr>
              <a:t>Que la customización no se vuelva servicios profesionales</a:t>
            </a:r>
            <a:endParaRPr lang="en-US" sz="1050" dirty="0"/>
          </a:p>
        </p:txBody>
      </p:sp>
      <p:sp>
        <p:nvSpPr>
          <p:cNvPr id="58" name="Shape 56"/>
          <p:cNvSpPr/>
          <p:nvPr/>
        </p:nvSpPr>
        <p:spPr>
          <a:xfrm>
            <a:off x="9528414" y="1645920"/>
            <a:ext cx="2068921" cy="685800"/>
          </a:xfrm>
          <a:prstGeom prst="roundRect">
            <a:avLst>
              <a:gd name="adj" fmla="val 10667"/>
            </a:avLst>
          </a:prstGeom>
          <a:solidFill>
            <a:srgbClr val="6B4FA0"/>
          </a:solidFill>
          <a:ln w="9525">
            <a:solidFill>
              <a:srgbClr val="6B4FA0"/>
            </a:solidFill>
            <a:prstDash val="solid"/>
          </a:ln>
        </p:spPr>
      </p:sp>
      <p:sp>
        <p:nvSpPr>
          <p:cNvPr id="59" name="Text 57"/>
          <p:cNvSpPr txBox="1"/>
          <p:nvPr/>
        </p:nvSpPr>
        <p:spPr>
          <a:xfrm>
            <a:off x="9665574" y="1645920"/>
            <a:ext cx="1794601" cy="685800"/>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Marketplace (más adelante)</a:t>
            </a:r>
            <a:endParaRPr lang="en-US" sz="1300" dirty="0"/>
          </a:p>
        </p:txBody>
      </p:sp>
      <p:sp>
        <p:nvSpPr>
          <p:cNvPr id="60" name="Shape 58"/>
          <p:cNvSpPr/>
          <p:nvPr/>
        </p:nvSpPr>
        <p:spPr>
          <a:xfrm>
            <a:off x="9528414" y="2423160"/>
            <a:ext cx="2068921" cy="3886200"/>
          </a:xfrm>
          <a:prstGeom prst="roundRect">
            <a:avLst>
              <a:gd name="adj" fmla="val 3536"/>
            </a:avLst>
          </a:prstGeom>
          <a:solidFill>
            <a:srgbClr val="FFFFFF"/>
          </a:solidFill>
          <a:ln w="9525">
            <a:solidFill>
              <a:srgbClr val="D8D2C4"/>
            </a:solidFill>
            <a:prstDash val="solid"/>
          </a:ln>
        </p:spPr>
      </p:sp>
      <p:sp>
        <p:nvSpPr>
          <p:cNvPr id="61" name="Text 59"/>
          <p:cNvSpPr txBox="1"/>
          <p:nvPr/>
        </p:nvSpPr>
        <p:spPr>
          <a:xfrm>
            <a:off x="9665574" y="2560320"/>
            <a:ext cx="1794601" cy="201168"/>
          </a:xfrm>
          <a:prstGeom prst="rect">
            <a:avLst/>
          </a:prstGeom>
          <a:noFill/>
          <a:ln/>
        </p:spPr>
        <p:txBody>
          <a:bodyPr wrap="square" lIns="0" tIns="0" rIns="0" bIns="0" rtlCol="0" anchor="t"/>
          <a:lstStyle/>
          <a:p>
            <a:pPr indent="0" marL="0">
              <a:buNone/>
            </a:pPr>
            <a:r>
              <a:rPr lang="en-US" sz="850" b="1" spc="100" kern="0" dirty="0">
                <a:solidFill>
                  <a:srgbClr val="6B7385"/>
                </a:solidFill>
                <a:latin typeface="Arial" pitchFamily="34" charset="0"/>
                <a:ea typeface="Arial" pitchFamily="34" charset="-122"/>
                <a:cs typeface="Arial" pitchFamily="34" charset="-120"/>
              </a:rPr>
              <a:t>OFERTA</a:t>
            </a:r>
            <a:endParaRPr lang="en-US" sz="850" dirty="0"/>
          </a:p>
        </p:txBody>
      </p:sp>
      <p:sp>
        <p:nvSpPr>
          <p:cNvPr id="62" name="Text 60"/>
          <p:cNvSpPr txBox="1"/>
          <p:nvPr/>
        </p:nvSpPr>
        <p:spPr>
          <a:xfrm>
            <a:off x="9665574" y="2770632"/>
            <a:ext cx="1794601" cy="713232"/>
          </a:xfrm>
          <a:prstGeom prst="rect">
            <a:avLst/>
          </a:prstGeom>
          <a:noFill/>
          <a:ln/>
        </p:spPr>
        <p:txBody>
          <a:bodyPr wrap="square" lIns="0" tIns="0" rIns="0" bIns="0" rtlCol="0" anchor="t"/>
          <a:lstStyle/>
          <a:p>
            <a:pPr indent="0" marL="0">
              <a:buNone/>
            </a:pPr>
            <a:r>
              <a:rPr lang="en-US" sz="1050" dirty="0">
                <a:solidFill>
                  <a:srgbClr val="0B132B"/>
                </a:solidFill>
                <a:latin typeface="Arial" pitchFamily="34" charset="0"/>
                <a:ea typeface="Arial" pitchFamily="34" charset="-122"/>
                <a:cs typeface="Arial" pitchFamily="34" charset="-120"/>
              </a:rPr>
              <a:t>Guías, operadores, entradas, tours reservables</a:t>
            </a:r>
            <a:endParaRPr lang="en-US" sz="1050" dirty="0"/>
          </a:p>
        </p:txBody>
      </p:sp>
      <p:sp>
        <p:nvSpPr>
          <p:cNvPr id="63" name="Text 61"/>
          <p:cNvSpPr txBox="1"/>
          <p:nvPr/>
        </p:nvSpPr>
        <p:spPr>
          <a:xfrm>
            <a:off x="9665574" y="3511296"/>
            <a:ext cx="1794601" cy="201168"/>
          </a:xfrm>
          <a:prstGeom prst="rect">
            <a:avLst/>
          </a:prstGeom>
          <a:noFill/>
          <a:ln/>
        </p:spPr>
        <p:txBody>
          <a:bodyPr wrap="square" lIns="0" tIns="0" rIns="0" bIns="0" rtlCol="0" anchor="t"/>
          <a:lstStyle/>
          <a:p>
            <a:pPr indent="0" marL="0">
              <a:buNone/>
            </a:pPr>
            <a:r>
              <a:rPr lang="en-US" sz="850" b="1" spc="100" kern="0" dirty="0">
                <a:solidFill>
                  <a:srgbClr val="6B7385"/>
                </a:solidFill>
                <a:latin typeface="Arial" pitchFamily="34" charset="0"/>
                <a:ea typeface="Arial" pitchFamily="34" charset="-122"/>
                <a:cs typeface="Arial" pitchFamily="34" charset="-120"/>
              </a:rPr>
              <a:t>COBRO</a:t>
            </a:r>
            <a:endParaRPr lang="en-US" sz="850" dirty="0"/>
          </a:p>
        </p:txBody>
      </p:sp>
      <p:sp>
        <p:nvSpPr>
          <p:cNvPr id="64" name="Text 62"/>
          <p:cNvSpPr txBox="1"/>
          <p:nvPr/>
        </p:nvSpPr>
        <p:spPr>
          <a:xfrm>
            <a:off x="9665574" y="3721608"/>
            <a:ext cx="1794601" cy="713232"/>
          </a:xfrm>
          <a:prstGeom prst="rect">
            <a:avLst/>
          </a:prstGeom>
          <a:noFill/>
          <a:ln/>
        </p:spPr>
        <p:txBody>
          <a:bodyPr wrap="square" lIns="0" tIns="0" rIns="0" bIns="0" rtlCol="0" anchor="t"/>
          <a:lstStyle/>
          <a:p>
            <a:pPr indent="0" marL="0">
              <a:buNone/>
            </a:pPr>
            <a:r>
              <a:rPr lang="en-US" sz="1050" dirty="0">
                <a:solidFill>
                  <a:srgbClr val="0B132B"/>
                </a:solidFill>
                <a:latin typeface="Arial" pitchFamily="34" charset="0"/>
                <a:ea typeface="Arial" pitchFamily="34" charset="-122"/>
                <a:cs typeface="Arial" pitchFamily="34" charset="-120"/>
              </a:rPr>
              <a:t>Comisión sobre cada venta</a:t>
            </a:r>
            <a:endParaRPr lang="en-US" sz="1050" dirty="0"/>
          </a:p>
        </p:txBody>
      </p:sp>
      <p:sp>
        <p:nvSpPr>
          <p:cNvPr id="65" name="Text 63"/>
          <p:cNvSpPr txBox="1"/>
          <p:nvPr/>
        </p:nvSpPr>
        <p:spPr>
          <a:xfrm>
            <a:off x="9665574" y="4462272"/>
            <a:ext cx="1794601" cy="201168"/>
          </a:xfrm>
          <a:prstGeom prst="rect">
            <a:avLst/>
          </a:prstGeom>
          <a:noFill/>
          <a:ln/>
        </p:spPr>
        <p:txBody>
          <a:bodyPr wrap="square" lIns="0" tIns="0" rIns="0" bIns="0" rtlCol="0" anchor="t"/>
          <a:lstStyle/>
          <a:p>
            <a:pPr indent="0" marL="0">
              <a:buNone/>
            </a:pPr>
            <a:r>
              <a:rPr lang="en-US" sz="850" b="1" spc="100" kern="0" dirty="0">
                <a:solidFill>
                  <a:srgbClr val="6B7385"/>
                </a:solidFill>
                <a:latin typeface="Arial" pitchFamily="34" charset="0"/>
                <a:ea typeface="Arial" pitchFamily="34" charset="-122"/>
                <a:cs typeface="Arial" pitchFamily="34" charset="-120"/>
              </a:rPr>
              <a:t>REQUIERE</a:t>
            </a:r>
            <a:endParaRPr lang="en-US" sz="850" dirty="0"/>
          </a:p>
        </p:txBody>
      </p:sp>
      <p:sp>
        <p:nvSpPr>
          <p:cNvPr id="66" name="Text 64"/>
          <p:cNvSpPr txBox="1"/>
          <p:nvPr/>
        </p:nvSpPr>
        <p:spPr>
          <a:xfrm>
            <a:off x="9665574" y="4672584"/>
            <a:ext cx="1794601" cy="713232"/>
          </a:xfrm>
          <a:prstGeom prst="rect">
            <a:avLst/>
          </a:prstGeom>
          <a:noFill/>
          <a:ln/>
        </p:spPr>
        <p:txBody>
          <a:bodyPr wrap="square" lIns="0" tIns="0" rIns="0" bIns="0" rtlCol="0" anchor="t"/>
          <a:lstStyle/>
          <a:p>
            <a:pPr indent="0" marL="0">
              <a:buNone/>
            </a:pPr>
            <a:r>
              <a:rPr lang="en-US" sz="1050" dirty="0">
                <a:solidFill>
                  <a:srgbClr val="0B132B"/>
                </a:solidFill>
                <a:latin typeface="Arial" pitchFamily="34" charset="0"/>
                <a:ea typeface="Arial" pitchFamily="34" charset="-122"/>
                <a:cs typeface="Arial" pitchFamily="34" charset="-120"/>
              </a:rPr>
              <a:t>Demanda, control de calidad, oferta, pagos, soporte</a:t>
            </a:r>
            <a:endParaRPr lang="en-US" sz="1050" dirty="0"/>
          </a:p>
        </p:txBody>
      </p:sp>
      <p:sp>
        <p:nvSpPr>
          <p:cNvPr id="67" name="Text 65"/>
          <p:cNvSpPr txBox="1"/>
          <p:nvPr/>
        </p:nvSpPr>
        <p:spPr>
          <a:xfrm>
            <a:off x="9665574" y="5413248"/>
            <a:ext cx="1794601" cy="201168"/>
          </a:xfrm>
          <a:prstGeom prst="rect">
            <a:avLst/>
          </a:prstGeom>
          <a:noFill/>
          <a:ln/>
        </p:spPr>
        <p:txBody>
          <a:bodyPr wrap="square" lIns="0" tIns="0" rIns="0" bIns="0" rtlCol="0" anchor="t"/>
          <a:lstStyle/>
          <a:p>
            <a:pPr indent="0" marL="0">
              <a:buNone/>
            </a:pPr>
            <a:r>
              <a:rPr lang="en-US" sz="850" b="1" spc="100" kern="0" dirty="0">
                <a:solidFill>
                  <a:srgbClr val="6B7385"/>
                </a:solidFill>
                <a:latin typeface="Arial" pitchFamily="34" charset="0"/>
                <a:ea typeface="Arial" pitchFamily="34" charset="-122"/>
                <a:cs typeface="Arial" pitchFamily="34" charset="-120"/>
              </a:rPr>
              <a:t>PRIORIDAD</a:t>
            </a:r>
            <a:endParaRPr lang="en-US" sz="850" dirty="0"/>
          </a:p>
        </p:txBody>
      </p:sp>
      <p:sp>
        <p:nvSpPr>
          <p:cNvPr id="68" name="Text 66"/>
          <p:cNvSpPr txBox="1"/>
          <p:nvPr/>
        </p:nvSpPr>
        <p:spPr>
          <a:xfrm>
            <a:off x="9665574" y="5623560"/>
            <a:ext cx="1794601" cy="713232"/>
          </a:xfrm>
          <a:prstGeom prst="rect">
            <a:avLst/>
          </a:prstGeom>
          <a:noFill/>
          <a:ln/>
        </p:spPr>
        <p:txBody>
          <a:bodyPr wrap="square" lIns="0" tIns="0" rIns="0" bIns="0" rtlCol="0" anchor="t"/>
          <a:lstStyle/>
          <a:p>
            <a:pPr indent="0" marL="0">
              <a:buNone/>
            </a:pPr>
            <a:r>
              <a:rPr lang="en-US" sz="1050" dirty="0">
                <a:solidFill>
                  <a:srgbClr val="0B132B"/>
                </a:solidFill>
                <a:latin typeface="Arial" pitchFamily="34" charset="0"/>
                <a:ea typeface="Arial" pitchFamily="34" charset="-122"/>
                <a:cs typeface="Arial" pitchFamily="34" charset="-120"/>
              </a:rPr>
              <a:t>No inmediata</a:t>
            </a:r>
            <a:endParaRPr lang="en-US"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1E8"/>
        </a:solidFill>
      </p:bgPr>
    </p:bg>
    <p:spTree>
      <p:nvGrpSpPr>
        <p:cNvPr id="1" name=""/>
        <p:cNvGrpSpPr/>
        <p:nvPr/>
      </p:nvGrpSpPr>
      <p:grpSpPr>
        <a:xfrm>
          <a:off x="0" y="0"/>
          <a:ext cx="0" cy="0"/>
          <a:chOff x="0" y="0"/>
          <a:chExt cx="0" cy="0"/>
        </a:xfrm>
      </p:grpSpPr>
      <p:sp>
        <p:nvSpPr>
          <p:cNvPr id="2" name="Shape 0"/>
          <p:cNvSpPr/>
          <p:nvPr/>
        </p:nvSpPr>
        <p:spPr>
          <a:xfrm flipV="1">
            <a:off x="594360" y="384048"/>
            <a:ext cx="120701" cy="98755"/>
          </a:xfrm>
          <a:prstGeom prst="line">
            <a:avLst/>
          </a:prstGeom>
          <a:noFill/>
          <a:ln w="22225">
            <a:solidFill>
              <a:srgbClr val="5BC0BE"/>
            </a:solidFill>
            <a:prstDash val="solid"/>
          </a:ln>
        </p:spPr>
      </p:sp>
      <p:sp>
        <p:nvSpPr>
          <p:cNvPr id="3" name="Shape 1"/>
          <p:cNvSpPr/>
          <p:nvPr/>
        </p:nvSpPr>
        <p:spPr>
          <a:xfrm>
            <a:off x="715061" y="384048"/>
            <a:ext cx="120701" cy="98755"/>
          </a:xfrm>
          <a:prstGeom prst="line">
            <a:avLst/>
          </a:prstGeom>
          <a:noFill/>
          <a:ln w="22225">
            <a:solidFill>
              <a:srgbClr val="5BC0BE"/>
            </a:solidFill>
            <a:prstDash val="solid"/>
          </a:ln>
        </p:spPr>
      </p:sp>
      <p:sp>
        <p:nvSpPr>
          <p:cNvPr id="4" name="Shape 2"/>
          <p:cNvSpPr/>
          <p:nvPr/>
        </p:nvSpPr>
        <p:spPr>
          <a:xfrm flipV="1">
            <a:off x="835762" y="384048"/>
            <a:ext cx="120701" cy="98755"/>
          </a:xfrm>
          <a:prstGeom prst="line">
            <a:avLst/>
          </a:prstGeom>
          <a:noFill/>
          <a:ln w="22225">
            <a:solidFill>
              <a:srgbClr val="5BC0BE"/>
            </a:solidFill>
            <a:prstDash val="solid"/>
          </a:ln>
        </p:spPr>
      </p:sp>
      <p:sp>
        <p:nvSpPr>
          <p:cNvPr id="5" name="Shape 3"/>
          <p:cNvSpPr/>
          <p:nvPr/>
        </p:nvSpPr>
        <p:spPr>
          <a:xfrm>
            <a:off x="566928" y="455371"/>
            <a:ext cx="54864" cy="54864"/>
          </a:xfrm>
          <a:prstGeom prst="ellipse">
            <a:avLst/>
          </a:prstGeom>
          <a:solidFill>
            <a:srgbClr val="5BC0BE"/>
          </a:solidFill>
          <a:ln w="12700">
            <a:solidFill>
              <a:srgbClr val="5BC0BE"/>
            </a:solidFill>
            <a:prstDash val="solid"/>
          </a:ln>
        </p:spPr>
      </p:sp>
      <p:sp>
        <p:nvSpPr>
          <p:cNvPr id="6" name="Shape 4"/>
          <p:cNvSpPr/>
          <p:nvPr/>
        </p:nvSpPr>
        <p:spPr>
          <a:xfrm>
            <a:off x="687629" y="356616"/>
            <a:ext cx="54864" cy="54864"/>
          </a:xfrm>
          <a:prstGeom prst="ellipse">
            <a:avLst/>
          </a:prstGeom>
          <a:solidFill>
            <a:srgbClr val="5BC0BE"/>
          </a:solidFill>
          <a:ln w="12700">
            <a:solidFill>
              <a:srgbClr val="5BC0BE"/>
            </a:solidFill>
            <a:prstDash val="solid"/>
          </a:ln>
        </p:spPr>
      </p:sp>
      <p:sp>
        <p:nvSpPr>
          <p:cNvPr id="7" name="Shape 5"/>
          <p:cNvSpPr/>
          <p:nvPr/>
        </p:nvSpPr>
        <p:spPr>
          <a:xfrm>
            <a:off x="808330" y="455371"/>
            <a:ext cx="54864" cy="54864"/>
          </a:xfrm>
          <a:prstGeom prst="ellipse">
            <a:avLst/>
          </a:prstGeom>
          <a:solidFill>
            <a:srgbClr val="5BC0BE"/>
          </a:solidFill>
          <a:ln w="12700">
            <a:solidFill>
              <a:srgbClr val="5BC0BE"/>
            </a:solidFill>
            <a:prstDash val="solid"/>
          </a:ln>
        </p:spPr>
      </p:sp>
      <p:sp>
        <p:nvSpPr>
          <p:cNvPr id="8" name="Shape 6"/>
          <p:cNvSpPr/>
          <p:nvPr/>
        </p:nvSpPr>
        <p:spPr>
          <a:xfrm>
            <a:off x="929030" y="356616"/>
            <a:ext cx="54864" cy="54864"/>
          </a:xfrm>
          <a:prstGeom prst="ellipse">
            <a:avLst/>
          </a:prstGeom>
          <a:solidFill>
            <a:srgbClr val="5BC0BE"/>
          </a:solidFill>
          <a:ln w="12700">
            <a:solidFill>
              <a:srgbClr val="5BC0BE"/>
            </a:solidFill>
            <a:prstDash val="solid"/>
          </a:ln>
        </p:spPr>
      </p:sp>
      <p:sp>
        <p:nvSpPr>
          <p:cNvPr id="9" name="Shape 7"/>
          <p:cNvSpPr/>
          <p:nvPr/>
        </p:nvSpPr>
        <p:spPr>
          <a:xfrm>
            <a:off x="1143000" y="329184"/>
            <a:ext cx="1874520" cy="274320"/>
          </a:xfrm>
          <a:prstGeom prst="roundRect">
            <a:avLst>
              <a:gd name="adj" fmla="val 50000"/>
            </a:avLst>
          </a:prstGeom>
          <a:solidFill>
            <a:srgbClr val="F5E6C4"/>
          </a:solidFill>
          <a:ln w="12700">
            <a:solidFill>
              <a:srgbClr val="F5E6C4"/>
            </a:solidFill>
            <a:prstDash val="solid"/>
          </a:ln>
        </p:spPr>
      </p:sp>
      <p:sp>
        <p:nvSpPr>
          <p:cNvPr id="10" name="Text 8"/>
          <p:cNvSpPr txBox="1"/>
          <p:nvPr/>
        </p:nvSpPr>
        <p:spPr>
          <a:xfrm>
            <a:off x="1143000" y="329184"/>
            <a:ext cx="1874520" cy="274320"/>
          </a:xfrm>
          <a:prstGeom prst="rect">
            <a:avLst/>
          </a:prstGeom>
          <a:noFill/>
          <a:ln/>
        </p:spPr>
        <p:txBody>
          <a:bodyPr wrap="square" lIns="0" tIns="0" rIns="0" bIns="0" rtlCol="0" anchor="ctr"/>
          <a:lstStyle/>
          <a:p>
            <a:pPr algn="ctr" indent="0" marL="0">
              <a:buNone/>
            </a:pPr>
            <a:r>
              <a:rPr lang="en-US" sz="900" b="1" spc="150" kern="0" dirty="0">
                <a:solidFill>
                  <a:srgbClr val="8A5A06"/>
                </a:solidFill>
                <a:latin typeface="Arial" pitchFamily="34" charset="0"/>
                <a:ea typeface="Arial" pitchFamily="34" charset="-122"/>
                <a:cs typeface="Arial" pitchFamily="34" charset="-120"/>
              </a:rPr>
              <a:t>HIPÓTESIS DE NEGOCIO</a:t>
            </a:r>
            <a:endParaRPr lang="en-US" sz="900" dirty="0"/>
          </a:p>
        </p:txBody>
      </p:sp>
      <p:sp>
        <p:nvSpPr>
          <p:cNvPr id="11" name="Text 9"/>
          <p:cNvSpPr txBox="1"/>
          <p:nvPr/>
        </p:nvSpPr>
        <p:spPr>
          <a:xfrm>
            <a:off x="594360" y="777240"/>
            <a:ext cx="11002975" cy="731520"/>
          </a:xfrm>
          <a:prstGeom prst="rect">
            <a:avLst/>
          </a:prstGeom>
          <a:noFill/>
          <a:ln/>
        </p:spPr>
        <p:txBody>
          <a:bodyPr wrap="square" lIns="0" tIns="0" rIns="0" bIns="0" rtlCol="0" anchor="t"/>
          <a:lstStyle/>
          <a:p>
            <a:pPr indent="0" marL="0">
              <a:buNone/>
            </a:pPr>
            <a:r>
              <a:rPr lang="en-US" sz="3000" b="1" dirty="0">
                <a:solidFill>
                  <a:srgbClr val="0B132B"/>
                </a:solidFill>
                <a:latin typeface="Arial" pitchFamily="34" charset="0"/>
                <a:ea typeface="Arial" pitchFamily="34" charset="-122"/>
                <a:cs typeface="Arial" pitchFamily="34" charset="-120"/>
              </a:rPr>
              <a:t>Trade-offs entre modelos</a:t>
            </a:r>
            <a:endParaRPr lang="en-US" sz="3000" dirty="0"/>
          </a:p>
        </p:txBody>
      </p:sp>
      <p:sp>
        <p:nvSpPr>
          <p:cNvPr id="12" name="Text 10"/>
          <p:cNvSpPr txBox="1"/>
          <p:nvPr/>
        </p:nvSpPr>
        <p:spPr>
          <a:xfrm>
            <a:off x="594360" y="6473952"/>
            <a:ext cx="7315200" cy="182880"/>
          </a:xfrm>
          <a:prstGeom prst="rect">
            <a:avLst/>
          </a:prstGeom>
          <a:noFill/>
          <a:ln/>
        </p:spPr>
        <p:txBody>
          <a:bodyPr wrap="square" lIns="0" tIns="0" rIns="0" bIns="0" rtlCol="0" anchor="t"/>
          <a:lstStyle/>
          <a:p>
            <a:pPr indent="0" marL="0">
              <a:buNone/>
            </a:pPr>
            <a:r>
              <a:rPr lang="en-US" sz="850" dirty="0">
                <a:solidFill>
                  <a:srgbClr val="6B7385"/>
                </a:solidFill>
                <a:latin typeface="Arial" pitchFamily="34" charset="0"/>
                <a:ea typeface="Arial" pitchFamily="34" charset="-122"/>
                <a:cs typeface="Arial" pitchFamily="34" charset="-120"/>
              </a:rPr>
              <a:t>Zig-Zag · Business, Product &amp; Strategy Update · Septiembre 2026</a:t>
            </a:r>
            <a:endParaRPr lang="en-US" sz="850" dirty="0"/>
          </a:p>
        </p:txBody>
      </p:sp>
      <p:sp>
        <p:nvSpPr>
          <p:cNvPr id="13" name="Text 11"/>
          <p:cNvSpPr txBox="1"/>
          <p:nvPr/>
        </p:nvSpPr>
        <p:spPr>
          <a:xfrm>
            <a:off x="11048695" y="6473952"/>
            <a:ext cx="548640" cy="182880"/>
          </a:xfrm>
          <a:prstGeom prst="rect">
            <a:avLst/>
          </a:prstGeom>
          <a:noFill/>
          <a:ln/>
        </p:spPr>
        <p:txBody>
          <a:bodyPr wrap="square" lIns="0" tIns="0" rIns="0" bIns="0" rtlCol="0" anchor="t"/>
          <a:lstStyle/>
          <a:p>
            <a:pPr algn="r" indent="0" marL="0">
              <a:buNone/>
            </a:pPr>
            <a:r>
              <a:rPr lang="en-US" sz="850" dirty="0">
                <a:solidFill>
                  <a:srgbClr val="6B7385"/>
                </a:solidFill>
                <a:latin typeface="Arial" pitchFamily="34" charset="0"/>
                <a:ea typeface="Arial" pitchFamily="34" charset="-122"/>
                <a:cs typeface="Arial" pitchFamily="34" charset="-120"/>
              </a:rPr>
              <a:t>14</a:t>
            </a:r>
            <a:endParaRPr lang="en-US" sz="85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94360" y="1691640"/>
          <a:ext cx="11000232" cy="914400"/>
        </p:xfrm>
        <a:graphic>
          <a:graphicData uri="http://schemas.openxmlformats.org/drawingml/2006/table">
            <a:tbl>
              <a:tblPr/>
              <a:tblGrid>
                <a:gridCol w="2103120"/>
                <a:gridCol w="1463040"/>
                <a:gridCol w="2057400"/>
                <a:gridCol w="1143000"/>
                <a:gridCol w="1463040"/>
                <a:gridCol w="1417320"/>
                <a:gridCol w="1353312"/>
              </a:tblGrid>
              <a:tr h="658368">
                <a:tc>
                  <a:txBody>
                    <a:bodyPr/>
                    <a:lstStyle/>
                    <a:p>
                      <a:pPr indent="0" marL="0">
                        <a:buNone/>
                      </a:pPr>
                      <a:r>
                        <a:rPr lang="en-US" sz="1300" b="1" dirty="0">
                          <a:solidFill>
                            <a:srgbClr val="FFFFFF"/>
                          </a:solidFill>
                          <a:latin typeface="Arial" pitchFamily="34" charset="0"/>
                          <a:ea typeface="Arial" pitchFamily="34" charset="-122"/>
                          <a:cs typeface="Arial" pitchFamily="34" charset="-120"/>
                        </a:rPr>
                        <a:t>Modelo</a:t>
                      </a:r>
                      <a:endParaRPr lang="en-US" sz="1300" dirty="0">
                        <a:latin typeface="Arial" charset="0"/>
                        <a:ea typeface="Arial" charset="0"/>
                        <a:cs typeface="Arial" charset="0"/>
                      </a:endParaRPr>
                    </a:p>
                  </a:txBody>
                  <a:tcPr marL="101600" marR="101600" marT="50800" marB="50800" anchor="ctr">
                    <a:lnL w="9525" cap="flat" cmpd="sng" algn="ctr">
                      <a:solidFill>
                        <a:srgbClr val="D8D2C4"/>
                      </a:solidFill>
                      <a:prstDash val="solid"/>
                      <a:round/>
                      <a:headEnd type="none" w="med" len="med"/>
                      <a:tailEnd type="none" w="med" len="med"/>
                    </a:lnL>
                    <a:lnR w="9525" cap="flat" cmpd="sng" algn="ctr">
                      <a:solidFill>
                        <a:srgbClr val="D8D2C4"/>
                      </a:solidFill>
                      <a:prstDash val="solid"/>
                      <a:round/>
                      <a:headEnd type="none" w="med" len="med"/>
                      <a:tailEnd type="none" w="med" len="med"/>
                    </a:lnR>
                    <a:lnT w="9525" cap="flat" cmpd="sng" algn="ctr">
                      <a:solidFill>
                        <a:srgbClr val="D8D2C4"/>
                      </a:solidFill>
                      <a:prstDash val="solid"/>
                      <a:round/>
                      <a:headEnd type="none" w="med" len="med"/>
                      <a:tailEnd type="none" w="med" len="med"/>
                    </a:lnT>
                    <a:lnB w="9525" cap="flat" cmpd="sng" algn="ctr">
                      <a:solidFill>
                        <a:srgbClr val="D8D2C4"/>
                      </a:solidFill>
                      <a:prstDash val="solid"/>
                      <a:round/>
                      <a:headEnd type="none" w="med" len="med"/>
                      <a:tailEnd type="none" w="med" len="med"/>
                    </a:lnB>
                    <a:solidFill>
                      <a:srgbClr val="0B132B"/>
                    </a:solidFill>
                  </a:tcPr>
                </a:tc>
                <a:tc>
                  <a:txBody>
                    <a:bodyPr/>
                    <a:lstStyle/>
                    <a:p>
                      <a:pPr indent="0" marL="0">
                        <a:buNone/>
                      </a:pPr>
                      <a:r>
                        <a:rPr lang="en-US" sz="1300" b="1" dirty="0">
                          <a:solidFill>
                            <a:srgbClr val="FFFFFF"/>
                          </a:solidFill>
                          <a:latin typeface="Arial" pitchFamily="34" charset="0"/>
                          <a:ea typeface="Arial" pitchFamily="34" charset="-122"/>
                          <a:cs typeface="Arial" pitchFamily="34" charset="-120"/>
                        </a:rPr>
                        <a:t>Velocidad de ingreso</a:t>
                      </a:r>
                      <a:endParaRPr lang="en-US" sz="1300" dirty="0">
                        <a:latin typeface="Arial" charset="0"/>
                        <a:ea typeface="Arial" charset="0"/>
                        <a:cs typeface="Arial" charset="0"/>
                      </a:endParaRPr>
                    </a:p>
                  </a:txBody>
                  <a:tcPr marL="101600" marR="101600" marT="50800" marB="50800" anchor="ctr">
                    <a:lnL w="9525" cap="flat" cmpd="sng" algn="ctr">
                      <a:solidFill>
                        <a:srgbClr val="D8D2C4"/>
                      </a:solidFill>
                      <a:prstDash val="solid"/>
                      <a:round/>
                      <a:headEnd type="none" w="med" len="med"/>
                      <a:tailEnd type="none" w="med" len="med"/>
                    </a:lnL>
                    <a:lnR w="9525" cap="flat" cmpd="sng" algn="ctr">
                      <a:solidFill>
                        <a:srgbClr val="D8D2C4"/>
                      </a:solidFill>
                      <a:prstDash val="solid"/>
                      <a:round/>
                      <a:headEnd type="none" w="med" len="med"/>
                      <a:tailEnd type="none" w="med" len="med"/>
                    </a:lnR>
                    <a:lnT w="9525" cap="flat" cmpd="sng" algn="ctr">
                      <a:solidFill>
                        <a:srgbClr val="D8D2C4"/>
                      </a:solidFill>
                      <a:prstDash val="solid"/>
                      <a:round/>
                      <a:headEnd type="none" w="med" len="med"/>
                      <a:tailEnd type="none" w="med" len="med"/>
                    </a:lnT>
                    <a:lnB w="9525" cap="flat" cmpd="sng" algn="ctr">
                      <a:solidFill>
                        <a:srgbClr val="D8D2C4"/>
                      </a:solidFill>
                      <a:prstDash val="solid"/>
                      <a:round/>
                      <a:headEnd type="none" w="med" len="med"/>
                      <a:tailEnd type="none" w="med" len="med"/>
                    </a:lnB>
                    <a:solidFill>
                      <a:srgbClr val="0B132B"/>
                    </a:solidFill>
                  </a:tcPr>
                </a:tc>
                <a:tc>
                  <a:txBody>
                    <a:bodyPr/>
                    <a:lstStyle/>
                    <a:p>
                      <a:pPr indent="0" marL="0">
                        <a:buNone/>
                      </a:pPr>
                      <a:r>
                        <a:rPr lang="en-US" sz="1300" b="1" dirty="0">
                          <a:solidFill>
                            <a:srgbClr val="FFFFFF"/>
                          </a:solidFill>
                          <a:latin typeface="Arial" pitchFamily="34" charset="0"/>
                          <a:ea typeface="Arial" pitchFamily="34" charset="-122"/>
                          <a:cs typeface="Arial" pitchFamily="34" charset="-120"/>
                        </a:rPr>
                        <a:t>Distribución requerida</a:t>
                      </a:r>
                      <a:endParaRPr lang="en-US" sz="1300" dirty="0">
                        <a:latin typeface="Arial" charset="0"/>
                        <a:ea typeface="Arial" charset="0"/>
                        <a:cs typeface="Arial" charset="0"/>
                      </a:endParaRPr>
                    </a:p>
                  </a:txBody>
                  <a:tcPr marL="101600" marR="101600" marT="50800" marB="50800" anchor="ctr">
                    <a:lnL w="9525" cap="flat" cmpd="sng" algn="ctr">
                      <a:solidFill>
                        <a:srgbClr val="D8D2C4"/>
                      </a:solidFill>
                      <a:prstDash val="solid"/>
                      <a:round/>
                      <a:headEnd type="none" w="med" len="med"/>
                      <a:tailEnd type="none" w="med" len="med"/>
                    </a:lnL>
                    <a:lnR w="9525" cap="flat" cmpd="sng" algn="ctr">
                      <a:solidFill>
                        <a:srgbClr val="D8D2C4"/>
                      </a:solidFill>
                      <a:prstDash val="solid"/>
                      <a:round/>
                      <a:headEnd type="none" w="med" len="med"/>
                      <a:tailEnd type="none" w="med" len="med"/>
                    </a:lnR>
                    <a:lnT w="9525" cap="flat" cmpd="sng" algn="ctr">
                      <a:solidFill>
                        <a:srgbClr val="D8D2C4"/>
                      </a:solidFill>
                      <a:prstDash val="solid"/>
                      <a:round/>
                      <a:headEnd type="none" w="med" len="med"/>
                      <a:tailEnd type="none" w="med" len="med"/>
                    </a:lnT>
                    <a:lnB w="9525" cap="flat" cmpd="sng" algn="ctr">
                      <a:solidFill>
                        <a:srgbClr val="D8D2C4"/>
                      </a:solidFill>
                      <a:prstDash val="solid"/>
                      <a:round/>
                      <a:headEnd type="none" w="med" len="med"/>
                      <a:tailEnd type="none" w="med" len="med"/>
                    </a:lnB>
                    <a:solidFill>
                      <a:srgbClr val="0B132B"/>
                    </a:solidFill>
                  </a:tcPr>
                </a:tc>
                <a:tc>
                  <a:txBody>
                    <a:bodyPr/>
                    <a:lstStyle/>
                    <a:p>
                      <a:pPr indent="0" marL="0">
                        <a:buNone/>
                      </a:pPr>
                      <a:r>
                        <a:rPr lang="en-US" sz="1300" b="1" dirty="0">
                          <a:solidFill>
                            <a:srgbClr val="FFFFFF"/>
                          </a:solidFill>
                          <a:latin typeface="Arial" pitchFamily="34" charset="0"/>
                          <a:ea typeface="Arial" pitchFamily="34" charset="-122"/>
                          <a:cs typeface="Arial" pitchFamily="34" charset="-120"/>
                        </a:rPr>
                        <a:t>Potencial</a:t>
                      </a:r>
                      <a:endParaRPr lang="en-US" sz="1300" dirty="0">
                        <a:latin typeface="Arial" charset="0"/>
                        <a:ea typeface="Arial" charset="0"/>
                        <a:cs typeface="Arial" charset="0"/>
                      </a:endParaRPr>
                    </a:p>
                  </a:txBody>
                  <a:tcPr marL="101600" marR="101600" marT="50800" marB="50800" anchor="ctr">
                    <a:lnL w="9525" cap="flat" cmpd="sng" algn="ctr">
                      <a:solidFill>
                        <a:srgbClr val="D8D2C4"/>
                      </a:solidFill>
                      <a:prstDash val="solid"/>
                      <a:round/>
                      <a:headEnd type="none" w="med" len="med"/>
                      <a:tailEnd type="none" w="med" len="med"/>
                    </a:lnL>
                    <a:lnR w="9525" cap="flat" cmpd="sng" algn="ctr">
                      <a:solidFill>
                        <a:srgbClr val="D8D2C4"/>
                      </a:solidFill>
                      <a:prstDash val="solid"/>
                      <a:round/>
                      <a:headEnd type="none" w="med" len="med"/>
                      <a:tailEnd type="none" w="med" len="med"/>
                    </a:lnR>
                    <a:lnT w="9525" cap="flat" cmpd="sng" algn="ctr">
                      <a:solidFill>
                        <a:srgbClr val="D8D2C4"/>
                      </a:solidFill>
                      <a:prstDash val="solid"/>
                      <a:round/>
                      <a:headEnd type="none" w="med" len="med"/>
                      <a:tailEnd type="none" w="med" len="med"/>
                    </a:lnT>
                    <a:lnB w="9525" cap="flat" cmpd="sng" algn="ctr">
                      <a:solidFill>
                        <a:srgbClr val="D8D2C4"/>
                      </a:solidFill>
                      <a:prstDash val="solid"/>
                      <a:round/>
                      <a:headEnd type="none" w="med" len="med"/>
                      <a:tailEnd type="none" w="med" len="med"/>
                    </a:lnB>
                    <a:solidFill>
                      <a:srgbClr val="0B132B"/>
                    </a:solidFill>
                  </a:tcPr>
                </a:tc>
                <a:tc>
                  <a:txBody>
                    <a:bodyPr/>
                    <a:lstStyle/>
                    <a:p>
                      <a:pPr indent="0" marL="0">
                        <a:buNone/>
                      </a:pPr>
                      <a:r>
                        <a:rPr lang="en-US" sz="1300" b="1" dirty="0">
                          <a:solidFill>
                            <a:srgbClr val="FFFFFF"/>
                          </a:solidFill>
                          <a:latin typeface="Arial" pitchFamily="34" charset="0"/>
                          <a:ea typeface="Arial" pitchFamily="34" charset="-122"/>
                          <a:cs typeface="Arial" pitchFamily="34" charset="-120"/>
                        </a:rPr>
                        <a:t>Complejidad</a:t>
                      </a:r>
                      <a:endParaRPr lang="en-US" sz="1300" dirty="0">
                        <a:latin typeface="Arial" charset="0"/>
                        <a:ea typeface="Arial" charset="0"/>
                        <a:cs typeface="Arial" charset="0"/>
                      </a:endParaRPr>
                    </a:p>
                  </a:txBody>
                  <a:tcPr marL="101600" marR="101600" marT="50800" marB="50800" anchor="ctr">
                    <a:lnL w="9525" cap="flat" cmpd="sng" algn="ctr">
                      <a:solidFill>
                        <a:srgbClr val="D8D2C4"/>
                      </a:solidFill>
                      <a:prstDash val="solid"/>
                      <a:round/>
                      <a:headEnd type="none" w="med" len="med"/>
                      <a:tailEnd type="none" w="med" len="med"/>
                    </a:lnL>
                    <a:lnR w="9525" cap="flat" cmpd="sng" algn="ctr">
                      <a:solidFill>
                        <a:srgbClr val="D8D2C4"/>
                      </a:solidFill>
                      <a:prstDash val="solid"/>
                      <a:round/>
                      <a:headEnd type="none" w="med" len="med"/>
                      <a:tailEnd type="none" w="med" len="med"/>
                    </a:lnR>
                    <a:lnT w="9525" cap="flat" cmpd="sng" algn="ctr">
                      <a:solidFill>
                        <a:srgbClr val="D8D2C4"/>
                      </a:solidFill>
                      <a:prstDash val="solid"/>
                      <a:round/>
                      <a:headEnd type="none" w="med" len="med"/>
                      <a:tailEnd type="none" w="med" len="med"/>
                    </a:lnT>
                    <a:lnB w="9525" cap="flat" cmpd="sng" algn="ctr">
                      <a:solidFill>
                        <a:srgbClr val="D8D2C4"/>
                      </a:solidFill>
                      <a:prstDash val="solid"/>
                      <a:round/>
                      <a:headEnd type="none" w="med" len="med"/>
                      <a:tailEnd type="none" w="med" len="med"/>
                    </a:lnB>
                    <a:solidFill>
                      <a:srgbClr val="0B132B"/>
                    </a:solidFill>
                  </a:tcPr>
                </a:tc>
                <a:tc>
                  <a:txBody>
                    <a:bodyPr/>
                    <a:lstStyle/>
                    <a:p>
                      <a:pPr indent="0" marL="0">
                        <a:buNone/>
                      </a:pPr>
                      <a:r>
                        <a:rPr lang="en-US" sz="1300" b="1" dirty="0">
                          <a:solidFill>
                            <a:srgbClr val="FFFFFF"/>
                          </a:solidFill>
                          <a:latin typeface="Arial" pitchFamily="34" charset="0"/>
                          <a:ea typeface="Arial" pitchFamily="34" charset="-122"/>
                          <a:cs typeface="Arial" pitchFamily="34" charset="-120"/>
                        </a:rPr>
                        <a:t>Valor de aprendizaje</a:t>
                      </a:r>
                      <a:endParaRPr lang="en-US" sz="1300" dirty="0">
                        <a:latin typeface="Arial" charset="0"/>
                        <a:ea typeface="Arial" charset="0"/>
                        <a:cs typeface="Arial" charset="0"/>
                      </a:endParaRPr>
                    </a:p>
                  </a:txBody>
                  <a:tcPr marL="101600" marR="101600" marT="50800" marB="50800" anchor="ctr">
                    <a:lnL w="9525" cap="flat" cmpd="sng" algn="ctr">
                      <a:solidFill>
                        <a:srgbClr val="D8D2C4"/>
                      </a:solidFill>
                      <a:prstDash val="solid"/>
                      <a:round/>
                      <a:headEnd type="none" w="med" len="med"/>
                      <a:tailEnd type="none" w="med" len="med"/>
                    </a:lnL>
                    <a:lnR w="9525" cap="flat" cmpd="sng" algn="ctr">
                      <a:solidFill>
                        <a:srgbClr val="D8D2C4"/>
                      </a:solidFill>
                      <a:prstDash val="solid"/>
                      <a:round/>
                      <a:headEnd type="none" w="med" len="med"/>
                      <a:tailEnd type="none" w="med" len="med"/>
                    </a:lnR>
                    <a:lnT w="9525" cap="flat" cmpd="sng" algn="ctr">
                      <a:solidFill>
                        <a:srgbClr val="D8D2C4"/>
                      </a:solidFill>
                      <a:prstDash val="solid"/>
                      <a:round/>
                      <a:headEnd type="none" w="med" len="med"/>
                      <a:tailEnd type="none" w="med" len="med"/>
                    </a:lnT>
                    <a:lnB w="9525" cap="flat" cmpd="sng" algn="ctr">
                      <a:solidFill>
                        <a:srgbClr val="D8D2C4"/>
                      </a:solidFill>
                      <a:prstDash val="solid"/>
                      <a:round/>
                      <a:headEnd type="none" w="med" len="med"/>
                      <a:tailEnd type="none" w="med" len="med"/>
                    </a:lnB>
                    <a:solidFill>
                      <a:srgbClr val="0B132B"/>
                    </a:solidFill>
                  </a:tcPr>
                </a:tc>
                <a:tc>
                  <a:txBody>
                    <a:bodyPr/>
                    <a:lstStyle/>
                    <a:p>
                      <a:pPr indent="0" marL="0">
                        <a:buNone/>
                      </a:pPr>
                      <a:r>
                        <a:rPr lang="en-US" sz="1300" b="1" dirty="0">
                          <a:solidFill>
                            <a:srgbClr val="FFFFFF"/>
                          </a:solidFill>
                          <a:latin typeface="Arial" pitchFamily="34" charset="0"/>
                          <a:ea typeface="Arial" pitchFamily="34" charset="-122"/>
                          <a:cs typeface="Arial" pitchFamily="34" charset="-120"/>
                        </a:rPr>
                        <a:t>Momento</a:t>
                      </a:r>
                      <a:endParaRPr lang="en-US" sz="1300" dirty="0">
                        <a:latin typeface="Arial" charset="0"/>
                        <a:ea typeface="Arial" charset="0"/>
                        <a:cs typeface="Arial" charset="0"/>
                      </a:endParaRPr>
                    </a:p>
                  </a:txBody>
                  <a:tcPr marL="101600" marR="101600" marT="50800" marB="50800" anchor="ctr">
                    <a:lnL w="9525" cap="flat" cmpd="sng" algn="ctr">
                      <a:solidFill>
                        <a:srgbClr val="D8D2C4"/>
                      </a:solidFill>
                      <a:prstDash val="solid"/>
                      <a:round/>
                      <a:headEnd type="none" w="med" len="med"/>
                      <a:tailEnd type="none" w="med" len="med"/>
                    </a:lnL>
                    <a:lnR w="9525" cap="flat" cmpd="sng" algn="ctr">
                      <a:solidFill>
                        <a:srgbClr val="D8D2C4"/>
                      </a:solidFill>
                      <a:prstDash val="solid"/>
                      <a:round/>
                      <a:headEnd type="none" w="med" len="med"/>
                      <a:tailEnd type="none" w="med" len="med"/>
                    </a:lnR>
                    <a:lnT w="9525" cap="flat" cmpd="sng" algn="ctr">
                      <a:solidFill>
                        <a:srgbClr val="D8D2C4"/>
                      </a:solidFill>
                      <a:prstDash val="solid"/>
                      <a:round/>
                      <a:headEnd type="none" w="med" len="med"/>
                      <a:tailEnd type="none" w="med" len="med"/>
                    </a:lnT>
                    <a:lnB w="9525" cap="flat" cmpd="sng" algn="ctr">
                      <a:solidFill>
                        <a:srgbClr val="D8D2C4"/>
                      </a:solidFill>
                      <a:prstDash val="solid"/>
                      <a:round/>
                      <a:headEnd type="none" w="med" len="med"/>
                      <a:tailEnd type="none" w="med" len="med"/>
                    </a:lnB>
                    <a:solidFill>
                      <a:srgbClr val="0B132B"/>
                    </a:solidFill>
                  </a:tcPr>
                </a:tc>
              </a:tr>
              <a:tr h="658368">
                <a:tc>
                  <a:txBody>
                    <a:bodyPr/>
                    <a:lstStyle/>
                    <a:p>
                      <a:pPr indent="0" marL="0">
                        <a:buNone/>
                      </a:pPr>
                      <a:r>
                        <a:rPr lang="en-US" sz="1300" b="1" dirty="0">
                          <a:solidFill>
                            <a:srgbClr val="0B132B"/>
                          </a:solidFill>
                          <a:latin typeface="Arial" pitchFamily="34" charset="0"/>
                          <a:ea typeface="Arial" pitchFamily="34" charset="-122"/>
                          <a:cs typeface="Arial" pitchFamily="34" charset="-120"/>
                        </a:rPr>
                        <a:t>B2C gratis + reservas</a:t>
                      </a:r>
                      <a:endParaRPr lang="en-US" sz="1300" dirty="0">
                        <a:latin typeface="Arial" charset="0"/>
                        <a:ea typeface="Arial" charset="0"/>
                        <a:cs typeface="Arial" charset="0"/>
                      </a:endParaRPr>
                    </a:p>
                  </a:txBody>
                  <a:tcPr marL="101600" marR="101600" marT="50800" marB="50800" anchor="ctr">
                    <a:lnL w="9525" cap="flat" cmpd="sng" algn="ctr">
                      <a:solidFill>
                        <a:srgbClr val="D8D2C4"/>
                      </a:solidFill>
                      <a:prstDash val="solid"/>
                      <a:round/>
                      <a:headEnd type="none" w="med" len="med"/>
                      <a:tailEnd type="none" w="med" len="med"/>
                    </a:lnL>
                    <a:lnR w="9525" cap="flat" cmpd="sng" algn="ctr">
                      <a:solidFill>
                        <a:srgbClr val="D8D2C4"/>
                      </a:solidFill>
                      <a:prstDash val="solid"/>
                      <a:round/>
                      <a:headEnd type="none" w="med" len="med"/>
                      <a:tailEnd type="none" w="med" len="med"/>
                    </a:lnR>
                    <a:lnT w="9525" cap="flat" cmpd="sng" algn="ctr">
                      <a:solidFill>
                        <a:srgbClr val="D8D2C4"/>
                      </a:solidFill>
                      <a:prstDash val="solid"/>
                      <a:round/>
                      <a:headEnd type="none" w="med" len="med"/>
                      <a:tailEnd type="none" w="med" len="med"/>
                    </a:lnT>
                    <a:lnB w="9525" cap="flat" cmpd="sng" algn="ctr">
                      <a:solidFill>
                        <a:srgbClr val="D8D2C4"/>
                      </a:solidFill>
                      <a:prstDash val="solid"/>
                      <a:round/>
                      <a:headEnd type="none" w="med" len="med"/>
                      <a:tailEnd type="none" w="med" len="med"/>
                    </a:lnB>
                    <a:solidFill>
                      <a:srgbClr val="FFFFFF"/>
                    </a:solidFill>
                  </a:tcPr>
                </a:tc>
                <a:tc>
                  <a:txBody>
                    <a:bodyPr/>
                    <a:lstStyle/>
                    <a:p>
                      <a:pPr indent="0" marL="0">
                        <a:buNone/>
                      </a:pPr>
                      <a:r>
                        <a:rPr lang="en-US" sz="1300" dirty="0">
                          <a:solidFill>
                            <a:srgbClr val="0B132B"/>
                          </a:solidFill>
                          <a:latin typeface="Arial" pitchFamily="34" charset="0"/>
                          <a:ea typeface="Arial" pitchFamily="34" charset="-122"/>
                          <a:cs typeface="Arial" pitchFamily="34" charset="-120"/>
                        </a:rPr>
                        <a:t>Media</a:t>
                      </a:r>
                      <a:endParaRPr lang="en-US" sz="1300" dirty="0">
                        <a:latin typeface="Arial" charset="0"/>
                        <a:ea typeface="Arial" charset="0"/>
                        <a:cs typeface="Arial" charset="0"/>
                      </a:endParaRPr>
                    </a:p>
                  </a:txBody>
                  <a:tcPr marL="101600" marR="101600" marT="50800" marB="50800" anchor="ctr">
                    <a:lnL w="9525" cap="flat" cmpd="sng" algn="ctr">
                      <a:solidFill>
                        <a:srgbClr val="D8D2C4"/>
                      </a:solidFill>
                      <a:prstDash val="solid"/>
                      <a:round/>
                      <a:headEnd type="none" w="med" len="med"/>
                      <a:tailEnd type="none" w="med" len="med"/>
                    </a:lnL>
                    <a:lnR w="9525" cap="flat" cmpd="sng" algn="ctr">
                      <a:solidFill>
                        <a:srgbClr val="D8D2C4"/>
                      </a:solidFill>
                      <a:prstDash val="solid"/>
                      <a:round/>
                      <a:headEnd type="none" w="med" len="med"/>
                      <a:tailEnd type="none" w="med" len="med"/>
                    </a:lnR>
                    <a:lnT w="9525" cap="flat" cmpd="sng" algn="ctr">
                      <a:solidFill>
                        <a:srgbClr val="D8D2C4"/>
                      </a:solidFill>
                      <a:prstDash val="solid"/>
                      <a:round/>
                      <a:headEnd type="none" w="med" len="med"/>
                      <a:tailEnd type="none" w="med" len="med"/>
                    </a:lnT>
                    <a:lnB w="9525" cap="flat" cmpd="sng" algn="ctr">
                      <a:solidFill>
                        <a:srgbClr val="D8D2C4"/>
                      </a:solidFill>
                      <a:prstDash val="solid"/>
                      <a:round/>
                      <a:headEnd type="none" w="med" len="med"/>
                      <a:tailEnd type="none" w="med" len="med"/>
                    </a:lnB>
                    <a:solidFill>
                      <a:srgbClr val="FFFFFF"/>
                    </a:solidFill>
                  </a:tcPr>
                </a:tc>
                <a:tc>
                  <a:txBody>
                    <a:bodyPr/>
                    <a:lstStyle/>
                    <a:p>
                      <a:pPr indent="0" marL="0">
                        <a:buNone/>
                      </a:pPr>
                      <a:r>
                        <a:rPr lang="en-US" sz="1300" dirty="0">
                          <a:solidFill>
                            <a:srgbClr val="0B132B"/>
                          </a:solidFill>
                          <a:latin typeface="Arial" pitchFamily="34" charset="0"/>
                          <a:ea typeface="Arial" pitchFamily="34" charset="-122"/>
                          <a:cs typeface="Arial" pitchFamily="34" charset="-120"/>
                        </a:rPr>
                        <a:t>Alta: adquisición masiva</a:t>
                      </a:r>
                      <a:endParaRPr lang="en-US" sz="1300" dirty="0">
                        <a:latin typeface="Arial" charset="0"/>
                        <a:ea typeface="Arial" charset="0"/>
                        <a:cs typeface="Arial" charset="0"/>
                      </a:endParaRPr>
                    </a:p>
                  </a:txBody>
                  <a:tcPr marL="101600" marR="101600" marT="50800" marB="50800" anchor="ctr">
                    <a:lnL w="9525" cap="flat" cmpd="sng" algn="ctr">
                      <a:solidFill>
                        <a:srgbClr val="D8D2C4"/>
                      </a:solidFill>
                      <a:prstDash val="solid"/>
                      <a:round/>
                      <a:headEnd type="none" w="med" len="med"/>
                      <a:tailEnd type="none" w="med" len="med"/>
                    </a:lnL>
                    <a:lnR w="9525" cap="flat" cmpd="sng" algn="ctr">
                      <a:solidFill>
                        <a:srgbClr val="D8D2C4"/>
                      </a:solidFill>
                      <a:prstDash val="solid"/>
                      <a:round/>
                      <a:headEnd type="none" w="med" len="med"/>
                      <a:tailEnd type="none" w="med" len="med"/>
                    </a:lnR>
                    <a:lnT w="9525" cap="flat" cmpd="sng" algn="ctr">
                      <a:solidFill>
                        <a:srgbClr val="D8D2C4"/>
                      </a:solidFill>
                      <a:prstDash val="solid"/>
                      <a:round/>
                      <a:headEnd type="none" w="med" len="med"/>
                      <a:tailEnd type="none" w="med" len="med"/>
                    </a:lnT>
                    <a:lnB w="9525" cap="flat" cmpd="sng" algn="ctr">
                      <a:solidFill>
                        <a:srgbClr val="D8D2C4"/>
                      </a:solidFill>
                      <a:prstDash val="solid"/>
                      <a:round/>
                      <a:headEnd type="none" w="med" len="med"/>
                      <a:tailEnd type="none" w="med" len="med"/>
                    </a:lnB>
                    <a:solidFill>
                      <a:srgbClr val="FFFFFF"/>
                    </a:solidFill>
                  </a:tcPr>
                </a:tc>
                <a:tc>
                  <a:txBody>
                    <a:bodyPr/>
                    <a:lstStyle/>
                    <a:p>
                      <a:pPr indent="0" marL="0">
                        <a:buNone/>
                      </a:pPr>
                      <a:r>
                        <a:rPr lang="en-US" sz="1300" dirty="0">
                          <a:solidFill>
                            <a:srgbClr val="0B132B"/>
                          </a:solidFill>
                          <a:latin typeface="Arial" pitchFamily="34" charset="0"/>
                          <a:ea typeface="Arial" pitchFamily="34" charset="-122"/>
                          <a:cs typeface="Arial" pitchFamily="34" charset="-120"/>
                        </a:rPr>
                        <a:t>Alto</a:t>
                      </a:r>
                      <a:endParaRPr lang="en-US" sz="1300" dirty="0">
                        <a:latin typeface="Arial" charset="0"/>
                        <a:ea typeface="Arial" charset="0"/>
                        <a:cs typeface="Arial" charset="0"/>
                      </a:endParaRPr>
                    </a:p>
                  </a:txBody>
                  <a:tcPr marL="101600" marR="101600" marT="50800" marB="50800" anchor="ctr">
                    <a:lnL w="9525" cap="flat" cmpd="sng" algn="ctr">
                      <a:solidFill>
                        <a:srgbClr val="D8D2C4"/>
                      </a:solidFill>
                      <a:prstDash val="solid"/>
                      <a:round/>
                      <a:headEnd type="none" w="med" len="med"/>
                      <a:tailEnd type="none" w="med" len="med"/>
                    </a:lnL>
                    <a:lnR w="9525" cap="flat" cmpd="sng" algn="ctr">
                      <a:solidFill>
                        <a:srgbClr val="D8D2C4"/>
                      </a:solidFill>
                      <a:prstDash val="solid"/>
                      <a:round/>
                      <a:headEnd type="none" w="med" len="med"/>
                      <a:tailEnd type="none" w="med" len="med"/>
                    </a:lnR>
                    <a:lnT w="9525" cap="flat" cmpd="sng" algn="ctr">
                      <a:solidFill>
                        <a:srgbClr val="D8D2C4"/>
                      </a:solidFill>
                      <a:prstDash val="solid"/>
                      <a:round/>
                      <a:headEnd type="none" w="med" len="med"/>
                      <a:tailEnd type="none" w="med" len="med"/>
                    </a:lnT>
                    <a:lnB w="9525" cap="flat" cmpd="sng" algn="ctr">
                      <a:solidFill>
                        <a:srgbClr val="D8D2C4"/>
                      </a:solidFill>
                      <a:prstDash val="solid"/>
                      <a:round/>
                      <a:headEnd type="none" w="med" len="med"/>
                      <a:tailEnd type="none" w="med" len="med"/>
                    </a:lnB>
                    <a:solidFill>
                      <a:srgbClr val="FFFFFF"/>
                    </a:solidFill>
                  </a:tcPr>
                </a:tc>
                <a:tc>
                  <a:txBody>
                    <a:bodyPr/>
                    <a:lstStyle/>
                    <a:p>
                      <a:pPr indent="0" marL="0">
                        <a:buNone/>
                      </a:pPr>
                      <a:r>
                        <a:rPr lang="en-US" sz="1300" dirty="0">
                          <a:solidFill>
                            <a:srgbClr val="0B132B"/>
                          </a:solidFill>
                          <a:latin typeface="Arial" pitchFamily="34" charset="0"/>
                          <a:ea typeface="Arial" pitchFamily="34" charset="-122"/>
                          <a:cs typeface="Arial" pitchFamily="34" charset="-120"/>
                        </a:rPr>
                        <a:t>Baja-media</a:t>
                      </a:r>
                      <a:endParaRPr lang="en-US" sz="1300" dirty="0">
                        <a:latin typeface="Arial" charset="0"/>
                        <a:ea typeface="Arial" charset="0"/>
                        <a:cs typeface="Arial" charset="0"/>
                      </a:endParaRPr>
                    </a:p>
                  </a:txBody>
                  <a:tcPr marL="101600" marR="101600" marT="50800" marB="50800" anchor="ctr">
                    <a:lnL w="9525" cap="flat" cmpd="sng" algn="ctr">
                      <a:solidFill>
                        <a:srgbClr val="D8D2C4"/>
                      </a:solidFill>
                      <a:prstDash val="solid"/>
                      <a:round/>
                      <a:headEnd type="none" w="med" len="med"/>
                      <a:tailEnd type="none" w="med" len="med"/>
                    </a:lnL>
                    <a:lnR w="9525" cap="flat" cmpd="sng" algn="ctr">
                      <a:solidFill>
                        <a:srgbClr val="D8D2C4"/>
                      </a:solidFill>
                      <a:prstDash val="solid"/>
                      <a:round/>
                      <a:headEnd type="none" w="med" len="med"/>
                      <a:tailEnd type="none" w="med" len="med"/>
                    </a:lnR>
                    <a:lnT w="9525" cap="flat" cmpd="sng" algn="ctr">
                      <a:solidFill>
                        <a:srgbClr val="D8D2C4"/>
                      </a:solidFill>
                      <a:prstDash val="solid"/>
                      <a:round/>
                      <a:headEnd type="none" w="med" len="med"/>
                      <a:tailEnd type="none" w="med" len="med"/>
                    </a:lnT>
                    <a:lnB w="9525" cap="flat" cmpd="sng" algn="ctr">
                      <a:solidFill>
                        <a:srgbClr val="D8D2C4"/>
                      </a:solidFill>
                      <a:prstDash val="solid"/>
                      <a:round/>
                      <a:headEnd type="none" w="med" len="med"/>
                      <a:tailEnd type="none" w="med" len="med"/>
                    </a:lnB>
                    <a:solidFill>
                      <a:srgbClr val="FFFFFF"/>
                    </a:solidFill>
                  </a:tcPr>
                </a:tc>
                <a:tc>
                  <a:txBody>
                    <a:bodyPr/>
                    <a:lstStyle/>
                    <a:p>
                      <a:pPr indent="0" marL="0">
                        <a:buNone/>
                      </a:pPr>
                      <a:r>
                        <a:rPr lang="en-US" sz="1300" dirty="0">
                          <a:solidFill>
                            <a:srgbClr val="0B132B"/>
                          </a:solidFill>
                          <a:latin typeface="Arial" pitchFamily="34" charset="0"/>
                          <a:ea typeface="Arial" pitchFamily="34" charset="-122"/>
                          <a:cs typeface="Arial" pitchFamily="34" charset="-120"/>
                        </a:rPr>
                        <a:t>Muy alto</a:t>
                      </a:r>
                      <a:endParaRPr lang="en-US" sz="1300" dirty="0">
                        <a:latin typeface="Arial" charset="0"/>
                        <a:ea typeface="Arial" charset="0"/>
                        <a:cs typeface="Arial" charset="0"/>
                      </a:endParaRPr>
                    </a:p>
                  </a:txBody>
                  <a:tcPr marL="101600" marR="101600" marT="50800" marB="50800" anchor="ctr">
                    <a:lnL w="9525" cap="flat" cmpd="sng" algn="ctr">
                      <a:solidFill>
                        <a:srgbClr val="D8D2C4"/>
                      </a:solidFill>
                      <a:prstDash val="solid"/>
                      <a:round/>
                      <a:headEnd type="none" w="med" len="med"/>
                      <a:tailEnd type="none" w="med" len="med"/>
                    </a:lnL>
                    <a:lnR w="9525" cap="flat" cmpd="sng" algn="ctr">
                      <a:solidFill>
                        <a:srgbClr val="D8D2C4"/>
                      </a:solidFill>
                      <a:prstDash val="solid"/>
                      <a:round/>
                      <a:headEnd type="none" w="med" len="med"/>
                      <a:tailEnd type="none" w="med" len="med"/>
                    </a:lnR>
                    <a:lnT w="9525" cap="flat" cmpd="sng" algn="ctr">
                      <a:solidFill>
                        <a:srgbClr val="D8D2C4"/>
                      </a:solidFill>
                      <a:prstDash val="solid"/>
                      <a:round/>
                      <a:headEnd type="none" w="med" len="med"/>
                      <a:tailEnd type="none" w="med" len="med"/>
                    </a:lnT>
                    <a:lnB w="9525" cap="flat" cmpd="sng" algn="ctr">
                      <a:solidFill>
                        <a:srgbClr val="D8D2C4"/>
                      </a:solidFill>
                      <a:prstDash val="solid"/>
                      <a:round/>
                      <a:headEnd type="none" w="med" len="med"/>
                      <a:tailEnd type="none" w="med" len="med"/>
                    </a:lnB>
                    <a:solidFill>
                      <a:srgbClr val="FFFFFF"/>
                    </a:solidFill>
                  </a:tcPr>
                </a:tc>
                <a:tc>
                  <a:txBody>
                    <a:bodyPr/>
                    <a:lstStyle/>
                    <a:p>
                      <a:pPr indent="0" marL="0">
                        <a:buNone/>
                      </a:pPr>
                      <a:r>
                        <a:rPr lang="en-US" sz="1300" dirty="0">
                          <a:solidFill>
                            <a:srgbClr val="0B132B"/>
                          </a:solidFill>
                          <a:latin typeface="Arial" pitchFamily="34" charset="0"/>
                          <a:ea typeface="Arial" pitchFamily="34" charset="-122"/>
                          <a:cs typeface="Arial" pitchFamily="34" charset="-120"/>
                        </a:rPr>
                        <a:t>Primero</a:t>
                      </a:r>
                      <a:endParaRPr lang="en-US" sz="1300" dirty="0">
                        <a:latin typeface="Arial" charset="0"/>
                        <a:ea typeface="Arial" charset="0"/>
                        <a:cs typeface="Arial" charset="0"/>
                      </a:endParaRPr>
                    </a:p>
                  </a:txBody>
                  <a:tcPr marL="101600" marR="101600" marT="50800" marB="50800" anchor="ctr">
                    <a:lnL w="9525" cap="flat" cmpd="sng" algn="ctr">
                      <a:solidFill>
                        <a:srgbClr val="D8D2C4"/>
                      </a:solidFill>
                      <a:prstDash val="solid"/>
                      <a:round/>
                      <a:headEnd type="none" w="med" len="med"/>
                      <a:tailEnd type="none" w="med" len="med"/>
                    </a:lnL>
                    <a:lnR w="9525" cap="flat" cmpd="sng" algn="ctr">
                      <a:solidFill>
                        <a:srgbClr val="D8D2C4"/>
                      </a:solidFill>
                      <a:prstDash val="solid"/>
                      <a:round/>
                      <a:headEnd type="none" w="med" len="med"/>
                      <a:tailEnd type="none" w="med" len="med"/>
                    </a:lnR>
                    <a:lnT w="9525" cap="flat" cmpd="sng" algn="ctr">
                      <a:solidFill>
                        <a:srgbClr val="D8D2C4"/>
                      </a:solidFill>
                      <a:prstDash val="solid"/>
                      <a:round/>
                      <a:headEnd type="none" w="med" len="med"/>
                      <a:tailEnd type="none" w="med" len="med"/>
                    </a:lnT>
                    <a:lnB w="9525" cap="flat" cmpd="sng" algn="ctr">
                      <a:solidFill>
                        <a:srgbClr val="D8D2C4"/>
                      </a:solidFill>
                      <a:prstDash val="solid"/>
                      <a:round/>
                      <a:headEnd type="none" w="med" len="med"/>
                      <a:tailEnd type="none" w="med" len="med"/>
                    </a:lnB>
                    <a:solidFill>
                      <a:srgbClr val="FFFFFF"/>
                    </a:solidFill>
                  </a:tcPr>
                </a:tc>
              </a:tr>
              <a:tr h="658368">
                <a:tc>
                  <a:txBody>
                    <a:bodyPr/>
                    <a:lstStyle/>
                    <a:p>
                      <a:pPr indent="0" marL="0">
                        <a:buNone/>
                      </a:pPr>
                      <a:r>
                        <a:rPr lang="en-US" sz="1300" b="1" dirty="0">
                          <a:solidFill>
                            <a:srgbClr val="0B132B"/>
                          </a:solidFill>
                          <a:latin typeface="Arial" pitchFamily="34" charset="0"/>
                          <a:ea typeface="Arial" pitchFamily="34" charset="-122"/>
                          <a:cs typeface="Arial" pitchFamily="34" charset="-120"/>
                        </a:rPr>
                        <a:t>B2C Premium / Trip Pass</a:t>
                      </a:r>
                      <a:endParaRPr lang="en-US" sz="1300" dirty="0">
                        <a:latin typeface="Arial" charset="0"/>
                        <a:ea typeface="Arial" charset="0"/>
                        <a:cs typeface="Arial" charset="0"/>
                      </a:endParaRPr>
                    </a:p>
                  </a:txBody>
                  <a:tcPr marL="101600" marR="101600" marT="50800" marB="50800" anchor="ctr">
                    <a:lnL w="9525" cap="flat" cmpd="sng" algn="ctr">
                      <a:solidFill>
                        <a:srgbClr val="D8D2C4"/>
                      </a:solidFill>
                      <a:prstDash val="solid"/>
                      <a:round/>
                      <a:headEnd type="none" w="med" len="med"/>
                      <a:tailEnd type="none" w="med" len="med"/>
                    </a:lnL>
                    <a:lnR w="9525" cap="flat" cmpd="sng" algn="ctr">
                      <a:solidFill>
                        <a:srgbClr val="D8D2C4"/>
                      </a:solidFill>
                      <a:prstDash val="solid"/>
                      <a:round/>
                      <a:headEnd type="none" w="med" len="med"/>
                      <a:tailEnd type="none" w="med" len="med"/>
                    </a:lnR>
                    <a:lnT w="9525" cap="flat" cmpd="sng" algn="ctr">
                      <a:solidFill>
                        <a:srgbClr val="D8D2C4"/>
                      </a:solidFill>
                      <a:prstDash val="solid"/>
                      <a:round/>
                      <a:headEnd type="none" w="med" len="med"/>
                      <a:tailEnd type="none" w="med" len="med"/>
                    </a:lnT>
                    <a:lnB w="9525" cap="flat" cmpd="sng" algn="ctr">
                      <a:solidFill>
                        <a:srgbClr val="D8D2C4"/>
                      </a:solidFill>
                      <a:prstDash val="solid"/>
                      <a:round/>
                      <a:headEnd type="none" w="med" len="med"/>
                      <a:tailEnd type="none" w="med" len="med"/>
                    </a:lnB>
                    <a:solidFill>
                      <a:srgbClr val="F5F1E8"/>
                    </a:solidFill>
                  </a:tcPr>
                </a:tc>
                <a:tc>
                  <a:txBody>
                    <a:bodyPr/>
                    <a:lstStyle/>
                    <a:p>
                      <a:pPr indent="0" marL="0">
                        <a:buNone/>
                      </a:pPr>
                      <a:r>
                        <a:rPr lang="en-US" sz="1300" dirty="0">
                          <a:solidFill>
                            <a:srgbClr val="0B132B"/>
                          </a:solidFill>
                          <a:latin typeface="Arial" pitchFamily="34" charset="0"/>
                          <a:ea typeface="Arial" pitchFamily="34" charset="-122"/>
                          <a:cs typeface="Arial" pitchFamily="34" charset="-120"/>
                        </a:rPr>
                        <a:t>Media</a:t>
                      </a:r>
                      <a:endParaRPr lang="en-US" sz="1300" dirty="0">
                        <a:latin typeface="Arial" charset="0"/>
                        <a:ea typeface="Arial" charset="0"/>
                        <a:cs typeface="Arial" charset="0"/>
                      </a:endParaRPr>
                    </a:p>
                  </a:txBody>
                  <a:tcPr marL="101600" marR="101600" marT="50800" marB="50800" anchor="ctr">
                    <a:lnL w="9525" cap="flat" cmpd="sng" algn="ctr">
                      <a:solidFill>
                        <a:srgbClr val="D8D2C4"/>
                      </a:solidFill>
                      <a:prstDash val="solid"/>
                      <a:round/>
                      <a:headEnd type="none" w="med" len="med"/>
                      <a:tailEnd type="none" w="med" len="med"/>
                    </a:lnL>
                    <a:lnR w="9525" cap="flat" cmpd="sng" algn="ctr">
                      <a:solidFill>
                        <a:srgbClr val="D8D2C4"/>
                      </a:solidFill>
                      <a:prstDash val="solid"/>
                      <a:round/>
                      <a:headEnd type="none" w="med" len="med"/>
                      <a:tailEnd type="none" w="med" len="med"/>
                    </a:lnR>
                    <a:lnT w="9525" cap="flat" cmpd="sng" algn="ctr">
                      <a:solidFill>
                        <a:srgbClr val="D8D2C4"/>
                      </a:solidFill>
                      <a:prstDash val="solid"/>
                      <a:round/>
                      <a:headEnd type="none" w="med" len="med"/>
                      <a:tailEnd type="none" w="med" len="med"/>
                    </a:lnT>
                    <a:lnB w="9525" cap="flat" cmpd="sng" algn="ctr">
                      <a:solidFill>
                        <a:srgbClr val="D8D2C4"/>
                      </a:solidFill>
                      <a:prstDash val="solid"/>
                      <a:round/>
                      <a:headEnd type="none" w="med" len="med"/>
                      <a:tailEnd type="none" w="med" len="med"/>
                    </a:lnB>
                    <a:solidFill>
                      <a:srgbClr val="F5F1E8"/>
                    </a:solidFill>
                  </a:tcPr>
                </a:tc>
                <a:tc>
                  <a:txBody>
                    <a:bodyPr/>
                    <a:lstStyle/>
                    <a:p>
                      <a:pPr indent="0" marL="0">
                        <a:buNone/>
                      </a:pPr>
                      <a:r>
                        <a:rPr lang="en-US" sz="1300" dirty="0">
                          <a:solidFill>
                            <a:srgbClr val="0B132B"/>
                          </a:solidFill>
                          <a:latin typeface="Arial" pitchFamily="34" charset="0"/>
                          <a:ea typeface="Arial" pitchFamily="34" charset="-122"/>
                          <a:cs typeface="Arial" pitchFamily="34" charset="-120"/>
                        </a:rPr>
                        <a:t>Alta: usuarios propios</a:t>
                      </a:r>
                      <a:endParaRPr lang="en-US" sz="1300" dirty="0">
                        <a:latin typeface="Arial" charset="0"/>
                        <a:ea typeface="Arial" charset="0"/>
                        <a:cs typeface="Arial" charset="0"/>
                      </a:endParaRPr>
                    </a:p>
                  </a:txBody>
                  <a:tcPr marL="101600" marR="101600" marT="50800" marB="50800" anchor="ctr">
                    <a:lnL w="9525" cap="flat" cmpd="sng" algn="ctr">
                      <a:solidFill>
                        <a:srgbClr val="D8D2C4"/>
                      </a:solidFill>
                      <a:prstDash val="solid"/>
                      <a:round/>
                      <a:headEnd type="none" w="med" len="med"/>
                      <a:tailEnd type="none" w="med" len="med"/>
                    </a:lnL>
                    <a:lnR w="9525" cap="flat" cmpd="sng" algn="ctr">
                      <a:solidFill>
                        <a:srgbClr val="D8D2C4"/>
                      </a:solidFill>
                      <a:prstDash val="solid"/>
                      <a:round/>
                      <a:headEnd type="none" w="med" len="med"/>
                      <a:tailEnd type="none" w="med" len="med"/>
                    </a:lnR>
                    <a:lnT w="9525" cap="flat" cmpd="sng" algn="ctr">
                      <a:solidFill>
                        <a:srgbClr val="D8D2C4"/>
                      </a:solidFill>
                      <a:prstDash val="solid"/>
                      <a:round/>
                      <a:headEnd type="none" w="med" len="med"/>
                      <a:tailEnd type="none" w="med" len="med"/>
                    </a:lnT>
                    <a:lnB w="9525" cap="flat" cmpd="sng" algn="ctr">
                      <a:solidFill>
                        <a:srgbClr val="D8D2C4"/>
                      </a:solidFill>
                      <a:prstDash val="solid"/>
                      <a:round/>
                      <a:headEnd type="none" w="med" len="med"/>
                      <a:tailEnd type="none" w="med" len="med"/>
                    </a:lnB>
                    <a:solidFill>
                      <a:srgbClr val="F5F1E8"/>
                    </a:solidFill>
                  </a:tcPr>
                </a:tc>
                <a:tc>
                  <a:txBody>
                    <a:bodyPr/>
                    <a:lstStyle/>
                    <a:p>
                      <a:pPr indent="0" marL="0">
                        <a:buNone/>
                      </a:pPr>
                      <a:r>
                        <a:rPr lang="en-US" sz="1300" dirty="0">
                          <a:solidFill>
                            <a:srgbClr val="0B132B"/>
                          </a:solidFill>
                          <a:latin typeface="Arial" pitchFamily="34" charset="0"/>
                          <a:ea typeface="Arial" pitchFamily="34" charset="-122"/>
                          <a:cs typeface="Arial" pitchFamily="34" charset="-120"/>
                        </a:rPr>
                        <a:t>Medio</a:t>
                      </a:r>
                      <a:endParaRPr lang="en-US" sz="1300" dirty="0">
                        <a:latin typeface="Arial" charset="0"/>
                        <a:ea typeface="Arial" charset="0"/>
                        <a:cs typeface="Arial" charset="0"/>
                      </a:endParaRPr>
                    </a:p>
                  </a:txBody>
                  <a:tcPr marL="101600" marR="101600" marT="50800" marB="50800" anchor="ctr">
                    <a:lnL w="9525" cap="flat" cmpd="sng" algn="ctr">
                      <a:solidFill>
                        <a:srgbClr val="D8D2C4"/>
                      </a:solidFill>
                      <a:prstDash val="solid"/>
                      <a:round/>
                      <a:headEnd type="none" w="med" len="med"/>
                      <a:tailEnd type="none" w="med" len="med"/>
                    </a:lnL>
                    <a:lnR w="9525" cap="flat" cmpd="sng" algn="ctr">
                      <a:solidFill>
                        <a:srgbClr val="D8D2C4"/>
                      </a:solidFill>
                      <a:prstDash val="solid"/>
                      <a:round/>
                      <a:headEnd type="none" w="med" len="med"/>
                      <a:tailEnd type="none" w="med" len="med"/>
                    </a:lnR>
                    <a:lnT w="9525" cap="flat" cmpd="sng" algn="ctr">
                      <a:solidFill>
                        <a:srgbClr val="D8D2C4"/>
                      </a:solidFill>
                      <a:prstDash val="solid"/>
                      <a:round/>
                      <a:headEnd type="none" w="med" len="med"/>
                      <a:tailEnd type="none" w="med" len="med"/>
                    </a:lnT>
                    <a:lnB w="9525" cap="flat" cmpd="sng" algn="ctr">
                      <a:solidFill>
                        <a:srgbClr val="D8D2C4"/>
                      </a:solidFill>
                      <a:prstDash val="solid"/>
                      <a:round/>
                      <a:headEnd type="none" w="med" len="med"/>
                      <a:tailEnd type="none" w="med" len="med"/>
                    </a:lnB>
                    <a:solidFill>
                      <a:srgbClr val="F5F1E8"/>
                    </a:solidFill>
                  </a:tcPr>
                </a:tc>
                <a:tc>
                  <a:txBody>
                    <a:bodyPr/>
                    <a:lstStyle/>
                    <a:p>
                      <a:pPr indent="0" marL="0">
                        <a:buNone/>
                      </a:pPr>
                      <a:r>
                        <a:rPr lang="en-US" sz="1300" dirty="0">
                          <a:solidFill>
                            <a:srgbClr val="0B132B"/>
                          </a:solidFill>
                          <a:latin typeface="Arial" pitchFamily="34" charset="0"/>
                          <a:ea typeface="Arial" pitchFamily="34" charset="-122"/>
                          <a:cs typeface="Arial" pitchFamily="34" charset="-120"/>
                        </a:rPr>
                        <a:t>Baja</a:t>
                      </a:r>
                      <a:endParaRPr lang="en-US" sz="1300" dirty="0">
                        <a:latin typeface="Arial" charset="0"/>
                        <a:ea typeface="Arial" charset="0"/>
                        <a:cs typeface="Arial" charset="0"/>
                      </a:endParaRPr>
                    </a:p>
                  </a:txBody>
                  <a:tcPr marL="101600" marR="101600" marT="50800" marB="50800" anchor="ctr">
                    <a:lnL w="9525" cap="flat" cmpd="sng" algn="ctr">
                      <a:solidFill>
                        <a:srgbClr val="D8D2C4"/>
                      </a:solidFill>
                      <a:prstDash val="solid"/>
                      <a:round/>
                      <a:headEnd type="none" w="med" len="med"/>
                      <a:tailEnd type="none" w="med" len="med"/>
                    </a:lnL>
                    <a:lnR w="9525" cap="flat" cmpd="sng" algn="ctr">
                      <a:solidFill>
                        <a:srgbClr val="D8D2C4"/>
                      </a:solidFill>
                      <a:prstDash val="solid"/>
                      <a:round/>
                      <a:headEnd type="none" w="med" len="med"/>
                      <a:tailEnd type="none" w="med" len="med"/>
                    </a:lnR>
                    <a:lnT w="9525" cap="flat" cmpd="sng" algn="ctr">
                      <a:solidFill>
                        <a:srgbClr val="D8D2C4"/>
                      </a:solidFill>
                      <a:prstDash val="solid"/>
                      <a:round/>
                      <a:headEnd type="none" w="med" len="med"/>
                      <a:tailEnd type="none" w="med" len="med"/>
                    </a:lnT>
                    <a:lnB w="9525" cap="flat" cmpd="sng" algn="ctr">
                      <a:solidFill>
                        <a:srgbClr val="D8D2C4"/>
                      </a:solidFill>
                      <a:prstDash val="solid"/>
                      <a:round/>
                      <a:headEnd type="none" w="med" len="med"/>
                      <a:tailEnd type="none" w="med" len="med"/>
                    </a:lnB>
                    <a:solidFill>
                      <a:srgbClr val="F5F1E8"/>
                    </a:solidFill>
                  </a:tcPr>
                </a:tc>
                <a:tc>
                  <a:txBody>
                    <a:bodyPr/>
                    <a:lstStyle/>
                    <a:p>
                      <a:pPr indent="0" marL="0">
                        <a:buNone/>
                      </a:pPr>
                      <a:r>
                        <a:rPr lang="en-US" sz="1300" dirty="0">
                          <a:solidFill>
                            <a:srgbClr val="0B132B"/>
                          </a:solidFill>
                          <a:latin typeface="Arial" pitchFamily="34" charset="0"/>
                          <a:ea typeface="Arial" pitchFamily="34" charset="-122"/>
                          <a:cs typeface="Arial" pitchFamily="34" charset="-120"/>
                        </a:rPr>
                        <a:t>Alto</a:t>
                      </a:r>
                      <a:endParaRPr lang="en-US" sz="1300" dirty="0">
                        <a:latin typeface="Arial" charset="0"/>
                        <a:ea typeface="Arial" charset="0"/>
                        <a:cs typeface="Arial" charset="0"/>
                      </a:endParaRPr>
                    </a:p>
                  </a:txBody>
                  <a:tcPr marL="101600" marR="101600" marT="50800" marB="50800" anchor="ctr">
                    <a:lnL w="9525" cap="flat" cmpd="sng" algn="ctr">
                      <a:solidFill>
                        <a:srgbClr val="D8D2C4"/>
                      </a:solidFill>
                      <a:prstDash val="solid"/>
                      <a:round/>
                      <a:headEnd type="none" w="med" len="med"/>
                      <a:tailEnd type="none" w="med" len="med"/>
                    </a:lnL>
                    <a:lnR w="9525" cap="flat" cmpd="sng" algn="ctr">
                      <a:solidFill>
                        <a:srgbClr val="D8D2C4"/>
                      </a:solidFill>
                      <a:prstDash val="solid"/>
                      <a:round/>
                      <a:headEnd type="none" w="med" len="med"/>
                      <a:tailEnd type="none" w="med" len="med"/>
                    </a:lnR>
                    <a:lnT w="9525" cap="flat" cmpd="sng" algn="ctr">
                      <a:solidFill>
                        <a:srgbClr val="D8D2C4"/>
                      </a:solidFill>
                      <a:prstDash val="solid"/>
                      <a:round/>
                      <a:headEnd type="none" w="med" len="med"/>
                      <a:tailEnd type="none" w="med" len="med"/>
                    </a:lnT>
                    <a:lnB w="9525" cap="flat" cmpd="sng" algn="ctr">
                      <a:solidFill>
                        <a:srgbClr val="D8D2C4"/>
                      </a:solidFill>
                      <a:prstDash val="solid"/>
                      <a:round/>
                      <a:headEnd type="none" w="med" len="med"/>
                      <a:tailEnd type="none" w="med" len="med"/>
                    </a:lnB>
                    <a:solidFill>
                      <a:srgbClr val="F5F1E8"/>
                    </a:solidFill>
                  </a:tcPr>
                </a:tc>
                <a:tc>
                  <a:txBody>
                    <a:bodyPr/>
                    <a:lstStyle/>
                    <a:p>
                      <a:pPr indent="0" marL="0">
                        <a:buNone/>
                      </a:pPr>
                      <a:r>
                        <a:rPr lang="en-US" sz="1300" dirty="0">
                          <a:solidFill>
                            <a:srgbClr val="0B132B"/>
                          </a:solidFill>
                          <a:latin typeface="Arial" pitchFamily="34" charset="0"/>
                          <a:ea typeface="Arial" pitchFamily="34" charset="-122"/>
                          <a:cs typeface="Arial" pitchFamily="34" charset="-120"/>
                        </a:rPr>
                        <a:t>Luego de validar uso</a:t>
                      </a:r>
                      <a:endParaRPr lang="en-US" sz="1300" dirty="0">
                        <a:latin typeface="Arial" charset="0"/>
                        <a:ea typeface="Arial" charset="0"/>
                        <a:cs typeface="Arial" charset="0"/>
                      </a:endParaRPr>
                    </a:p>
                  </a:txBody>
                  <a:tcPr marL="101600" marR="101600" marT="50800" marB="50800" anchor="ctr">
                    <a:lnL w="9525" cap="flat" cmpd="sng" algn="ctr">
                      <a:solidFill>
                        <a:srgbClr val="D8D2C4"/>
                      </a:solidFill>
                      <a:prstDash val="solid"/>
                      <a:round/>
                      <a:headEnd type="none" w="med" len="med"/>
                      <a:tailEnd type="none" w="med" len="med"/>
                    </a:lnL>
                    <a:lnR w="9525" cap="flat" cmpd="sng" algn="ctr">
                      <a:solidFill>
                        <a:srgbClr val="D8D2C4"/>
                      </a:solidFill>
                      <a:prstDash val="solid"/>
                      <a:round/>
                      <a:headEnd type="none" w="med" len="med"/>
                      <a:tailEnd type="none" w="med" len="med"/>
                    </a:lnR>
                    <a:lnT w="9525" cap="flat" cmpd="sng" algn="ctr">
                      <a:solidFill>
                        <a:srgbClr val="D8D2C4"/>
                      </a:solidFill>
                      <a:prstDash val="solid"/>
                      <a:round/>
                      <a:headEnd type="none" w="med" len="med"/>
                      <a:tailEnd type="none" w="med" len="med"/>
                    </a:lnT>
                    <a:lnB w="9525" cap="flat" cmpd="sng" algn="ctr">
                      <a:solidFill>
                        <a:srgbClr val="D8D2C4"/>
                      </a:solidFill>
                      <a:prstDash val="solid"/>
                      <a:round/>
                      <a:headEnd type="none" w="med" len="med"/>
                      <a:tailEnd type="none" w="med" len="med"/>
                    </a:lnB>
                    <a:solidFill>
                      <a:srgbClr val="F5F1E8"/>
                    </a:solidFill>
                  </a:tcPr>
                </a:tc>
              </a:tr>
              <a:tr h="658368">
                <a:tc>
                  <a:txBody>
                    <a:bodyPr/>
                    <a:lstStyle/>
                    <a:p>
                      <a:pPr indent="0" marL="0">
                        <a:buNone/>
                      </a:pPr>
                      <a:r>
                        <a:rPr lang="en-US" sz="1300" b="1" dirty="0">
                          <a:solidFill>
                            <a:srgbClr val="0B132B"/>
                          </a:solidFill>
                          <a:latin typeface="Arial" pitchFamily="34" charset="0"/>
                          <a:ea typeface="Arial" pitchFamily="34" charset="-122"/>
                          <a:cs typeface="Arial" pitchFamily="34" charset="-120"/>
                        </a:rPr>
                        <a:t>B2B API</a:t>
                      </a:r>
                      <a:endParaRPr lang="en-US" sz="1300" dirty="0">
                        <a:latin typeface="Arial" charset="0"/>
                        <a:ea typeface="Arial" charset="0"/>
                        <a:cs typeface="Arial" charset="0"/>
                      </a:endParaRPr>
                    </a:p>
                  </a:txBody>
                  <a:tcPr marL="101600" marR="101600" marT="50800" marB="50800" anchor="ctr">
                    <a:lnL w="9525" cap="flat" cmpd="sng" algn="ctr">
                      <a:solidFill>
                        <a:srgbClr val="D8D2C4"/>
                      </a:solidFill>
                      <a:prstDash val="solid"/>
                      <a:round/>
                      <a:headEnd type="none" w="med" len="med"/>
                      <a:tailEnd type="none" w="med" len="med"/>
                    </a:lnL>
                    <a:lnR w="9525" cap="flat" cmpd="sng" algn="ctr">
                      <a:solidFill>
                        <a:srgbClr val="D8D2C4"/>
                      </a:solidFill>
                      <a:prstDash val="solid"/>
                      <a:round/>
                      <a:headEnd type="none" w="med" len="med"/>
                      <a:tailEnd type="none" w="med" len="med"/>
                    </a:lnR>
                    <a:lnT w="9525" cap="flat" cmpd="sng" algn="ctr">
                      <a:solidFill>
                        <a:srgbClr val="D8D2C4"/>
                      </a:solidFill>
                      <a:prstDash val="solid"/>
                      <a:round/>
                      <a:headEnd type="none" w="med" len="med"/>
                      <a:tailEnd type="none" w="med" len="med"/>
                    </a:lnT>
                    <a:lnB w="9525" cap="flat" cmpd="sng" algn="ctr">
                      <a:solidFill>
                        <a:srgbClr val="D8D2C4"/>
                      </a:solidFill>
                      <a:prstDash val="solid"/>
                      <a:round/>
                      <a:headEnd type="none" w="med" len="med"/>
                      <a:tailEnd type="none" w="med" len="med"/>
                    </a:lnB>
                    <a:solidFill>
                      <a:srgbClr val="FFFFFF"/>
                    </a:solidFill>
                  </a:tcPr>
                </a:tc>
                <a:tc>
                  <a:txBody>
                    <a:bodyPr/>
                    <a:lstStyle/>
                    <a:p>
                      <a:pPr indent="0" marL="0">
                        <a:buNone/>
                      </a:pPr>
                      <a:r>
                        <a:rPr lang="en-US" sz="1300" dirty="0">
                          <a:solidFill>
                            <a:srgbClr val="0B132B"/>
                          </a:solidFill>
                          <a:latin typeface="Arial" pitchFamily="34" charset="0"/>
                          <a:ea typeface="Arial" pitchFamily="34" charset="-122"/>
                          <a:cs typeface="Arial" pitchFamily="34" charset="-120"/>
                        </a:rPr>
                        <a:t>Potencialmente alta</a:t>
                      </a:r>
                      <a:endParaRPr lang="en-US" sz="1300" dirty="0">
                        <a:latin typeface="Arial" charset="0"/>
                        <a:ea typeface="Arial" charset="0"/>
                        <a:cs typeface="Arial" charset="0"/>
                      </a:endParaRPr>
                    </a:p>
                  </a:txBody>
                  <a:tcPr marL="101600" marR="101600" marT="50800" marB="50800" anchor="ctr">
                    <a:lnL w="9525" cap="flat" cmpd="sng" algn="ctr">
                      <a:solidFill>
                        <a:srgbClr val="D8D2C4"/>
                      </a:solidFill>
                      <a:prstDash val="solid"/>
                      <a:round/>
                      <a:headEnd type="none" w="med" len="med"/>
                      <a:tailEnd type="none" w="med" len="med"/>
                    </a:lnL>
                    <a:lnR w="9525" cap="flat" cmpd="sng" algn="ctr">
                      <a:solidFill>
                        <a:srgbClr val="D8D2C4"/>
                      </a:solidFill>
                      <a:prstDash val="solid"/>
                      <a:round/>
                      <a:headEnd type="none" w="med" len="med"/>
                      <a:tailEnd type="none" w="med" len="med"/>
                    </a:lnR>
                    <a:lnT w="9525" cap="flat" cmpd="sng" algn="ctr">
                      <a:solidFill>
                        <a:srgbClr val="D8D2C4"/>
                      </a:solidFill>
                      <a:prstDash val="solid"/>
                      <a:round/>
                      <a:headEnd type="none" w="med" len="med"/>
                      <a:tailEnd type="none" w="med" len="med"/>
                    </a:lnT>
                    <a:lnB w="9525" cap="flat" cmpd="sng" algn="ctr">
                      <a:solidFill>
                        <a:srgbClr val="D8D2C4"/>
                      </a:solidFill>
                      <a:prstDash val="solid"/>
                      <a:round/>
                      <a:headEnd type="none" w="med" len="med"/>
                      <a:tailEnd type="none" w="med" len="med"/>
                    </a:lnB>
                    <a:solidFill>
                      <a:srgbClr val="FFFFFF"/>
                    </a:solidFill>
                  </a:tcPr>
                </a:tc>
                <a:tc>
                  <a:txBody>
                    <a:bodyPr/>
                    <a:lstStyle/>
                    <a:p>
                      <a:pPr indent="0" marL="0">
                        <a:buNone/>
                      </a:pPr>
                      <a:r>
                        <a:rPr lang="en-US" sz="1300" dirty="0">
                          <a:solidFill>
                            <a:srgbClr val="0B132B"/>
                          </a:solidFill>
                          <a:latin typeface="Arial" pitchFamily="34" charset="0"/>
                          <a:ea typeface="Arial" pitchFamily="34" charset="-122"/>
                          <a:cs typeface="Arial" pitchFamily="34" charset="-120"/>
                        </a:rPr>
                        <a:t>Ventas a empresas; no requiere captar consumidores</a:t>
                      </a:r>
                      <a:endParaRPr lang="en-US" sz="1300" dirty="0">
                        <a:latin typeface="Arial" charset="0"/>
                        <a:ea typeface="Arial" charset="0"/>
                        <a:cs typeface="Arial" charset="0"/>
                      </a:endParaRPr>
                    </a:p>
                  </a:txBody>
                  <a:tcPr marL="101600" marR="101600" marT="50800" marB="50800" anchor="ctr">
                    <a:lnL w="9525" cap="flat" cmpd="sng" algn="ctr">
                      <a:solidFill>
                        <a:srgbClr val="D8D2C4"/>
                      </a:solidFill>
                      <a:prstDash val="solid"/>
                      <a:round/>
                      <a:headEnd type="none" w="med" len="med"/>
                      <a:tailEnd type="none" w="med" len="med"/>
                    </a:lnL>
                    <a:lnR w="9525" cap="flat" cmpd="sng" algn="ctr">
                      <a:solidFill>
                        <a:srgbClr val="D8D2C4"/>
                      </a:solidFill>
                      <a:prstDash val="solid"/>
                      <a:round/>
                      <a:headEnd type="none" w="med" len="med"/>
                      <a:tailEnd type="none" w="med" len="med"/>
                    </a:lnR>
                    <a:lnT w="9525" cap="flat" cmpd="sng" algn="ctr">
                      <a:solidFill>
                        <a:srgbClr val="D8D2C4"/>
                      </a:solidFill>
                      <a:prstDash val="solid"/>
                      <a:round/>
                      <a:headEnd type="none" w="med" len="med"/>
                      <a:tailEnd type="none" w="med" len="med"/>
                    </a:lnT>
                    <a:lnB w="9525" cap="flat" cmpd="sng" algn="ctr">
                      <a:solidFill>
                        <a:srgbClr val="D8D2C4"/>
                      </a:solidFill>
                      <a:prstDash val="solid"/>
                      <a:round/>
                      <a:headEnd type="none" w="med" len="med"/>
                      <a:tailEnd type="none" w="med" len="med"/>
                    </a:lnB>
                    <a:solidFill>
                      <a:srgbClr val="FFFFFF"/>
                    </a:solidFill>
                  </a:tcPr>
                </a:tc>
                <a:tc>
                  <a:txBody>
                    <a:bodyPr/>
                    <a:lstStyle/>
                    <a:p>
                      <a:pPr indent="0" marL="0">
                        <a:buNone/>
                      </a:pPr>
                      <a:r>
                        <a:rPr lang="en-US" sz="1300" dirty="0">
                          <a:solidFill>
                            <a:srgbClr val="0B132B"/>
                          </a:solidFill>
                          <a:latin typeface="Arial" pitchFamily="34" charset="0"/>
                          <a:ea typeface="Arial" pitchFamily="34" charset="-122"/>
                          <a:cs typeface="Arial" pitchFamily="34" charset="-120"/>
                        </a:rPr>
                        <a:t>Muy alto</a:t>
                      </a:r>
                      <a:endParaRPr lang="en-US" sz="1300" dirty="0">
                        <a:latin typeface="Arial" charset="0"/>
                        <a:ea typeface="Arial" charset="0"/>
                        <a:cs typeface="Arial" charset="0"/>
                      </a:endParaRPr>
                    </a:p>
                  </a:txBody>
                  <a:tcPr marL="101600" marR="101600" marT="50800" marB="50800" anchor="ctr">
                    <a:lnL w="9525" cap="flat" cmpd="sng" algn="ctr">
                      <a:solidFill>
                        <a:srgbClr val="D8D2C4"/>
                      </a:solidFill>
                      <a:prstDash val="solid"/>
                      <a:round/>
                      <a:headEnd type="none" w="med" len="med"/>
                      <a:tailEnd type="none" w="med" len="med"/>
                    </a:lnL>
                    <a:lnR w="9525" cap="flat" cmpd="sng" algn="ctr">
                      <a:solidFill>
                        <a:srgbClr val="D8D2C4"/>
                      </a:solidFill>
                      <a:prstDash val="solid"/>
                      <a:round/>
                      <a:headEnd type="none" w="med" len="med"/>
                      <a:tailEnd type="none" w="med" len="med"/>
                    </a:lnR>
                    <a:lnT w="9525" cap="flat" cmpd="sng" algn="ctr">
                      <a:solidFill>
                        <a:srgbClr val="D8D2C4"/>
                      </a:solidFill>
                      <a:prstDash val="solid"/>
                      <a:round/>
                      <a:headEnd type="none" w="med" len="med"/>
                      <a:tailEnd type="none" w="med" len="med"/>
                    </a:lnT>
                    <a:lnB w="9525" cap="flat" cmpd="sng" algn="ctr">
                      <a:solidFill>
                        <a:srgbClr val="D8D2C4"/>
                      </a:solidFill>
                      <a:prstDash val="solid"/>
                      <a:round/>
                      <a:headEnd type="none" w="med" len="med"/>
                      <a:tailEnd type="none" w="med" len="med"/>
                    </a:lnB>
                    <a:solidFill>
                      <a:srgbClr val="FFFFFF"/>
                    </a:solidFill>
                  </a:tcPr>
                </a:tc>
                <a:tc>
                  <a:txBody>
                    <a:bodyPr/>
                    <a:lstStyle/>
                    <a:p>
                      <a:pPr indent="0" marL="0">
                        <a:buNone/>
                      </a:pPr>
                      <a:r>
                        <a:rPr lang="en-US" sz="1300" dirty="0">
                          <a:solidFill>
                            <a:srgbClr val="0B132B"/>
                          </a:solidFill>
                          <a:latin typeface="Arial" pitchFamily="34" charset="0"/>
                          <a:ea typeface="Arial" pitchFamily="34" charset="-122"/>
                          <a:cs typeface="Arial" pitchFamily="34" charset="-120"/>
                        </a:rPr>
                        <a:t>Media</a:t>
                      </a:r>
                      <a:endParaRPr lang="en-US" sz="1300" dirty="0">
                        <a:latin typeface="Arial" charset="0"/>
                        <a:ea typeface="Arial" charset="0"/>
                        <a:cs typeface="Arial" charset="0"/>
                      </a:endParaRPr>
                    </a:p>
                  </a:txBody>
                  <a:tcPr marL="101600" marR="101600" marT="50800" marB="50800" anchor="ctr">
                    <a:lnL w="9525" cap="flat" cmpd="sng" algn="ctr">
                      <a:solidFill>
                        <a:srgbClr val="D8D2C4"/>
                      </a:solidFill>
                      <a:prstDash val="solid"/>
                      <a:round/>
                      <a:headEnd type="none" w="med" len="med"/>
                      <a:tailEnd type="none" w="med" len="med"/>
                    </a:lnL>
                    <a:lnR w="9525" cap="flat" cmpd="sng" algn="ctr">
                      <a:solidFill>
                        <a:srgbClr val="D8D2C4"/>
                      </a:solidFill>
                      <a:prstDash val="solid"/>
                      <a:round/>
                      <a:headEnd type="none" w="med" len="med"/>
                      <a:tailEnd type="none" w="med" len="med"/>
                    </a:lnR>
                    <a:lnT w="9525" cap="flat" cmpd="sng" algn="ctr">
                      <a:solidFill>
                        <a:srgbClr val="D8D2C4"/>
                      </a:solidFill>
                      <a:prstDash val="solid"/>
                      <a:round/>
                      <a:headEnd type="none" w="med" len="med"/>
                      <a:tailEnd type="none" w="med" len="med"/>
                    </a:lnT>
                    <a:lnB w="9525" cap="flat" cmpd="sng" algn="ctr">
                      <a:solidFill>
                        <a:srgbClr val="D8D2C4"/>
                      </a:solidFill>
                      <a:prstDash val="solid"/>
                      <a:round/>
                      <a:headEnd type="none" w="med" len="med"/>
                      <a:tailEnd type="none" w="med" len="med"/>
                    </a:lnB>
                    <a:solidFill>
                      <a:srgbClr val="FFFFFF"/>
                    </a:solidFill>
                  </a:tcPr>
                </a:tc>
                <a:tc>
                  <a:txBody>
                    <a:bodyPr/>
                    <a:lstStyle/>
                    <a:p>
                      <a:pPr indent="0" marL="0">
                        <a:buNone/>
                      </a:pPr>
                      <a:r>
                        <a:rPr lang="en-US" sz="1300" dirty="0">
                          <a:solidFill>
                            <a:srgbClr val="0B132B"/>
                          </a:solidFill>
                          <a:latin typeface="Arial" pitchFamily="34" charset="0"/>
                          <a:ea typeface="Arial" pitchFamily="34" charset="-122"/>
                          <a:cs typeface="Arial" pitchFamily="34" charset="-120"/>
                        </a:rPr>
                        <a:t>Medio</a:t>
                      </a:r>
                      <a:endParaRPr lang="en-US" sz="1300" dirty="0">
                        <a:latin typeface="Arial" charset="0"/>
                        <a:ea typeface="Arial" charset="0"/>
                        <a:cs typeface="Arial" charset="0"/>
                      </a:endParaRPr>
                    </a:p>
                  </a:txBody>
                  <a:tcPr marL="101600" marR="101600" marT="50800" marB="50800" anchor="ctr">
                    <a:lnL w="9525" cap="flat" cmpd="sng" algn="ctr">
                      <a:solidFill>
                        <a:srgbClr val="D8D2C4"/>
                      </a:solidFill>
                      <a:prstDash val="solid"/>
                      <a:round/>
                      <a:headEnd type="none" w="med" len="med"/>
                      <a:tailEnd type="none" w="med" len="med"/>
                    </a:lnL>
                    <a:lnR w="9525" cap="flat" cmpd="sng" algn="ctr">
                      <a:solidFill>
                        <a:srgbClr val="D8D2C4"/>
                      </a:solidFill>
                      <a:prstDash val="solid"/>
                      <a:round/>
                      <a:headEnd type="none" w="med" len="med"/>
                      <a:tailEnd type="none" w="med" len="med"/>
                    </a:lnR>
                    <a:lnT w="9525" cap="flat" cmpd="sng" algn="ctr">
                      <a:solidFill>
                        <a:srgbClr val="D8D2C4"/>
                      </a:solidFill>
                      <a:prstDash val="solid"/>
                      <a:round/>
                      <a:headEnd type="none" w="med" len="med"/>
                      <a:tailEnd type="none" w="med" len="med"/>
                    </a:lnT>
                    <a:lnB w="9525" cap="flat" cmpd="sng" algn="ctr">
                      <a:solidFill>
                        <a:srgbClr val="D8D2C4"/>
                      </a:solidFill>
                      <a:prstDash val="solid"/>
                      <a:round/>
                      <a:headEnd type="none" w="med" len="med"/>
                      <a:tailEnd type="none" w="med" len="med"/>
                    </a:lnB>
                    <a:solidFill>
                      <a:srgbClr val="FFFFFF"/>
                    </a:solidFill>
                  </a:tcPr>
                </a:tc>
                <a:tc>
                  <a:txBody>
                    <a:bodyPr/>
                    <a:lstStyle/>
                    <a:p>
                      <a:pPr indent="0" marL="0">
                        <a:buNone/>
                      </a:pPr>
                      <a:r>
                        <a:rPr lang="en-US" sz="1300" dirty="0">
                          <a:solidFill>
                            <a:srgbClr val="0B132B"/>
                          </a:solidFill>
                          <a:latin typeface="Arial" pitchFamily="34" charset="0"/>
                          <a:ea typeface="Arial" pitchFamily="34" charset="-122"/>
                          <a:cs typeface="Arial" pitchFamily="34" charset="-120"/>
                        </a:rPr>
                        <a:t>Temprano, en paralelo</a:t>
                      </a:r>
                      <a:endParaRPr lang="en-US" sz="1300" dirty="0">
                        <a:latin typeface="Arial" charset="0"/>
                        <a:ea typeface="Arial" charset="0"/>
                        <a:cs typeface="Arial" charset="0"/>
                      </a:endParaRPr>
                    </a:p>
                  </a:txBody>
                  <a:tcPr marL="101600" marR="101600" marT="50800" marB="50800" anchor="ctr">
                    <a:lnL w="9525" cap="flat" cmpd="sng" algn="ctr">
                      <a:solidFill>
                        <a:srgbClr val="D8D2C4"/>
                      </a:solidFill>
                      <a:prstDash val="solid"/>
                      <a:round/>
                      <a:headEnd type="none" w="med" len="med"/>
                      <a:tailEnd type="none" w="med" len="med"/>
                    </a:lnL>
                    <a:lnR w="9525" cap="flat" cmpd="sng" algn="ctr">
                      <a:solidFill>
                        <a:srgbClr val="D8D2C4"/>
                      </a:solidFill>
                      <a:prstDash val="solid"/>
                      <a:round/>
                      <a:headEnd type="none" w="med" len="med"/>
                      <a:tailEnd type="none" w="med" len="med"/>
                    </a:lnR>
                    <a:lnT w="9525" cap="flat" cmpd="sng" algn="ctr">
                      <a:solidFill>
                        <a:srgbClr val="D8D2C4"/>
                      </a:solidFill>
                      <a:prstDash val="solid"/>
                      <a:round/>
                      <a:headEnd type="none" w="med" len="med"/>
                      <a:tailEnd type="none" w="med" len="med"/>
                    </a:lnT>
                    <a:lnB w="9525" cap="flat" cmpd="sng" algn="ctr">
                      <a:solidFill>
                        <a:srgbClr val="D8D2C4"/>
                      </a:solidFill>
                      <a:prstDash val="solid"/>
                      <a:round/>
                      <a:headEnd type="none" w="med" len="med"/>
                      <a:tailEnd type="none" w="med" len="med"/>
                    </a:lnB>
                    <a:solidFill>
                      <a:srgbClr val="FFFFFF"/>
                    </a:solidFill>
                  </a:tcPr>
                </a:tc>
              </a:tr>
              <a:tr h="658368">
                <a:tc>
                  <a:txBody>
                    <a:bodyPr/>
                    <a:lstStyle/>
                    <a:p>
                      <a:pPr indent="0" marL="0">
                        <a:buNone/>
                      </a:pPr>
                      <a:r>
                        <a:rPr lang="en-US" sz="1300" b="1" dirty="0">
                          <a:solidFill>
                            <a:srgbClr val="0B132B"/>
                          </a:solidFill>
                          <a:latin typeface="Arial" pitchFamily="34" charset="0"/>
                          <a:ea typeface="Arial" pitchFamily="34" charset="-122"/>
                          <a:cs typeface="Arial" pitchFamily="34" charset="-120"/>
                        </a:rPr>
                        <a:t>White-label</a:t>
                      </a:r>
                      <a:endParaRPr lang="en-US" sz="1300" dirty="0">
                        <a:latin typeface="Arial" charset="0"/>
                        <a:ea typeface="Arial" charset="0"/>
                        <a:cs typeface="Arial" charset="0"/>
                      </a:endParaRPr>
                    </a:p>
                  </a:txBody>
                  <a:tcPr marL="101600" marR="101600" marT="50800" marB="50800" anchor="ctr">
                    <a:lnL w="9525" cap="flat" cmpd="sng" algn="ctr">
                      <a:solidFill>
                        <a:srgbClr val="D8D2C4"/>
                      </a:solidFill>
                      <a:prstDash val="solid"/>
                      <a:round/>
                      <a:headEnd type="none" w="med" len="med"/>
                      <a:tailEnd type="none" w="med" len="med"/>
                    </a:lnL>
                    <a:lnR w="9525" cap="flat" cmpd="sng" algn="ctr">
                      <a:solidFill>
                        <a:srgbClr val="D8D2C4"/>
                      </a:solidFill>
                      <a:prstDash val="solid"/>
                      <a:round/>
                      <a:headEnd type="none" w="med" len="med"/>
                      <a:tailEnd type="none" w="med" len="med"/>
                    </a:lnR>
                    <a:lnT w="9525" cap="flat" cmpd="sng" algn="ctr">
                      <a:solidFill>
                        <a:srgbClr val="D8D2C4"/>
                      </a:solidFill>
                      <a:prstDash val="solid"/>
                      <a:round/>
                      <a:headEnd type="none" w="med" len="med"/>
                      <a:tailEnd type="none" w="med" len="med"/>
                    </a:lnT>
                    <a:lnB w="9525" cap="flat" cmpd="sng" algn="ctr">
                      <a:solidFill>
                        <a:srgbClr val="D8D2C4"/>
                      </a:solidFill>
                      <a:prstDash val="solid"/>
                      <a:round/>
                      <a:headEnd type="none" w="med" len="med"/>
                      <a:tailEnd type="none" w="med" len="med"/>
                    </a:lnB>
                    <a:solidFill>
                      <a:srgbClr val="F5F1E8"/>
                    </a:solidFill>
                  </a:tcPr>
                </a:tc>
                <a:tc>
                  <a:txBody>
                    <a:bodyPr/>
                    <a:lstStyle/>
                    <a:p>
                      <a:pPr indent="0" marL="0">
                        <a:buNone/>
                      </a:pPr>
                      <a:r>
                        <a:rPr lang="en-US" sz="1300" dirty="0">
                          <a:solidFill>
                            <a:srgbClr val="0B132B"/>
                          </a:solidFill>
                          <a:latin typeface="Arial" pitchFamily="34" charset="0"/>
                          <a:ea typeface="Arial" pitchFamily="34" charset="-122"/>
                          <a:cs typeface="Arial" pitchFamily="34" charset="-120"/>
                        </a:rPr>
                        <a:t>Potencialmente alta</a:t>
                      </a:r>
                      <a:endParaRPr lang="en-US" sz="1300" dirty="0">
                        <a:latin typeface="Arial" charset="0"/>
                        <a:ea typeface="Arial" charset="0"/>
                        <a:cs typeface="Arial" charset="0"/>
                      </a:endParaRPr>
                    </a:p>
                  </a:txBody>
                  <a:tcPr marL="101600" marR="101600" marT="50800" marB="50800" anchor="ctr">
                    <a:lnL w="9525" cap="flat" cmpd="sng" algn="ctr">
                      <a:solidFill>
                        <a:srgbClr val="D8D2C4"/>
                      </a:solidFill>
                      <a:prstDash val="solid"/>
                      <a:round/>
                      <a:headEnd type="none" w="med" len="med"/>
                      <a:tailEnd type="none" w="med" len="med"/>
                    </a:lnL>
                    <a:lnR w="9525" cap="flat" cmpd="sng" algn="ctr">
                      <a:solidFill>
                        <a:srgbClr val="D8D2C4"/>
                      </a:solidFill>
                      <a:prstDash val="solid"/>
                      <a:round/>
                      <a:headEnd type="none" w="med" len="med"/>
                      <a:tailEnd type="none" w="med" len="med"/>
                    </a:lnR>
                    <a:lnT w="9525" cap="flat" cmpd="sng" algn="ctr">
                      <a:solidFill>
                        <a:srgbClr val="D8D2C4"/>
                      </a:solidFill>
                      <a:prstDash val="solid"/>
                      <a:round/>
                      <a:headEnd type="none" w="med" len="med"/>
                      <a:tailEnd type="none" w="med" len="med"/>
                    </a:lnT>
                    <a:lnB w="9525" cap="flat" cmpd="sng" algn="ctr">
                      <a:solidFill>
                        <a:srgbClr val="D8D2C4"/>
                      </a:solidFill>
                      <a:prstDash val="solid"/>
                      <a:round/>
                      <a:headEnd type="none" w="med" len="med"/>
                      <a:tailEnd type="none" w="med" len="med"/>
                    </a:lnB>
                    <a:solidFill>
                      <a:srgbClr val="F5F1E8"/>
                    </a:solidFill>
                  </a:tcPr>
                </a:tc>
                <a:tc>
                  <a:txBody>
                    <a:bodyPr/>
                    <a:lstStyle/>
                    <a:p>
                      <a:pPr indent="0" marL="0">
                        <a:buNone/>
                      </a:pPr>
                      <a:r>
                        <a:rPr lang="en-US" sz="1300" dirty="0">
                          <a:solidFill>
                            <a:srgbClr val="0B132B"/>
                          </a:solidFill>
                          <a:latin typeface="Arial" pitchFamily="34" charset="0"/>
                          <a:ea typeface="Arial" pitchFamily="34" charset="-122"/>
                          <a:cs typeface="Arial" pitchFamily="34" charset="-120"/>
                        </a:rPr>
                        <a:t>Ventas enterprise</a:t>
                      </a:r>
                      <a:endParaRPr lang="en-US" sz="1300" dirty="0">
                        <a:latin typeface="Arial" charset="0"/>
                        <a:ea typeface="Arial" charset="0"/>
                        <a:cs typeface="Arial" charset="0"/>
                      </a:endParaRPr>
                    </a:p>
                  </a:txBody>
                  <a:tcPr marL="101600" marR="101600" marT="50800" marB="50800" anchor="ctr">
                    <a:lnL w="9525" cap="flat" cmpd="sng" algn="ctr">
                      <a:solidFill>
                        <a:srgbClr val="D8D2C4"/>
                      </a:solidFill>
                      <a:prstDash val="solid"/>
                      <a:round/>
                      <a:headEnd type="none" w="med" len="med"/>
                      <a:tailEnd type="none" w="med" len="med"/>
                    </a:lnL>
                    <a:lnR w="9525" cap="flat" cmpd="sng" algn="ctr">
                      <a:solidFill>
                        <a:srgbClr val="D8D2C4"/>
                      </a:solidFill>
                      <a:prstDash val="solid"/>
                      <a:round/>
                      <a:headEnd type="none" w="med" len="med"/>
                      <a:tailEnd type="none" w="med" len="med"/>
                    </a:lnR>
                    <a:lnT w="9525" cap="flat" cmpd="sng" algn="ctr">
                      <a:solidFill>
                        <a:srgbClr val="D8D2C4"/>
                      </a:solidFill>
                      <a:prstDash val="solid"/>
                      <a:round/>
                      <a:headEnd type="none" w="med" len="med"/>
                      <a:tailEnd type="none" w="med" len="med"/>
                    </a:lnT>
                    <a:lnB w="9525" cap="flat" cmpd="sng" algn="ctr">
                      <a:solidFill>
                        <a:srgbClr val="D8D2C4"/>
                      </a:solidFill>
                      <a:prstDash val="solid"/>
                      <a:round/>
                      <a:headEnd type="none" w="med" len="med"/>
                      <a:tailEnd type="none" w="med" len="med"/>
                    </a:lnB>
                    <a:solidFill>
                      <a:srgbClr val="F5F1E8"/>
                    </a:solidFill>
                  </a:tcPr>
                </a:tc>
                <a:tc>
                  <a:txBody>
                    <a:bodyPr/>
                    <a:lstStyle/>
                    <a:p>
                      <a:pPr indent="0" marL="0">
                        <a:buNone/>
                      </a:pPr>
                      <a:r>
                        <a:rPr lang="en-US" sz="1300" dirty="0">
                          <a:solidFill>
                            <a:srgbClr val="0B132B"/>
                          </a:solidFill>
                          <a:latin typeface="Arial" pitchFamily="34" charset="0"/>
                          <a:ea typeface="Arial" pitchFamily="34" charset="-122"/>
                          <a:cs typeface="Arial" pitchFamily="34" charset="-120"/>
                        </a:rPr>
                        <a:t>Muy alto</a:t>
                      </a:r>
                      <a:endParaRPr lang="en-US" sz="1300" dirty="0">
                        <a:latin typeface="Arial" charset="0"/>
                        <a:ea typeface="Arial" charset="0"/>
                        <a:cs typeface="Arial" charset="0"/>
                      </a:endParaRPr>
                    </a:p>
                  </a:txBody>
                  <a:tcPr marL="101600" marR="101600" marT="50800" marB="50800" anchor="ctr">
                    <a:lnL w="9525" cap="flat" cmpd="sng" algn="ctr">
                      <a:solidFill>
                        <a:srgbClr val="D8D2C4"/>
                      </a:solidFill>
                      <a:prstDash val="solid"/>
                      <a:round/>
                      <a:headEnd type="none" w="med" len="med"/>
                      <a:tailEnd type="none" w="med" len="med"/>
                    </a:lnL>
                    <a:lnR w="9525" cap="flat" cmpd="sng" algn="ctr">
                      <a:solidFill>
                        <a:srgbClr val="D8D2C4"/>
                      </a:solidFill>
                      <a:prstDash val="solid"/>
                      <a:round/>
                      <a:headEnd type="none" w="med" len="med"/>
                      <a:tailEnd type="none" w="med" len="med"/>
                    </a:lnR>
                    <a:lnT w="9525" cap="flat" cmpd="sng" algn="ctr">
                      <a:solidFill>
                        <a:srgbClr val="D8D2C4"/>
                      </a:solidFill>
                      <a:prstDash val="solid"/>
                      <a:round/>
                      <a:headEnd type="none" w="med" len="med"/>
                      <a:tailEnd type="none" w="med" len="med"/>
                    </a:lnT>
                    <a:lnB w="9525" cap="flat" cmpd="sng" algn="ctr">
                      <a:solidFill>
                        <a:srgbClr val="D8D2C4"/>
                      </a:solidFill>
                      <a:prstDash val="solid"/>
                      <a:round/>
                      <a:headEnd type="none" w="med" len="med"/>
                      <a:tailEnd type="none" w="med" len="med"/>
                    </a:lnB>
                    <a:solidFill>
                      <a:srgbClr val="F5F1E8"/>
                    </a:solidFill>
                  </a:tcPr>
                </a:tc>
                <a:tc>
                  <a:txBody>
                    <a:bodyPr/>
                    <a:lstStyle/>
                    <a:p>
                      <a:pPr indent="0" marL="0">
                        <a:buNone/>
                      </a:pPr>
                      <a:r>
                        <a:rPr lang="en-US" sz="1300" dirty="0">
                          <a:solidFill>
                            <a:srgbClr val="0B132B"/>
                          </a:solidFill>
                          <a:latin typeface="Arial" pitchFamily="34" charset="0"/>
                          <a:ea typeface="Arial" pitchFamily="34" charset="-122"/>
                          <a:cs typeface="Arial" pitchFamily="34" charset="-120"/>
                        </a:rPr>
                        <a:t>Media-alta</a:t>
                      </a:r>
                      <a:endParaRPr lang="en-US" sz="1300" dirty="0">
                        <a:latin typeface="Arial" charset="0"/>
                        <a:ea typeface="Arial" charset="0"/>
                        <a:cs typeface="Arial" charset="0"/>
                      </a:endParaRPr>
                    </a:p>
                  </a:txBody>
                  <a:tcPr marL="101600" marR="101600" marT="50800" marB="50800" anchor="ctr">
                    <a:lnL w="9525" cap="flat" cmpd="sng" algn="ctr">
                      <a:solidFill>
                        <a:srgbClr val="D8D2C4"/>
                      </a:solidFill>
                      <a:prstDash val="solid"/>
                      <a:round/>
                      <a:headEnd type="none" w="med" len="med"/>
                      <a:tailEnd type="none" w="med" len="med"/>
                    </a:lnL>
                    <a:lnR w="9525" cap="flat" cmpd="sng" algn="ctr">
                      <a:solidFill>
                        <a:srgbClr val="D8D2C4"/>
                      </a:solidFill>
                      <a:prstDash val="solid"/>
                      <a:round/>
                      <a:headEnd type="none" w="med" len="med"/>
                      <a:tailEnd type="none" w="med" len="med"/>
                    </a:lnR>
                    <a:lnT w="9525" cap="flat" cmpd="sng" algn="ctr">
                      <a:solidFill>
                        <a:srgbClr val="D8D2C4"/>
                      </a:solidFill>
                      <a:prstDash val="solid"/>
                      <a:round/>
                      <a:headEnd type="none" w="med" len="med"/>
                      <a:tailEnd type="none" w="med" len="med"/>
                    </a:lnT>
                    <a:lnB w="9525" cap="flat" cmpd="sng" algn="ctr">
                      <a:solidFill>
                        <a:srgbClr val="D8D2C4"/>
                      </a:solidFill>
                      <a:prstDash val="solid"/>
                      <a:round/>
                      <a:headEnd type="none" w="med" len="med"/>
                      <a:tailEnd type="none" w="med" len="med"/>
                    </a:lnB>
                    <a:solidFill>
                      <a:srgbClr val="F5F1E8"/>
                    </a:solidFill>
                  </a:tcPr>
                </a:tc>
                <a:tc>
                  <a:txBody>
                    <a:bodyPr/>
                    <a:lstStyle/>
                    <a:p>
                      <a:pPr indent="0" marL="0">
                        <a:buNone/>
                      </a:pPr>
                      <a:r>
                        <a:rPr lang="en-US" sz="1300" dirty="0">
                          <a:solidFill>
                            <a:srgbClr val="0B132B"/>
                          </a:solidFill>
                          <a:latin typeface="Arial" pitchFamily="34" charset="0"/>
                          <a:ea typeface="Arial" pitchFamily="34" charset="-122"/>
                          <a:cs typeface="Arial" pitchFamily="34" charset="-120"/>
                        </a:rPr>
                        <a:t>Medio</a:t>
                      </a:r>
                      <a:endParaRPr lang="en-US" sz="1300" dirty="0">
                        <a:latin typeface="Arial" charset="0"/>
                        <a:ea typeface="Arial" charset="0"/>
                        <a:cs typeface="Arial" charset="0"/>
                      </a:endParaRPr>
                    </a:p>
                  </a:txBody>
                  <a:tcPr marL="101600" marR="101600" marT="50800" marB="50800" anchor="ctr">
                    <a:lnL w="9525" cap="flat" cmpd="sng" algn="ctr">
                      <a:solidFill>
                        <a:srgbClr val="D8D2C4"/>
                      </a:solidFill>
                      <a:prstDash val="solid"/>
                      <a:round/>
                      <a:headEnd type="none" w="med" len="med"/>
                      <a:tailEnd type="none" w="med" len="med"/>
                    </a:lnL>
                    <a:lnR w="9525" cap="flat" cmpd="sng" algn="ctr">
                      <a:solidFill>
                        <a:srgbClr val="D8D2C4"/>
                      </a:solidFill>
                      <a:prstDash val="solid"/>
                      <a:round/>
                      <a:headEnd type="none" w="med" len="med"/>
                      <a:tailEnd type="none" w="med" len="med"/>
                    </a:lnR>
                    <a:lnT w="9525" cap="flat" cmpd="sng" algn="ctr">
                      <a:solidFill>
                        <a:srgbClr val="D8D2C4"/>
                      </a:solidFill>
                      <a:prstDash val="solid"/>
                      <a:round/>
                      <a:headEnd type="none" w="med" len="med"/>
                      <a:tailEnd type="none" w="med" len="med"/>
                    </a:lnT>
                    <a:lnB w="9525" cap="flat" cmpd="sng" algn="ctr">
                      <a:solidFill>
                        <a:srgbClr val="D8D2C4"/>
                      </a:solidFill>
                      <a:prstDash val="solid"/>
                      <a:round/>
                      <a:headEnd type="none" w="med" len="med"/>
                      <a:tailEnd type="none" w="med" len="med"/>
                    </a:lnB>
                    <a:solidFill>
                      <a:srgbClr val="F5F1E8"/>
                    </a:solidFill>
                  </a:tcPr>
                </a:tc>
                <a:tc>
                  <a:txBody>
                    <a:bodyPr/>
                    <a:lstStyle/>
                    <a:p>
                      <a:pPr indent="0" marL="0">
                        <a:buNone/>
                      </a:pPr>
                      <a:r>
                        <a:rPr lang="en-US" sz="1300" dirty="0">
                          <a:solidFill>
                            <a:srgbClr val="0B132B"/>
                          </a:solidFill>
                          <a:latin typeface="Arial" pitchFamily="34" charset="0"/>
                          <a:ea typeface="Arial" pitchFamily="34" charset="-122"/>
                          <a:cs typeface="Arial" pitchFamily="34" charset="-120"/>
                        </a:rPr>
                        <a:t>Con API estable</a:t>
                      </a:r>
                      <a:endParaRPr lang="en-US" sz="1300" dirty="0">
                        <a:latin typeface="Arial" charset="0"/>
                        <a:ea typeface="Arial" charset="0"/>
                        <a:cs typeface="Arial" charset="0"/>
                      </a:endParaRPr>
                    </a:p>
                  </a:txBody>
                  <a:tcPr marL="101600" marR="101600" marT="50800" marB="50800" anchor="ctr">
                    <a:lnL w="9525" cap="flat" cmpd="sng" algn="ctr">
                      <a:solidFill>
                        <a:srgbClr val="D8D2C4"/>
                      </a:solidFill>
                      <a:prstDash val="solid"/>
                      <a:round/>
                      <a:headEnd type="none" w="med" len="med"/>
                      <a:tailEnd type="none" w="med" len="med"/>
                    </a:lnL>
                    <a:lnR w="9525" cap="flat" cmpd="sng" algn="ctr">
                      <a:solidFill>
                        <a:srgbClr val="D8D2C4"/>
                      </a:solidFill>
                      <a:prstDash val="solid"/>
                      <a:round/>
                      <a:headEnd type="none" w="med" len="med"/>
                      <a:tailEnd type="none" w="med" len="med"/>
                    </a:lnR>
                    <a:lnT w="9525" cap="flat" cmpd="sng" algn="ctr">
                      <a:solidFill>
                        <a:srgbClr val="D8D2C4"/>
                      </a:solidFill>
                      <a:prstDash val="solid"/>
                      <a:round/>
                      <a:headEnd type="none" w="med" len="med"/>
                      <a:tailEnd type="none" w="med" len="med"/>
                    </a:lnT>
                    <a:lnB w="9525" cap="flat" cmpd="sng" algn="ctr">
                      <a:solidFill>
                        <a:srgbClr val="D8D2C4"/>
                      </a:solidFill>
                      <a:prstDash val="solid"/>
                      <a:round/>
                      <a:headEnd type="none" w="med" len="med"/>
                      <a:tailEnd type="none" w="med" len="med"/>
                    </a:lnB>
                    <a:solidFill>
                      <a:srgbClr val="F5F1E8"/>
                    </a:solidFill>
                  </a:tcPr>
                </a:tc>
              </a:tr>
              <a:tr h="658368">
                <a:tc>
                  <a:txBody>
                    <a:bodyPr/>
                    <a:lstStyle/>
                    <a:p>
                      <a:pPr indent="0" marL="0">
                        <a:buNone/>
                      </a:pPr>
                      <a:r>
                        <a:rPr lang="en-US" sz="1300" b="1" dirty="0">
                          <a:solidFill>
                            <a:srgbClr val="0B132B"/>
                          </a:solidFill>
                          <a:latin typeface="Arial" pitchFamily="34" charset="0"/>
                          <a:ea typeface="Arial" pitchFamily="34" charset="-122"/>
                          <a:cs typeface="Arial" pitchFamily="34" charset="-120"/>
                        </a:rPr>
                        <a:t>Marketplace</a:t>
                      </a:r>
                      <a:endParaRPr lang="en-US" sz="1300" dirty="0">
                        <a:latin typeface="Arial" charset="0"/>
                        <a:ea typeface="Arial" charset="0"/>
                        <a:cs typeface="Arial" charset="0"/>
                      </a:endParaRPr>
                    </a:p>
                  </a:txBody>
                  <a:tcPr marL="101600" marR="101600" marT="50800" marB="50800" anchor="ctr">
                    <a:lnL w="9525" cap="flat" cmpd="sng" algn="ctr">
                      <a:solidFill>
                        <a:srgbClr val="D8D2C4"/>
                      </a:solidFill>
                      <a:prstDash val="solid"/>
                      <a:round/>
                      <a:headEnd type="none" w="med" len="med"/>
                      <a:tailEnd type="none" w="med" len="med"/>
                    </a:lnL>
                    <a:lnR w="9525" cap="flat" cmpd="sng" algn="ctr">
                      <a:solidFill>
                        <a:srgbClr val="D8D2C4"/>
                      </a:solidFill>
                      <a:prstDash val="solid"/>
                      <a:round/>
                      <a:headEnd type="none" w="med" len="med"/>
                      <a:tailEnd type="none" w="med" len="med"/>
                    </a:lnR>
                    <a:lnT w="9525" cap="flat" cmpd="sng" algn="ctr">
                      <a:solidFill>
                        <a:srgbClr val="D8D2C4"/>
                      </a:solidFill>
                      <a:prstDash val="solid"/>
                      <a:round/>
                      <a:headEnd type="none" w="med" len="med"/>
                      <a:tailEnd type="none" w="med" len="med"/>
                    </a:lnT>
                    <a:lnB w="9525" cap="flat" cmpd="sng" algn="ctr">
                      <a:solidFill>
                        <a:srgbClr val="D8D2C4"/>
                      </a:solidFill>
                      <a:prstDash val="solid"/>
                      <a:round/>
                      <a:headEnd type="none" w="med" len="med"/>
                      <a:tailEnd type="none" w="med" len="med"/>
                    </a:lnB>
                    <a:solidFill>
                      <a:srgbClr val="FFFFFF"/>
                    </a:solidFill>
                  </a:tcPr>
                </a:tc>
                <a:tc>
                  <a:txBody>
                    <a:bodyPr/>
                    <a:lstStyle/>
                    <a:p>
                      <a:pPr indent="0" marL="0">
                        <a:buNone/>
                      </a:pPr>
                      <a:r>
                        <a:rPr lang="en-US" sz="1300" dirty="0">
                          <a:solidFill>
                            <a:srgbClr val="0B132B"/>
                          </a:solidFill>
                          <a:latin typeface="Arial" pitchFamily="34" charset="0"/>
                          <a:ea typeface="Arial" pitchFamily="34" charset="-122"/>
                          <a:cs typeface="Arial" pitchFamily="34" charset="-120"/>
                        </a:rPr>
                        <a:t>Más adelante</a:t>
                      </a:r>
                      <a:endParaRPr lang="en-US" sz="1300" dirty="0">
                        <a:latin typeface="Arial" charset="0"/>
                        <a:ea typeface="Arial" charset="0"/>
                        <a:cs typeface="Arial" charset="0"/>
                      </a:endParaRPr>
                    </a:p>
                  </a:txBody>
                  <a:tcPr marL="101600" marR="101600" marT="50800" marB="50800" anchor="ctr">
                    <a:lnL w="9525" cap="flat" cmpd="sng" algn="ctr">
                      <a:solidFill>
                        <a:srgbClr val="D8D2C4"/>
                      </a:solidFill>
                      <a:prstDash val="solid"/>
                      <a:round/>
                      <a:headEnd type="none" w="med" len="med"/>
                      <a:tailEnd type="none" w="med" len="med"/>
                    </a:lnL>
                    <a:lnR w="9525" cap="flat" cmpd="sng" algn="ctr">
                      <a:solidFill>
                        <a:srgbClr val="D8D2C4"/>
                      </a:solidFill>
                      <a:prstDash val="solid"/>
                      <a:round/>
                      <a:headEnd type="none" w="med" len="med"/>
                      <a:tailEnd type="none" w="med" len="med"/>
                    </a:lnR>
                    <a:lnT w="9525" cap="flat" cmpd="sng" algn="ctr">
                      <a:solidFill>
                        <a:srgbClr val="D8D2C4"/>
                      </a:solidFill>
                      <a:prstDash val="solid"/>
                      <a:round/>
                      <a:headEnd type="none" w="med" len="med"/>
                      <a:tailEnd type="none" w="med" len="med"/>
                    </a:lnT>
                    <a:lnB w="9525" cap="flat" cmpd="sng" algn="ctr">
                      <a:solidFill>
                        <a:srgbClr val="D8D2C4"/>
                      </a:solidFill>
                      <a:prstDash val="solid"/>
                      <a:round/>
                      <a:headEnd type="none" w="med" len="med"/>
                      <a:tailEnd type="none" w="med" len="med"/>
                    </a:lnB>
                    <a:solidFill>
                      <a:srgbClr val="FFFFFF"/>
                    </a:solidFill>
                  </a:tcPr>
                </a:tc>
                <a:tc>
                  <a:txBody>
                    <a:bodyPr/>
                    <a:lstStyle/>
                    <a:p>
                      <a:pPr indent="0" marL="0">
                        <a:buNone/>
                      </a:pPr>
                      <a:r>
                        <a:rPr lang="en-US" sz="1300" dirty="0">
                          <a:solidFill>
                            <a:srgbClr val="0B132B"/>
                          </a:solidFill>
                          <a:latin typeface="Arial" pitchFamily="34" charset="0"/>
                          <a:ea typeface="Arial" pitchFamily="34" charset="-122"/>
                          <a:cs typeface="Arial" pitchFamily="34" charset="-120"/>
                        </a:rPr>
                        <a:t>Dos lados: oferta + demanda</a:t>
                      </a:r>
                      <a:endParaRPr lang="en-US" sz="1300" dirty="0">
                        <a:latin typeface="Arial" charset="0"/>
                        <a:ea typeface="Arial" charset="0"/>
                        <a:cs typeface="Arial" charset="0"/>
                      </a:endParaRPr>
                    </a:p>
                  </a:txBody>
                  <a:tcPr marL="101600" marR="101600" marT="50800" marB="50800" anchor="ctr">
                    <a:lnL w="9525" cap="flat" cmpd="sng" algn="ctr">
                      <a:solidFill>
                        <a:srgbClr val="D8D2C4"/>
                      </a:solidFill>
                      <a:prstDash val="solid"/>
                      <a:round/>
                      <a:headEnd type="none" w="med" len="med"/>
                      <a:tailEnd type="none" w="med" len="med"/>
                    </a:lnL>
                    <a:lnR w="9525" cap="flat" cmpd="sng" algn="ctr">
                      <a:solidFill>
                        <a:srgbClr val="D8D2C4"/>
                      </a:solidFill>
                      <a:prstDash val="solid"/>
                      <a:round/>
                      <a:headEnd type="none" w="med" len="med"/>
                      <a:tailEnd type="none" w="med" len="med"/>
                    </a:lnR>
                    <a:lnT w="9525" cap="flat" cmpd="sng" algn="ctr">
                      <a:solidFill>
                        <a:srgbClr val="D8D2C4"/>
                      </a:solidFill>
                      <a:prstDash val="solid"/>
                      <a:round/>
                      <a:headEnd type="none" w="med" len="med"/>
                      <a:tailEnd type="none" w="med" len="med"/>
                    </a:lnT>
                    <a:lnB w="9525" cap="flat" cmpd="sng" algn="ctr">
                      <a:solidFill>
                        <a:srgbClr val="D8D2C4"/>
                      </a:solidFill>
                      <a:prstDash val="solid"/>
                      <a:round/>
                      <a:headEnd type="none" w="med" len="med"/>
                      <a:tailEnd type="none" w="med" len="med"/>
                    </a:lnB>
                    <a:solidFill>
                      <a:srgbClr val="FFFFFF"/>
                    </a:solidFill>
                  </a:tcPr>
                </a:tc>
                <a:tc>
                  <a:txBody>
                    <a:bodyPr/>
                    <a:lstStyle/>
                    <a:p>
                      <a:pPr indent="0" marL="0">
                        <a:buNone/>
                      </a:pPr>
                      <a:r>
                        <a:rPr lang="en-US" sz="1300" dirty="0">
                          <a:solidFill>
                            <a:srgbClr val="0B132B"/>
                          </a:solidFill>
                          <a:latin typeface="Arial" pitchFamily="34" charset="0"/>
                          <a:ea typeface="Arial" pitchFamily="34" charset="-122"/>
                          <a:cs typeface="Arial" pitchFamily="34" charset="-120"/>
                        </a:rPr>
                        <a:t>Muy alto</a:t>
                      </a:r>
                      <a:endParaRPr lang="en-US" sz="1300" dirty="0">
                        <a:latin typeface="Arial" charset="0"/>
                        <a:ea typeface="Arial" charset="0"/>
                        <a:cs typeface="Arial" charset="0"/>
                      </a:endParaRPr>
                    </a:p>
                  </a:txBody>
                  <a:tcPr marL="101600" marR="101600" marT="50800" marB="50800" anchor="ctr">
                    <a:lnL w="9525" cap="flat" cmpd="sng" algn="ctr">
                      <a:solidFill>
                        <a:srgbClr val="D8D2C4"/>
                      </a:solidFill>
                      <a:prstDash val="solid"/>
                      <a:round/>
                      <a:headEnd type="none" w="med" len="med"/>
                      <a:tailEnd type="none" w="med" len="med"/>
                    </a:lnL>
                    <a:lnR w="9525" cap="flat" cmpd="sng" algn="ctr">
                      <a:solidFill>
                        <a:srgbClr val="D8D2C4"/>
                      </a:solidFill>
                      <a:prstDash val="solid"/>
                      <a:round/>
                      <a:headEnd type="none" w="med" len="med"/>
                      <a:tailEnd type="none" w="med" len="med"/>
                    </a:lnR>
                    <a:lnT w="9525" cap="flat" cmpd="sng" algn="ctr">
                      <a:solidFill>
                        <a:srgbClr val="D8D2C4"/>
                      </a:solidFill>
                      <a:prstDash val="solid"/>
                      <a:round/>
                      <a:headEnd type="none" w="med" len="med"/>
                      <a:tailEnd type="none" w="med" len="med"/>
                    </a:lnT>
                    <a:lnB w="9525" cap="flat" cmpd="sng" algn="ctr">
                      <a:solidFill>
                        <a:srgbClr val="D8D2C4"/>
                      </a:solidFill>
                      <a:prstDash val="solid"/>
                      <a:round/>
                      <a:headEnd type="none" w="med" len="med"/>
                      <a:tailEnd type="none" w="med" len="med"/>
                    </a:lnB>
                    <a:solidFill>
                      <a:srgbClr val="FFFFFF"/>
                    </a:solidFill>
                  </a:tcPr>
                </a:tc>
                <a:tc>
                  <a:txBody>
                    <a:bodyPr/>
                    <a:lstStyle/>
                    <a:p>
                      <a:pPr indent="0" marL="0">
                        <a:buNone/>
                      </a:pPr>
                      <a:r>
                        <a:rPr lang="en-US" sz="1300" dirty="0">
                          <a:solidFill>
                            <a:srgbClr val="0B132B"/>
                          </a:solidFill>
                          <a:latin typeface="Arial" pitchFamily="34" charset="0"/>
                          <a:ea typeface="Arial" pitchFamily="34" charset="-122"/>
                          <a:cs typeface="Arial" pitchFamily="34" charset="-120"/>
                        </a:rPr>
                        <a:t>Muy alta</a:t>
                      </a:r>
                      <a:endParaRPr lang="en-US" sz="1300" dirty="0">
                        <a:latin typeface="Arial" charset="0"/>
                        <a:ea typeface="Arial" charset="0"/>
                        <a:cs typeface="Arial" charset="0"/>
                      </a:endParaRPr>
                    </a:p>
                  </a:txBody>
                  <a:tcPr marL="101600" marR="101600" marT="50800" marB="50800" anchor="ctr">
                    <a:lnL w="9525" cap="flat" cmpd="sng" algn="ctr">
                      <a:solidFill>
                        <a:srgbClr val="D8D2C4"/>
                      </a:solidFill>
                      <a:prstDash val="solid"/>
                      <a:round/>
                      <a:headEnd type="none" w="med" len="med"/>
                      <a:tailEnd type="none" w="med" len="med"/>
                    </a:lnL>
                    <a:lnR w="9525" cap="flat" cmpd="sng" algn="ctr">
                      <a:solidFill>
                        <a:srgbClr val="D8D2C4"/>
                      </a:solidFill>
                      <a:prstDash val="solid"/>
                      <a:round/>
                      <a:headEnd type="none" w="med" len="med"/>
                      <a:tailEnd type="none" w="med" len="med"/>
                    </a:lnR>
                    <a:lnT w="9525" cap="flat" cmpd="sng" algn="ctr">
                      <a:solidFill>
                        <a:srgbClr val="D8D2C4"/>
                      </a:solidFill>
                      <a:prstDash val="solid"/>
                      <a:round/>
                      <a:headEnd type="none" w="med" len="med"/>
                      <a:tailEnd type="none" w="med" len="med"/>
                    </a:lnT>
                    <a:lnB w="9525" cap="flat" cmpd="sng" algn="ctr">
                      <a:solidFill>
                        <a:srgbClr val="D8D2C4"/>
                      </a:solidFill>
                      <a:prstDash val="solid"/>
                      <a:round/>
                      <a:headEnd type="none" w="med" len="med"/>
                      <a:tailEnd type="none" w="med" len="med"/>
                    </a:lnB>
                    <a:solidFill>
                      <a:srgbClr val="FFFFFF"/>
                    </a:solidFill>
                  </a:tcPr>
                </a:tc>
                <a:tc>
                  <a:txBody>
                    <a:bodyPr/>
                    <a:lstStyle/>
                    <a:p>
                      <a:pPr indent="0" marL="0">
                        <a:buNone/>
                      </a:pPr>
                      <a:r>
                        <a:rPr lang="en-US" sz="1300" dirty="0">
                          <a:solidFill>
                            <a:srgbClr val="0B132B"/>
                          </a:solidFill>
                          <a:latin typeface="Arial" pitchFamily="34" charset="0"/>
                          <a:ea typeface="Arial" pitchFamily="34" charset="-122"/>
                          <a:cs typeface="Arial" pitchFamily="34" charset="-120"/>
                        </a:rPr>
                        <a:t>Alto</a:t>
                      </a:r>
                      <a:endParaRPr lang="en-US" sz="1300" dirty="0">
                        <a:latin typeface="Arial" charset="0"/>
                        <a:ea typeface="Arial" charset="0"/>
                        <a:cs typeface="Arial" charset="0"/>
                      </a:endParaRPr>
                    </a:p>
                  </a:txBody>
                  <a:tcPr marL="101600" marR="101600" marT="50800" marB="50800" anchor="ctr">
                    <a:lnL w="9525" cap="flat" cmpd="sng" algn="ctr">
                      <a:solidFill>
                        <a:srgbClr val="D8D2C4"/>
                      </a:solidFill>
                      <a:prstDash val="solid"/>
                      <a:round/>
                      <a:headEnd type="none" w="med" len="med"/>
                      <a:tailEnd type="none" w="med" len="med"/>
                    </a:lnL>
                    <a:lnR w="9525" cap="flat" cmpd="sng" algn="ctr">
                      <a:solidFill>
                        <a:srgbClr val="D8D2C4"/>
                      </a:solidFill>
                      <a:prstDash val="solid"/>
                      <a:round/>
                      <a:headEnd type="none" w="med" len="med"/>
                      <a:tailEnd type="none" w="med" len="med"/>
                    </a:lnR>
                    <a:lnT w="9525" cap="flat" cmpd="sng" algn="ctr">
                      <a:solidFill>
                        <a:srgbClr val="D8D2C4"/>
                      </a:solidFill>
                      <a:prstDash val="solid"/>
                      <a:round/>
                      <a:headEnd type="none" w="med" len="med"/>
                      <a:tailEnd type="none" w="med" len="med"/>
                    </a:lnT>
                    <a:lnB w="9525" cap="flat" cmpd="sng" algn="ctr">
                      <a:solidFill>
                        <a:srgbClr val="D8D2C4"/>
                      </a:solidFill>
                      <a:prstDash val="solid"/>
                      <a:round/>
                      <a:headEnd type="none" w="med" len="med"/>
                      <a:tailEnd type="none" w="med" len="med"/>
                    </a:lnB>
                    <a:solidFill>
                      <a:srgbClr val="FFFFFF"/>
                    </a:solidFill>
                  </a:tcPr>
                </a:tc>
                <a:tc>
                  <a:txBody>
                    <a:bodyPr/>
                    <a:lstStyle/>
                    <a:p>
                      <a:pPr indent="0" marL="0">
                        <a:buNone/>
                      </a:pPr>
                      <a:r>
                        <a:rPr lang="en-US" sz="1300" dirty="0">
                          <a:solidFill>
                            <a:srgbClr val="0B132B"/>
                          </a:solidFill>
                          <a:latin typeface="Arial" pitchFamily="34" charset="0"/>
                          <a:ea typeface="Arial" pitchFamily="34" charset="-122"/>
                          <a:cs typeface="Arial" pitchFamily="34" charset="-120"/>
                        </a:rPr>
                        <a:t>Mucho más adelante</a:t>
                      </a:r>
                      <a:endParaRPr lang="en-US" sz="1300" dirty="0">
                        <a:latin typeface="Arial" charset="0"/>
                        <a:ea typeface="Arial" charset="0"/>
                        <a:cs typeface="Arial" charset="0"/>
                      </a:endParaRPr>
                    </a:p>
                  </a:txBody>
                  <a:tcPr marL="101600" marR="101600" marT="50800" marB="50800" anchor="ctr">
                    <a:lnL w="9525" cap="flat" cmpd="sng" algn="ctr">
                      <a:solidFill>
                        <a:srgbClr val="D8D2C4"/>
                      </a:solidFill>
                      <a:prstDash val="solid"/>
                      <a:round/>
                      <a:headEnd type="none" w="med" len="med"/>
                      <a:tailEnd type="none" w="med" len="med"/>
                    </a:lnL>
                    <a:lnR w="9525" cap="flat" cmpd="sng" algn="ctr">
                      <a:solidFill>
                        <a:srgbClr val="D8D2C4"/>
                      </a:solidFill>
                      <a:prstDash val="solid"/>
                      <a:round/>
                      <a:headEnd type="none" w="med" len="med"/>
                      <a:tailEnd type="none" w="med" len="med"/>
                    </a:lnR>
                    <a:lnT w="9525" cap="flat" cmpd="sng" algn="ctr">
                      <a:solidFill>
                        <a:srgbClr val="D8D2C4"/>
                      </a:solidFill>
                      <a:prstDash val="solid"/>
                      <a:round/>
                      <a:headEnd type="none" w="med" len="med"/>
                      <a:tailEnd type="none" w="med" len="med"/>
                    </a:lnT>
                    <a:lnB w="9525" cap="flat" cmpd="sng" algn="ctr">
                      <a:solidFill>
                        <a:srgbClr val="D8D2C4"/>
                      </a:solidFill>
                      <a:prstDash val="solid"/>
                      <a:round/>
                      <a:headEnd type="none" w="med" len="med"/>
                      <a:tailEnd type="none" w="med" len="med"/>
                    </a:lnB>
                    <a:solidFill>
                      <a:srgbClr val="FFFFFF"/>
                    </a:solidFill>
                  </a:tcPr>
                </a:tc>
              </a:tr>
            </a:tbl>
          </a:graphicData>
        </a:graphic>
      </p:graphicFrame>
      <p:sp>
        <p:nvSpPr>
          <p:cNvPr id="15" name="Text 12"/>
          <p:cNvSpPr txBox="1"/>
          <p:nvPr/>
        </p:nvSpPr>
        <p:spPr>
          <a:xfrm>
            <a:off x="594360" y="5577840"/>
            <a:ext cx="10972800" cy="548640"/>
          </a:xfrm>
          <a:prstGeom prst="rect">
            <a:avLst/>
          </a:prstGeom>
          <a:noFill/>
          <a:ln/>
        </p:spPr>
        <p:txBody>
          <a:bodyPr wrap="square" lIns="0" tIns="0" rIns="0" bIns="0" rtlCol="0" anchor="t"/>
          <a:lstStyle/>
          <a:p>
            <a:pPr indent="0" marL="0">
              <a:buNone/>
            </a:pPr>
            <a:r>
              <a:rPr lang="en-US" sz="1100" i="1" dirty="0">
                <a:solidFill>
                  <a:srgbClr val="6B7385"/>
                </a:solidFill>
                <a:latin typeface="Arial" pitchFamily="34" charset="0"/>
                <a:ea typeface="Arial" pitchFamily="34" charset="-122"/>
                <a:cs typeface="Arial" pitchFamily="34" charset="-120"/>
              </a:rPr>
              <a:t>Valoraciones cualitativas del equipo, no mediciones. No usamos puntajes numéricos porque todavía no hay datos que los respalden.</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5F1E8"/>
        </a:solidFill>
      </p:bgPr>
    </p:bg>
    <p:spTree>
      <p:nvGrpSpPr>
        <p:cNvPr id="1" name=""/>
        <p:cNvGrpSpPr/>
        <p:nvPr/>
      </p:nvGrpSpPr>
      <p:grpSpPr>
        <a:xfrm>
          <a:off x="0" y="0"/>
          <a:ext cx="0" cy="0"/>
          <a:chOff x="0" y="0"/>
          <a:chExt cx="0" cy="0"/>
        </a:xfrm>
      </p:grpSpPr>
      <p:sp>
        <p:nvSpPr>
          <p:cNvPr id="2" name="Shape 0"/>
          <p:cNvSpPr/>
          <p:nvPr/>
        </p:nvSpPr>
        <p:spPr>
          <a:xfrm flipV="1">
            <a:off x="594360" y="384048"/>
            <a:ext cx="120701" cy="98755"/>
          </a:xfrm>
          <a:prstGeom prst="line">
            <a:avLst/>
          </a:prstGeom>
          <a:noFill/>
          <a:ln w="22225">
            <a:solidFill>
              <a:srgbClr val="5BC0BE"/>
            </a:solidFill>
            <a:prstDash val="solid"/>
          </a:ln>
        </p:spPr>
      </p:sp>
      <p:sp>
        <p:nvSpPr>
          <p:cNvPr id="3" name="Shape 1"/>
          <p:cNvSpPr/>
          <p:nvPr/>
        </p:nvSpPr>
        <p:spPr>
          <a:xfrm>
            <a:off x="715061" y="384048"/>
            <a:ext cx="120701" cy="98755"/>
          </a:xfrm>
          <a:prstGeom prst="line">
            <a:avLst/>
          </a:prstGeom>
          <a:noFill/>
          <a:ln w="22225">
            <a:solidFill>
              <a:srgbClr val="5BC0BE"/>
            </a:solidFill>
            <a:prstDash val="solid"/>
          </a:ln>
        </p:spPr>
      </p:sp>
      <p:sp>
        <p:nvSpPr>
          <p:cNvPr id="4" name="Shape 2"/>
          <p:cNvSpPr/>
          <p:nvPr/>
        </p:nvSpPr>
        <p:spPr>
          <a:xfrm flipV="1">
            <a:off x="835762" y="384048"/>
            <a:ext cx="120701" cy="98755"/>
          </a:xfrm>
          <a:prstGeom prst="line">
            <a:avLst/>
          </a:prstGeom>
          <a:noFill/>
          <a:ln w="22225">
            <a:solidFill>
              <a:srgbClr val="5BC0BE"/>
            </a:solidFill>
            <a:prstDash val="solid"/>
          </a:ln>
        </p:spPr>
      </p:sp>
      <p:sp>
        <p:nvSpPr>
          <p:cNvPr id="5" name="Shape 3"/>
          <p:cNvSpPr/>
          <p:nvPr/>
        </p:nvSpPr>
        <p:spPr>
          <a:xfrm>
            <a:off x="566928" y="455371"/>
            <a:ext cx="54864" cy="54864"/>
          </a:xfrm>
          <a:prstGeom prst="ellipse">
            <a:avLst/>
          </a:prstGeom>
          <a:solidFill>
            <a:srgbClr val="5BC0BE"/>
          </a:solidFill>
          <a:ln w="12700">
            <a:solidFill>
              <a:srgbClr val="5BC0BE"/>
            </a:solidFill>
            <a:prstDash val="solid"/>
          </a:ln>
        </p:spPr>
      </p:sp>
      <p:sp>
        <p:nvSpPr>
          <p:cNvPr id="6" name="Shape 4"/>
          <p:cNvSpPr/>
          <p:nvPr/>
        </p:nvSpPr>
        <p:spPr>
          <a:xfrm>
            <a:off x="687629" y="356616"/>
            <a:ext cx="54864" cy="54864"/>
          </a:xfrm>
          <a:prstGeom prst="ellipse">
            <a:avLst/>
          </a:prstGeom>
          <a:solidFill>
            <a:srgbClr val="5BC0BE"/>
          </a:solidFill>
          <a:ln w="12700">
            <a:solidFill>
              <a:srgbClr val="5BC0BE"/>
            </a:solidFill>
            <a:prstDash val="solid"/>
          </a:ln>
        </p:spPr>
      </p:sp>
      <p:sp>
        <p:nvSpPr>
          <p:cNvPr id="7" name="Shape 5"/>
          <p:cNvSpPr/>
          <p:nvPr/>
        </p:nvSpPr>
        <p:spPr>
          <a:xfrm>
            <a:off x="808330" y="455371"/>
            <a:ext cx="54864" cy="54864"/>
          </a:xfrm>
          <a:prstGeom prst="ellipse">
            <a:avLst/>
          </a:prstGeom>
          <a:solidFill>
            <a:srgbClr val="5BC0BE"/>
          </a:solidFill>
          <a:ln w="12700">
            <a:solidFill>
              <a:srgbClr val="5BC0BE"/>
            </a:solidFill>
            <a:prstDash val="solid"/>
          </a:ln>
        </p:spPr>
      </p:sp>
      <p:sp>
        <p:nvSpPr>
          <p:cNvPr id="8" name="Shape 6"/>
          <p:cNvSpPr/>
          <p:nvPr/>
        </p:nvSpPr>
        <p:spPr>
          <a:xfrm>
            <a:off x="929030" y="356616"/>
            <a:ext cx="54864" cy="54864"/>
          </a:xfrm>
          <a:prstGeom prst="ellipse">
            <a:avLst/>
          </a:prstGeom>
          <a:solidFill>
            <a:srgbClr val="5BC0BE"/>
          </a:solidFill>
          <a:ln w="12700">
            <a:solidFill>
              <a:srgbClr val="5BC0BE"/>
            </a:solidFill>
            <a:prstDash val="solid"/>
          </a:ln>
        </p:spPr>
      </p:sp>
      <p:sp>
        <p:nvSpPr>
          <p:cNvPr id="9" name="Shape 7"/>
          <p:cNvSpPr/>
          <p:nvPr/>
        </p:nvSpPr>
        <p:spPr>
          <a:xfrm>
            <a:off x="1143000" y="329184"/>
            <a:ext cx="1874520" cy="274320"/>
          </a:xfrm>
          <a:prstGeom prst="roundRect">
            <a:avLst>
              <a:gd name="adj" fmla="val 50000"/>
            </a:avLst>
          </a:prstGeom>
          <a:solidFill>
            <a:srgbClr val="F5E6C4"/>
          </a:solidFill>
          <a:ln w="12700">
            <a:solidFill>
              <a:srgbClr val="F5E6C4"/>
            </a:solidFill>
            <a:prstDash val="solid"/>
          </a:ln>
        </p:spPr>
      </p:sp>
      <p:sp>
        <p:nvSpPr>
          <p:cNvPr id="10" name="Text 8"/>
          <p:cNvSpPr txBox="1"/>
          <p:nvPr/>
        </p:nvSpPr>
        <p:spPr>
          <a:xfrm>
            <a:off x="1143000" y="329184"/>
            <a:ext cx="1874520" cy="274320"/>
          </a:xfrm>
          <a:prstGeom prst="rect">
            <a:avLst/>
          </a:prstGeom>
          <a:noFill/>
          <a:ln/>
        </p:spPr>
        <p:txBody>
          <a:bodyPr wrap="square" lIns="0" tIns="0" rIns="0" bIns="0" rtlCol="0" anchor="ctr"/>
          <a:lstStyle/>
          <a:p>
            <a:pPr algn="ctr" indent="0" marL="0">
              <a:buNone/>
            </a:pPr>
            <a:r>
              <a:rPr lang="en-US" sz="900" b="1" spc="150" kern="0" dirty="0">
                <a:solidFill>
                  <a:srgbClr val="8A5A06"/>
                </a:solidFill>
                <a:latin typeface="Arial" pitchFamily="34" charset="0"/>
                <a:ea typeface="Arial" pitchFamily="34" charset="-122"/>
                <a:cs typeface="Arial" pitchFamily="34" charset="-120"/>
              </a:rPr>
              <a:t>HIPÓTESIS DE NEGOCIO</a:t>
            </a:r>
            <a:endParaRPr lang="en-US" sz="900" dirty="0"/>
          </a:p>
        </p:txBody>
      </p:sp>
      <p:sp>
        <p:nvSpPr>
          <p:cNvPr id="11" name="Text 9"/>
          <p:cNvSpPr txBox="1"/>
          <p:nvPr/>
        </p:nvSpPr>
        <p:spPr>
          <a:xfrm>
            <a:off x="594360" y="777240"/>
            <a:ext cx="11002975" cy="731520"/>
          </a:xfrm>
          <a:prstGeom prst="rect">
            <a:avLst/>
          </a:prstGeom>
          <a:noFill/>
          <a:ln/>
        </p:spPr>
        <p:txBody>
          <a:bodyPr wrap="square" lIns="0" tIns="0" rIns="0" bIns="0" rtlCol="0" anchor="t"/>
          <a:lstStyle/>
          <a:p>
            <a:pPr indent="0" marL="0">
              <a:buNone/>
            </a:pPr>
            <a:r>
              <a:rPr lang="en-US" sz="2600" b="1" dirty="0">
                <a:solidFill>
                  <a:srgbClr val="0B132B"/>
                </a:solidFill>
                <a:latin typeface="Arial" pitchFamily="34" charset="0"/>
                <a:ea typeface="Arial" pitchFamily="34" charset="-122"/>
                <a:cs typeface="Arial" pitchFamily="34" charset="-120"/>
              </a:rPr>
              <a:t>Aprender con B2C. Monetizar el motor. Expandir donde digan los datos.</a:t>
            </a:r>
            <a:endParaRPr lang="en-US" sz="2600" dirty="0"/>
          </a:p>
        </p:txBody>
      </p:sp>
      <p:sp>
        <p:nvSpPr>
          <p:cNvPr id="12" name="Text 10"/>
          <p:cNvSpPr txBox="1"/>
          <p:nvPr/>
        </p:nvSpPr>
        <p:spPr>
          <a:xfrm>
            <a:off x="594360" y="6473952"/>
            <a:ext cx="7315200" cy="182880"/>
          </a:xfrm>
          <a:prstGeom prst="rect">
            <a:avLst/>
          </a:prstGeom>
          <a:noFill/>
          <a:ln/>
        </p:spPr>
        <p:txBody>
          <a:bodyPr wrap="square" lIns="0" tIns="0" rIns="0" bIns="0" rtlCol="0" anchor="t"/>
          <a:lstStyle/>
          <a:p>
            <a:pPr indent="0" marL="0">
              <a:buNone/>
            </a:pPr>
            <a:r>
              <a:rPr lang="en-US" sz="850" dirty="0">
                <a:solidFill>
                  <a:srgbClr val="6B7385"/>
                </a:solidFill>
                <a:latin typeface="Arial" pitchFamily="34" charset="0"/>
                <a:ea typeface="Arial" pitchFamily="34" charset="-122"/>
                <a:cs typeface="Arial" pitchFamily="34" charset="-120"/>
              </a:rPr>
              <a:t>Zig-Zag · Business, Product &amp; Strategy Update · Septiembre 2026</a:t>
            </a:r>
            <a:endParaRPr lang="en-US" sz="850" dirty="0"/>
          </a:p>
        </p:txBody>
      </p:sp>
      <p:sp>
        <p:nvSpPr>
          <p:cNvPr id="13" name="Text 11"/>
          <p:cNvSpPr txBox="1"/>
          <p:nvPr/>
        </p:nvSpPr>
        <p:spPr>
          <a:xfrm>
            <a:off x="11048695" y="6473952"/>
            <a:ext cx="548640" cy="182880"/>
          </a:xfrm>
          <a:prstGeom prst="rect">
            <a:avLst/>
          </a:prstGeom>
          <a:noFill/>
          <a:ln/>
        </p:spPr>
        <p:txBody>
          <a:bodyPr wrap="square" lIns="0" tIns="0" rIns="0" bIns="0" rtlCol="0" anchor="t"/>
          <a:lstStyle/>
          <a:p>
            <a:pPr algn="r" indent="0" marL="0">
              <a:buNone/>
            </a:pPr>
            <a:r>
              <a:rPr lang="en-US" sz="850" dirty="0">
                <a:solidFill>
                  <a:srgbClr val="6B7385"/>
                </a:solidFill>
                <a:latin typeface="Arial" pitchFamily="34" charset="0"/>
                <a:ea typeface="Arial" pitchFamily="34" charset="-122"/>
                <a:cs typeface="Arial" pitchFamily="34" charset="-120"/>
              </a:rPr>
              <a:t>15</a:t>
            </a:r>
            <a:endParaRPr lang="en-US" sz="850" dirty="0"/>
          </a:p>
        </p:txBody>
      </p:sp>
      <p:sp>
        <p:nvSpPr>
          <p:cNvPr id="14" name="Shape 12"/>
          <p:cNvSpPr/>
          <p:nvPr/>
        </p:nvSpPr>
        <p:spPr>
          <a:xfrm>
            <a:off x="594360" y="1783080"/>
            <a:ext cx="2705024" cy="502920"/>
          </a:xfrm>
          <a:prstGeom prst="chevron">
            <a:avLst/>
          </a:prstGeom>
          <a:solidFill>
            <a:srgbClr val="5BC0BE"/>
          </a:solidFill>
          <a:ln w="12700">
            <a:solidFill>
              <a:srgbClr val="5BC0BE"/>
            </a:solidFill>
            <a:prstDash val="solid"/>
          </a:ln>
        </p:spPr>
      </p:sp>
      <p:sp>
        <p:nvSpPr>
          <p:cNvPr id="15" name="Text 13"/>
          <p:cNvSpPr txBox="1"/>
          <p:nvPr/>
        </p:nvSpPr>
        <p:spPr>
          <a:xfrm>
            <a:off x="914400" y="1783080"/>
            <a:ext cx="2156384" cy="502920"/>
          </a:xfrm>
          <a:prstGeom prst="rect">
            <a:avLst/>
          </a:prstGeom>
          <a:noFill/>
          <a:ln/>
        </p:spPr>
        <p:txBody>
          <a:bodyPr wrap="square" lIns="0" tIns="0" rIns="0" bIns="0" rtlCol="0" anchor="ctr"/>
          <a:lstStyle/>
          <a:p>
            <a:pPr indent="0" marL="0">
              <a:buNone/>
            </a:pPr>
            <a:r>
              <a:rPr lang="en-US" sz="1200" b="1" spc="200" kern="0" dirty="0">
                <a:solidFill>
                  <a:srgbClr val="0B132B"/>
                </a:solidFill>
                <a:latin typeface="Arial" pitchFamily="34" charset="0"/>
                <a:ea typeface="Arial" pitchFamily="34" charset="-122"/>
                <a:cs typeface="Arial" pitchFamily="34" charset="-120"/>
              </a:rPr>
              <a:t>FASE 1</a:t>
            </a:r>
            <a:endParaRPr lang="en-US" sz="1200" dirty="0"/>
          </a:p>
        </p:txBody>
      </p:sp>
      <p:sp>
        <p:nvSpPr>
          <p:cNvPr id="16" name="Text 14"/>
          <p:cNvSpPr txBox="1"/>
          <p:nvPr/>
        </p:nvSpPr>
        <p:spPr>
          <a:xfrm>
            <a:off x="594360" y="2468880"/>
            <a:ext cx="2613584" cy="457200"/>
          </a:xfrm>
          <a:prstGeom prst="rect">
            <a:avLst/>
          </a:prstGeom>
          <a:noFill/>
          <a:ln/>
        </p:spPr>
        <p:txBody>
          <a:bodyPr wrap="square" lIns="0" tIns="0" rIns="0" bIns="0" rtlCol="0" anchor="t"/>
          <a:lstStyle/>
          <a:p>
            <a:pPr indent="0" marL="0">
              <a:buNone/>
            </a:pPr>
            <a:r>
              <a:rPr lang="en-US" sz="1800" b="1" dirty="0">
                <a:solidFill>
                  <a:srgbClr val="0B132B"/>
                </a:solidFill>
                <a:latin typeface="Arial" pitchFamily="34" charset="0"/>
                <a:ea typeface="Arial" pitchFamily="34" charset="-122"/>
                <a:cs typeface="Arial" pitchFamily="34" charset="-120"/>
              </a:rPr>
              <a:t>Aprendizaje de producto</a:t>
            </a:r>
            <a:endParaRPr lang="en-US" sz="1800" dirty="0"/>
          </a:p>
        </p:txBody>
      </p:sp>
      <p:sp>
        <p:nvSpPr>
          <p:cNvPr id="17" name="Shape 15"/>
          <p:cNvSpPr/>
          <p:nvPr/>
        </p:nvSpPr>
        <p:spPr>
          <a:xfrm>
            <a:off x="594360" y="3017520"/>
            <a:ext cx="2613584" cy="1691640"/>
          </a:xfrm>
          <a:prstGeom prst="roundRect">
            <a:avLst>
              <a:gd name="adj" fmla="val 4324"/>
            </a:avLst>
          </a:prstGeom>
          <a:solidFill>
            <a:srgbClr val="FFFFFF"/>
          </a:solidFill>
          <a:ln w="9525">
            <a:solidFill>
              <a:srgbClr val="D8D2C4"/>
            </a:solidFill>
            <a:prstDash val="solid"/>
          </a:ln>
        </p:spPr>
      </p:sp>
      <p:sp>
        <p:nvSpPr>
          <p:cNvPr id="18" name="Shape 16"/>
          <p:cNvSpPr/>
          <p:nvPr/>
        </p:nvSpPr>
        <p:spPr>
          <a:xfrm>
            <a:off x="795528" y="3227832"/>
            <a:ext cx="91440" cy="91440"/>
          </a:xfrm>
          <a:prstGeom prst="ellipse">
            <a:avLst/>
          </a:prstGeom>
          <a:solidFill>
            <a:srgbClr val="5BC0BE"/>
          </a:solidFill>
          <a:ln w="12700">
            <a:solidFill>
              <a:srgbClr val="5BC0BE"/>
            </a:solidFill>
            <a:prstDash val="solid"/>
          </a:ln>
        </p:spPr>
      </p:sp>
      <p:sp>
        <p:nvSpPr>
          <p:cNvPr id="19" name="Text 17"/>
          <p:cNvSpPr txBox="1"/>
          <p:nvPr/>
        </p:nvSpPr>
        <p:spPr>
          <a:xfrm>
            <a:off x="1005840" y="3118104"/>
            <a:ext cx="2064944" cy="310896"/>
          </a:xfrm>
          <a:prstGeom prst="rect">
            <a:avLst/>
          </a:prstGeom>
          <a:noFill/>
          <a:ln/>
        </p:spPr>
        <p:txBody>
          <a:bodyPr wrap="square" lIns="0" tIns="0" rIns="0" bIns="0" rtlCol="0" anchor="ctr"/>
          <a:lstStyle/>
          <a:p>
            <a:pPr indent="0" marL="0">
              <a:buNone/>
            </a:pPr>
            <a:r>
              <a:rPr lang="en-US" sz="1200" dirty="0">
                <a:solidFill>
                  <a:srgbClr val="0B132B"/>
                </a:solidFill>
                <a:latin typeface="Arial" pitchFamily="34" charset="0"/>
                <a:ea typeface="Arial" pitchFamily="34" charset="-122"/>
                <a:cs typeface="Arial" pitchFamily="34" charset="-120"/>
              </a:rPr>
              <a:t>App B2C</a:t>
            </a:r>
            <a:endParaRPr lang="en-US" sz="1200" dirty="0"/>
          </a:p>
        </p:txBody>
      </p:sp>
      <p:sp>
        <p:nvSpPr>
          <p:cNvPr id="20" name="Shape 18"/>
          <p:cNvSpPr/>
          <p:nvPr/>
        </p:nvSpPr>
        <p:spPr>
          <a:xfrm>
            <a:off x="795528" y="3593592"/>
            <a:ext cx="91440" cy="91440"/>
          </a:xfrm>
          <a:prstGeom prst="ellipse">
            <a:avLst/>
          </a:prstGeom>
          <a:solidFill>
            <a:srgbClr val="5BC0BE"/>
          </a:solidFill>
          <a:ln w="12700">
            <a:solidFill>
              <a:srgbClr val="5BC0BE"/>
            </a:solidFill>
            <a:prstDash val="solid"/>
          </a:ln>
        </p:spPr>
      </p:sp>
      <p:sp>
        <p:nvSpPr>
          <p:cNvPr id="21" name="Text 19"/>
          <p:cNvSpPr txBox="1"/>
          <p:nvPr/>
        </p:nvSpPr>
        <p:spPr>
          <a:xfrm>
            <a:off x="1005840" y="3483864"/>
            <a:ext cx="2064944" cy="310896"/>
          </a:xfrm>
          <a:prstGeom prst="rect">
            <a:avLst/>
          </a:prstGeom>
          <a:noFill/>
          <a:ln/>
        </p:spPr>
        <p:txBody>
          <a:bodyPr wrap="square" lIns="0" tIns="0" rIns="0" bIns="0" rtlCol="0" anchor="ctr"/>
          <a:lstStyle/>
          <a:p>
            <a:pPr indent="0" marL="0">
              <a:buNone/>
            </a:pPr>
            <a:r>
              <a:rPr lang="en-US" sz="1200" dirty="0">
                <a:solidFill>
                  <a:srgbClr val="0B132B"/>
                </a:solidFill>
                <a:latin typeface="Arial" pitchFamily="34" charset="0"/>
                <a:ea typeface="Arial" pitchFamily="34" charset="-122"/>
                <a:cs typeface="Arial" pitchFamily="34" charset="-120"/>
              </a:rPr>
              <a:t>Validar valor para el usuario</a:t>
            </a:r>
            <a:endParaRPr lang="en-US" sz="1200" dirty="0"/>
          </a:p>
        </p:txBody>
      </p:sp>
      <p:sp>
        <p:nvSpPr>
          <p:cNvPr id="22" name="Shape 20"/>
          <p:cNvSpPr/>
          <p:nvPr/>
        </p:nvSpPr>
        <p:spPr>
          <a:xfrm>
            <a:off x="795528" y="3959352"/>
            <a:ext cx="91440" cy="91440"/>
          </a:xfrm>
          <a:prstGeom prst="ellipse">
            <a:avLst/>
          </a:prstGeom>
          <a:solidFill>
            <a:srgbClr val="5BC0BE"/>
          </a:solidFill>
          <a:ln w="12700">
            <a:solidFill>
              <a:srgbClr val="5BC0BE"/>
            </a:solidFill>
            <a:prstDash val="solid"/>
          </a:ln>
        </p:spPr>
      </p:sp>
      <p:sp>
        <p:nvSpPr>
          <p:cNvPr id="23" name="Text 21"/>
          <p:cNvSpPr txBox="1"/>
          <p:nvPr/>
        </p:nvSpPr>
        <p:spPr>
          <a:xfrm>
            <a:off x="1005840" y="3849624"/>
            <a:ext cx="2064944" cy="310896"/>
          </a:xfrm>
          <a:prstGeom prst="rect">
            <a:avLst/>
          </a:prstGeom>
          <a:noFill/>
          <a:ln/>
        </p:spPr>
        <p:txBody>
          <a:bodyPr wrap="square" lIns="0" tIns="0" rIns="0" bIns="0" rtlCol="0" anchor="ctr"/>
          <a:lstStyle/>
          <a:p>
            <a:pPr indent="0" marL="0">
              <a:buNone/>
            </a:pPr>
            <a:r>
              <a:rPr lang="en-US" sz="1200" dirty="0">
                <a:solidFill>
                  <a:srgbClr val="0B132B"/>
                </a:solidFill>
                <a:latin typeface="Arial" pitchFamily="34" charset="0"/>
                <a:ea typeface="Arial" pitchFamily="34" charset="-122"/>
                <a:cs typeface="Arial" pitchFamily="34" charset="-120"/>
              </a:rPr>
              <a:t>Feedback de preferencias y calidad</a:t>
            </a:r>
            <a:endParaRPr lang="en-US" sz="1200" dirty="0"/>
          </a:p>
        </p:txBody>
      </p:sp>
      <p:sp>
        <p:nvSpPr>
          <p:cNvPr id="24" name="Shape 22"/>
          <p:cNvSpPr/>
          <p:nvPr/>
        </p:nvSpPr>
        <p:spPr>
          <a:xfrm>
            <a:off x="795528" y="4325112"/>
            <a:ext cx="91440" cy="91440"/>
          </a:xfrm>
          <a:prstGeom prst="ellipse">
            <a:avLst/>
          </a:prstGeom>
          <a:solidFill>
            <a:srgbClr val="5BC0BE"/>
          </a:solidFill>
          <a:ln w="12700">
            <a:solidFill>
              <a:srgbClr val="5BC0BE"/>
            </a:solidFill>
            <a:prstDash val="solid"/>
          </a:ln>
        </p:spPr>
      </p:sp>
      <p:sp>
        <p:nvSpPr>
          <p:cNvPr id="25" name="Text 23"/>
          <p:cNvSpPr txBox="1"/>
          <p:nvPr/>
        </p:nvSpPr>
        <p:spPr>
          <a:xfrm>
            <a:off x="1005840" y="4215384"/>
            <a:ext cx="2064944" cy="310896"/>
          </a:xfrm>
          <a:prstGeom prst="rect">
            <a:avLst/>
          </a:prstGeom>
          <a:noFill/>
          <a:ln/>
        </p:spPr>
        <p:txBody>
          <a:bodyPr wrap="square" lIns="0" tIns="0" rIns="0" bIns="0" rtlCol="0" anchor="ctr"/>
          <a:lstStyle/>
          <a:p>
            <a:pPr indent="0" marL="0">
              <a:buNone/>
            </a:pPr>
            <a:r>
              <a:rPr lang="en-US" sz="1200" dirty="0">
                <a:solidFill>
                  <a:srgbClr val="0B132B"/>
                </a:solidFill>
                <a:latin typeface="Arial" pitchFamily="34" charset="0"/>
                <a:ea typeface="Arial" pitchFamily="34" charset="-122"/>
                <a:cs typeface="Arial" pitchFamily="34" charset="-120"/>
              </a:rPr>
              <a:t>Fortalecer el catálogo</a:t>
            </a:r>
            <a:endParaRPr lang="en-US" sz="1200" dirty="0"/>
          </a:p>
        </p:txBody>
      </p:sp>
      <p:sp>
        <p:nvSpPr>
          <p:cNvPr id="26" name="Text 24"/>
          <p:cNvSpPr txBox="1"/>
          <p:nvPr/>
        </p:nvSpPr>
        <p:spPr>
          <a:xfrm>
            <a:off x="594360" y="4800600"/>
            <a:ext cx="2613584" cy="685800"/>
          </a:xfrm>
          <a:prstGeom prst="rect">
            <a:avLst/>
          </a:prstGeom>
          <a:noFill/>
          <a:ln/>
        </p:spPr>
        <p:txBody>
          <a:bodyPr wrap="square" lIns="0" tIns="0" rIns="0" bIns="0" rtlCol="0" anchor="t"/>
          <a:lstStyle/>
          <a:p>
            <a:pPr indent="0" marL="0">
              <a:buNone/>
            </a:pPr>
            <a:r>
              <a:rPr lang="en-US" sz="1150" i="1" dirty="0">
                <a:solidFill>
                  <a:srgbClr val="3D4659"/>
                </a:solidFill>
                <a:latin typeface="Arial" pitchFamily="34" charset="0"/>
                <a:ea typeface="Arial" pitchFamily="34" charset="-122"/>
                <a:cs typeface="Arial" pitchFamily="34" charset="-120"/>
              </a:rPr>
              <a:t>Monetización: reservas / afiliación donde sea natural</a:t>
            </a:r>
            <a:endParaRPr lang="en-US" sz="1150" dirty="0"/>
          </a:p>
        </p:txBody>
      </p:sp>
      <p:sp>
        <p:nvSpPr>
          <p:cNvPr id="27" name="Shape 25"/>
          <p:cNvSpPr/>
          <p:nvPr/>
        </p:nvSpPr>
        <p:spPr>
          <a:xfrm>
            <a:off x="3390824" y="1783080"/>
            <a:ext cx="2705024" cy="502920"/>
          </a:xfrm>
          <a:prstGeom prst="chevron">
            <a:avLst/>
          </a:prstGeom>
          <a:solidFill>
            <a:srgbClr val="0B132B"/>
          </a:solidFill>
          <a:ln w="12700">
            <a:solidFill>
              <a:srgbClr val="0B132B"/>
            </a:solidFill>
            <a:prstDash val="solid"/>
          </a:ln>
        </p:spPr>
      </p:sp>
      <p:sp>
        <p:nvSpPr>
          <p:cNvPr id="28" name="Text 26"/>
          <p:cNvSpPr txBox="1"/>
          <p:nvPr/>
        </p:nvSpPr>
        <p:spPr>
          <a:xfrm>
            <a:off x="3710864" y="1783080"/>
            <a:ext cx="2156384" cy="502920"/>
          </a:xfrm>
          <a:prstGeom prst="rect">
            <a:avLst/>
          </a:prstGeom>
          <a:noFill/>
          <a:ln/>
        </p:spPr>
        <p:txBody>
          <a:bodyPr wrap="square" lIns="0" tIns="0" rIns="0" bIns="0" rtlCol="0" anchor="ctr"/>
          <a:lstStyle/>
          <a:p>
            <a:pPr indent="0" marL="0">
              <a:buNone/>
            </a:pPr>
            <a:r>
              <a:rPr lang="en-US" sz="1200" b="1" spc="200" kern="0" dirty="0">
                <a:solidFill>
                  <a:srgbClr val="5BC0BE"/>
                </a:solidFill>
                <a:latin typeface="Arial" pitchFamily="34" charset="0"/>
                <a:ea typeface="Arial" pitchFamily="34" charset="-122"/>
                <a:cs typeface="Arial" pitchFamily="34" charset="-120"/>
              </a:rPr>
              <a:t>FASE 2</a:t>
            </a:r>
            <a:endParaRPr lang="en-US" sz="1200" dirty="0"/>
          </a:p>
        </p:txBody>
      </p:sp>
      <p:sp>
        <p:nvSpPr>
          <p:cNvPr id="29" name="Text 27"/>
          <p:cNvSpPr txBox="1"/>
          <p:nvPr/>
        </p:nvSpPr>
        <p:spPr>
          <a:xfrm>
            <a:off x="3390824" y="2468880"/>
            <a:ext cx="2613584" cy="457200"/>
          </a:xfrm>
          <a:prstGeom prst="rect">
            <a:avLst/>
          </a:prstGeom>
          <a:noFill/>
          <a:ln/>
        </p:spPr>
        <p:txBody>
          <a:bodyPr wrap="square" lIns="0" tIns="0" rIns="0" bIns="0" rtlCol="0" anchor="t"/>
          <a:lstStyle/>
          <a:p>
            <a:pPr indent="0" marL="0">
              <a:buNone/>
            </a:pPr>
            <a:r>
              <a:rPr lang="en-US" sz="1800" b="1" dirty="0">
                <a:solidFill>
                  <a:srgbClr val="0B132B"/>
                </a:solidFill>
                <a:latin typeface="Arial" pitchFamily="34" charset="0"/>
                <a:ea typeface="Arial" pitchFamily="34" charset="-122"/>
                <a:cs typeface="Arial" pitchFamily="34" charset="-120"/>
              </a:rPr>
              <a:t>Monetizar el motor</a:t>
            </a:r>
            <a:endParaRPr lang="en-US" sz="1800" dirty="0"/>
          </a:p>
        </p:txBody>
      </p:sp>
      <p:sp>
        <p:nvSpPr>
          <p:cNvPr id="30" name="Shape 28"/>
          <p:cNvSpPr/>
          <p:nvPr/>
        </p:nvSpPr>
        <p:spPr>
          <a:xfrm>
            <a:off x="3390824" y="3017520"/>
            <a:ext cx="2613584" cy="1691640"/>
          </a:xfrm>
          <a:prstGeom prst="roundRect">
            <a:avLst>
              <a:gd name="adj" fmla="val 4324"/>
            </a:avLst>
          </a:prstGeom>
          <a:solidFill>
            <a:srgbClr val="FFFFFF"/>
          </a:solidFill>
          <a:ln w="9525">
            <a:solidFill>
              <a:srgbClr val="D8D2C4"/>
            </a:solidFill>
            <a:prstDash val="solid"/>
          </a:ln>
        </p:spPr>
      </p:sp>
      <p:sp>
        <p:nvSpPr>
          <p:cNvPr id="31" name="Shape 29"/>
          <p:cNvSpPr/>
          <p:nvPr/>
        </p:nvSpPr>
        <p:spPr>
          <a:xfrm>
            <a:off x="3591992" y="3227832"/>
            <a:ext cx="91440" cy="91440"/>
          </a:xfrm>
          <a:prstGeom prst="ellipse">
            <a:avLst/>
          </a:prstGeom>
          <a:solidFill>
            <a:srgbClr val="5BC0BE"/>
          </a:solidFill>
          <a:ln w="12700">
            <a:solidFill>
              <a:srgbClr val="5BC0BE"/>
            </a:solidFill>
            <a:prstDash val="solid"/>
          </a:ln>
        </p:spPr>
      </p:sp>
      <p:sp>
        <p:nvSpPr>
          <p:cNvPr id="32" name="Text 30"/>
          <p:cNvSpPr txBox="1"/>
          <p:nvPr/>
        </p:nvSpPr>
        <p:spPr>
          <a:xfrm>
            <a:off x="3802304" y="3118104"/>
            <a:ext cx="2064944" cy="310896"/>
          </a:xfrm>
          <a:prstGeom prst="rect">
            <a:avLst/>
          </a:prstGeom>
          <a:noFill/>
          <a:ln/>
        </p:spPr>
        <p:txBody>
          <a:bodyPr wrap="square" lIns="0" tIns="0" rIns="0" bIns="0" rtlCol="0" anchor="ctr"/>
          <a:lstStyle/>
          <a:p>
            <a:pPr indent="0" marL="0">
              <a:buNone/>
            </a:pPr>
            <a:r>
              <a:rPr lang="en-US" sz="1200" dirty="0">
                <a:solidFill>
                  <a:srgbClr val="0B132B"/>
                </a:solidFill>
                <a:latin typeface="Arial" pitchFamily="34" charset="0"/>
                <a:ea typeface="Arial" pitchFamily="34" charset="-122"/>
                <a:cs typeface="Arial" pitchFamily="34" charset="-120"/>
              </a:rPr>
              <a:t>B2B API</a:t>
            </a:r>
            <a:endParaRPr lang="en-US" sz="1200" dirty="0"/>
          </a:p>
        </p:txBody>
      </p:sp>
      <p:sp>
        <p:nvSpPr>
          <p:cNvPr id="33" name="Shape 31"/>
          <p:cNvSpPr/>
          <p:nvPr/>
        </p:nvSpPr>
        <p:spPr>
          <a:xfrm>
            <a:off x="3591992" y="3593592"/>
            <a:ext cx="91440" cy="91440"/>
          </a:xfrm>
          <a:prstGeom prst="ellipse">
            <a:avLst/>
          </a:prstGeom>
          <a:solidFill>
            <a:srgbClr val="5BC0BE"/>
          </a:solidFill>
          <a:ln w="12700">
            <a:solidFill>
              <a:srgbClr val="5BC0BE"/>
            </a:solidFill>
            <a:prstDash val="solid"/>
          </a:ln>
        </p:spPr>
      </p:sp>
      <p:sp>
        <p:nvSpPr>
          <p:cNvPr id="34" name="Text 32"/>
          <p:cNvSpPr txBox="1"/>
          <p:nvPr/>
        </p:nvSpPr>
        <p:spPr>
          <a:xfrm>
            <a:off x="3802304" y="3483864"/>
            <a:ext cx="2064944" cy="310896"/>
          </a:xfrm>
          <a:prstGeom prst="rect">
            <a:avLst/>
          </a:prstGeom>
          <a:noFill/>
          <a:ln/>
        </p:spPr>
        <p:txBody>
          <a:bodyPr wrap="square" lIns="0" tIns="0" rIns="0" bIns="0" rtlCol="0" anchor="ctr"/>
          <a:lstStyle/>
          <a:p>
            <a:pPr indent="0" marL="0">
              <a:buNone/>
            </a:pPr>
            <a:r>
              <a:rPr lang="en-US" sz="1200" dirty="0">
                <a:solidFill>
                  <a:srgbClr val="0B132B"/>
                </a:solidFill>
                <a:latin typeface="Arial" pitchFamily="34" charset="0"/>
                <a:ea typeface="Arial" pitchFamily="34" charset="-122"/>
                <a:cs typeface="Arial" pitchFamily="34" charset="-120"/>
              </a:rPr>
              <a:t>Pilotos white-label selectivos</a:t>
            </a:r>
            <a:endParaRPr lang="en-US" sz="1200" dirty="0"/>
          </a:p>
        </p:txBody>
      </p:sp>
      <p:sp>
        <p:nvSpPr>
          <p:cNvPr id="35" name="Shape 33"/>
          <p:cNvSpPr/>
          <p:nvPr/>
        </p:nvSpPr>
        <p:spPr>
          <a:xfrm>
            <a:off x="3591992" y="3959352"/>
            <a:ext cx="91440" cy="91440"/>
          </a:xfrm>
          <a:prstGeom prst="ellipse">
            <a:avLst/>
          </a:prstGeom>
          <a:solidFill>
            <a:srgbClr val="5BC0BE"/>
          </a:solidFill>
          <a:ln w="12700">
            <a:solidFill>
              <a:srgbClr val="5BC0BE"/>
            </a:solidFill>
            <a:prstDash val="solid"/>
          </a:ln>
        </p:spPr>
      </p:sp>
      <p:sp>
        <p:nvSpPr>
          <p:cNvPr id="36" name="Text 34"/>
          <p:cNvSpPr txBox="1"/>
          <p:nvPr/>
        </p:nvSpPr>
        <p:spPr>
          <a:xfrm>
            <a:off x="3802304" y="3849624"/>
            <a:ext cx="2064944" cy="310896"/>
          </a:xfrm>
          <a:prstGeom prst="rect">
            <a:avLst/>
          </a:prstGeom>
          <a:noFill/>
          <a:ln/>
        </p:spPr>
        <p:txBody>
          <a:bodyPr wrap="square" lIns="0" tIns="0" rIns="0" bIns="0" rtlCol="0" anchor="ctr"/>
          <a:lstStyle/>
          <a:p>
            <a:pPr indent="0" marL="0">
              <a:buNone/>
            </a:pPr>
            <a:r>
              <a:rPr lang="en-US" sz="1200" dirty="0">
                <a:solidFill>
                  <a:srgbClr val="0B132B"/>
                </a:solidFill>
                <a:latin typeface="Arial" pitchFamily="34" charset="0"/>
                <a:ea typeface="Arial" pitchFamily="34" charset="-122"/>
                <a:cs typeface="Arial" pitchFamily="34" charset="-120"/>
              </a:rPr>
              <a:t>1–3 clientes piloto acotados</a:t>
            </a:r>
            <a:endParaRPr lang="en-US" sz="1200" dirty="0"/>
          </a:p>
        </p:txBody>
      </p:sp>
      <p:sp>
        <p:nvSpPr>
          <p:cNvPr id="37" name="Text 35"/>
          <p:cNvSpPr txBox="1"/>
          <p:nvPr/>
        </p:nvSpPr>
        <p:spPr>
          <a:xfrm>
            <a:off x="3390824" y="4800600"/>
            <a:ext cx="2613584" cy="685800"/>
          </a:xfrm>
          <a:prstGeom prst="rect">
            <a:avLst/>
          </a:prstGeom>
          <a:noFill/>
          <a:ln/>
        </p:spPr>
        <p:txBody>
          <a:bodyPr wrap="square" lIns="0" tIns="0" rIns="0" bIns="0" rtlCol="0" anchor="t"/>
          <a:lstStyle/>
          <a:p>
            <a:pPr indent="0" marL="0">
              <a:buNone/>
            </a:pPr>
            <a:r>
              <a:rPr lang="en-US" sz="1150" i="1" dirty="0">
                <a:solidFill>
                  <a:srgbClr val="3D4659"/>
                </a:solidFill>
                <a:latin typeface="Arial" pitchFamily="34" charset="0"/>
                <a:ea typeface="Arial" pitchFamily="34" charset="-122"/>
                <a:cs typeface="Arial" pitchFamily="34" charset="-120"/>
              </a:rPr>
              <a:t>Reusa el motor, depende menos de captar consumidores y prueba disposición a pagar</a:t>
            </a:r>
            <a:endParaRPr lang="en-US" sz="1150" dirty="0"/>
          </a:p>
        </p:txBody>
      </p:sp>
      <p:sp>
        <p:nvSpPr>
          <p:cNvPr id="38" name="Shape 36"/>
          <p:cNvSpPr/>
          <p:nvPr/>
        </p:nvSpPr>
        <p:spPr>
          <a:xfrm>
            <a:off x="6187288" y="1783080"/>
            <a:ext cx="2705024" cy="502920"/>
          </a:xfrm>
          <a:prstGeom prst="chevron">
            <a:avLst/>
          </a:prstGeom>
          <a:solidFill>
            <a:srgbClr val="0B132B"/>
          </a:solidFill>
          <a:ln w="12700">
            <a:solidFill>
              <a:srgbClr val="0B132B"/>
            </a:solidFill>
            <a:prstDash val="solid"/>
          </a:ln>
        </p:spPr>
      </p:sp>
      <p:sp>
        <p:nvSpPr>
          <p:cNvPr id="39" name="Text 37"/>
          <p:cNvSpPr txBox="1"/>
          <p:nvPr/>
        </p:nvSpPr>
        <p:spPr>
          <a:xfrm>
            <a:off x="6507328" y="1783080"/>
            <a:ext cx="2156384" cy="502920"/>
          </a:xfrm>
          <a:prstGeom prst="rect">
            <a:avLst/>
          </a:prstGeom>
          <a:noFill/>
          <a:ln/>
        </p:spPr>
        <p:txBody>
          <a:bodyPr wrap="square" lIns="0" tIns="0" rIns="0" bIns="0" rtlCol="0" anchor="ctr"/>
          <a:lstStyle/>
          <a:p>
            <a:pPr indent="0" marL="0">
              <a:buNone/>
            </a:pPr>
            <a:r>
              <a:rPr lang="en-US" sz="1200" b="1" spc="200" kern="0" dirty="0">
                <a:solidFill>
                  <a:srgbClr val="5BC0BE"/>
                </a:solidFill>
                <a:latin typeface="Arial" pitchFamily="34" charset="0"/>
                <a:ea typeface="Arial" pitchFamily="34" charset="-122"/>
                <a:cs typeface="Arial" pitchFamily="34" charset="-120"/>
              </a:rPr>
              <a:t>FASE 3</a:t>
            </a:r>
            <a:endParaRPr lang="en-US" sz="1200" dirty="0"/>
          </a:p>
        </p:txBody>
      </p:sp>
      <p:sp>
        <p:nvSpPr>
          <p:cNvPr id="40" name="Text 38"/>
          <p:cNvSpPr txBox="1"/>
          <p:nvPr/>
        </p:nvSpPr>
        <p:spPr>
          <a:xfrm>
            <a:off x="6187288" y="2468880"/>
            <a:ext cx="2613584" cy="457200"/>
          </a:xfrm>
          <a:prstGeom prst="rect">
            <a:avLst/>
          </a:prstGeom>
          <a:noFill/>
          <a:ln/>
        </p:spPr>
        <p:txBody>
          <a:bodyPr wrap="square" lIns="0" tIns="0" rIns="0" bIns="0" rtlCol="0" anchor="t"/>
          <a:lstStyle/>
          <a:p>
            <a:pPr indent="0" marL="0">
              <a:buNone/>
            </a:pPr>
            <a:r>
              <a:rPr lang="en-US" sz="1800" b="1" dirty="0">
                <a:solidFill>
                  <a:srgbClr val="0B132B"/>
                </a:solidFill>
                <a:latin typeface="Arial" pitchFamily="34" charset="0"/>
                <a:ea typeface="Arial" pitchFamily="34" charset="-122"/>
                <a:cs typeface="Arial" pitchFamily="34" charset="-120"/>
              </a:rPr>
              <a:t>Capa premium</a:t>
            </a:r>
            <a:endParaRPr lang="en-US" sz="1800" dirty="0"/>
          </a:p>
        </p:txBody>
      </p:sp>
      <p:sp>
        <p:nvSpPr>
          <p:cNvPr id="41" name="Shape 39"/>
          <p:cNvSpPr/>
          <p:nvPr/>
        </p:nvSpPr>
        <p:spPr>
          <a:xfrm>
            <a:off x="6187288" y="3017520"/>
            <a:ext cx="2613584" cy="1691640"/>
          </a:xfrm>
          <a:prstGeom prst="roundRect">
            <a:avLst>
              <a:gd name="adj" fmla="val 4324"/>
            </a:avLst>
          </a:prstGeom>
          <a:solidFill>
            <a:srgbClr val="FFFFFF"/>
          </a:solidFill>
          <a:ln w="9525">
            <a:solidFill>
              <a:srgbClr val="D8D2C4"/>
            </a:solidFill>
            <a:prstDash val="solid"/>
          </a:ln>
        </p:spPr>
      </p:sp>
      <p:sp>
        <p:nvSpPr>
          <p:cNvPr id="42" name="Shape 40"/>
          <p:cNvSpPr/>
          <p:nvPr/>
        </p:nvSpPr>
        <p:spPr>
          <a:xfrm>
            <a:off x="6388456" y="3227832"/>
            <a:ext cx="91440" cy="91440"/>
          </a:xfrm>
          <a:prstGeom prst="ellipse">
            <a:avLst/>
          </a:prstGeom>
          <a:solidFill>
            <a:srgbClr val="5BC0BE"/>
          </a:solidFill>
          <a:ln w="12700">
            <a:solidFill>
              <a:srgbClr val="5BC0BE"/>
            </a:solidFill>
            <a:prstDash val="solid"/>
          </a:ln>
        </p:spPr>
      </p:sp>
      <p:sp>
        <p:nvSpPr>
          <p:cNvPr id="43" name="Text 41"/>
          <p:cNvSpPr txBox="1"/>
          <p:nvPr/>
        </p:nvSpPr>
        <p:spPr>
          <a:xfrm>
            <a:off x="6598768" y="3118104"/>
            <a:ext cx="2064944" cy="310896"/>
          </a:xfrm>
          <a:prstGeom prst="rect">
            <a:avLst/>
          </a:prstGeom>
          <a:noFill/>
          <a:ln/>
        </p:spPr>
        <p:txBody>
          <a:bodyPr wrap="square" lIns="0" tIns="0" rIns="0" bIns="0" rtlCol="0" anchor="ctr"/>
          <a:lstStyle/>
          <a:p>
            <a:pPr indent="0" marL="0">
              <a:buNone/>
            </a:pPr>
            <a:r>
              <a:rPr lang="en-US" sz="1200" dirty="0">
                <a:solidFill>
                  <a:srgbClr val="0B132B"/>
                </a:solidFill>
                <a:latin typeface="Arial" pitchFamily="34" charset="0"/>
                <a:ea typeface="Arial" pitchFamily="34" charset="-122"/>
                <a:cs typeface="Arial" pitchFamily="34" charset="-120"/>
              </a:rPr>
              <a:t>Trip Pass</a:t>
            </a:r>
            <a:endParaRPr lang="en-US" sz="1200" dirty="0"/>
          </a:p>
        </p:txBody>
      </p:sp>
      <p:sp>
        <p:nvSpPr>
          <p:cNvPr id="44" name="Shape 42"/>
          <p:cNvSpPr/>
          <p:nvPr/>
        </p:nvSpPr>
        <p:spPr>
          <a:xfrm>
            <a:off x="6388456" y="3593592"/>
            <a:ext cx="91440" cy="91440"/>
          </a:xfrm>
          <a:prstGeom prst="ellipse">
            <a:avLst/>
          </a:prstGeom>
          <a:solidFill>
            <a:srgbClr val="5BC0BE"/>
          </a:solidFill>
          <a:ln w="12700">
            <a:solidFill>
              <a:srgbClr val="5BC0BE"/>
            </a:solidFill>
            <a:prstDash val="solid"/>
          </a:ln>
        </p:spPr>
      </p:sp>
      <p:sp>
        <p:nvSpPr>
          <p:cNvPr id="45" name="Text 43"/>
          <p:cNvSpPr txBox="1"/>
          <p:nvPr/>
        </p:nvSpPr>
        <p:spPr>
          <a:xfrm>
            <a:off x="6598768" y="3483864"/>
            <a:ext cx="2064944" cy="310896"/>
          </a:xfrm>
          <a:prstGeom prst="rect">
            <a:avLst/>
          </a:prstGeom>
          <a:noFill/>
          <a:ln/>
        </p:spPr>
        <p:txBody>
          <a:bodyPr wrap="square" lIns="0" tIns="0" rIns="0" bIns="0" rtlCol="0" anchor="ctr"/>
          <a:lstStyle/>
          <a:p>
            <a:pPr indent="0" marL="0">
              <a:buNone/>
            </a:pPr>
            <a:r>
              <a:rPr lang="en-US" sz="1200" dirty="0">
                <a:solidFill>
                  <a:srgbClr val="0B132B"/>
                </a:solidFill>
                <a:latin typeface="Arial" pitchFamily="34" charset="0"/>
                <a:ea typeface="Arial" pitchFamily="34" charset="-122"/>
                <a:cs typeface="Arial" pitchFamily="34" charset="-120"/>
              </a:rPr>
              <a:t>Capacidades avanzadas de agente de viaje</a:t>
            </a:r>
            <a:endParaRPr lang="en-US" sz="1200" dirty="0"/>
          </a:p>
        </p:txBody>
      </p:sp>
      <p:sp>
        <p:nvSpPr>
          <p:cNvPr id="46" name="Text 44"/>
          <p:cNvSpPr txBox="1"/>
          <p:nvPr/>
        </p:nvSpPr>
        <p:spPr>
          <a:xfrm>
            <a:off x="6187288" y="4800600"/>
            <a:ext cx="2613584" cy="685800"/>
          </a:xfrm>
          <a:prstGeom prst="rect">
            <a:avLst/>
          </a:prstGeom>
          <a:noFill/>
          <a:ln/>
        </p:spPr>
        <p:txBody>
          <a:bodyPr wrap="square" lIns="0" tIns="0" rIns="0" bIns="0" rtlCol="0" anchor="t"/>
          <a:lstStyle/>
          <a:p>
            <a:pPr indent="0" marL="0">
              <a:buNone/>
            </a:pPr>
            <a:r>
              <a:rPr lang="en-US" sz="1150" i="1" dirty="0">
                <a:solidFill>
                  <a:srgbClr val="3D4659"/>
                </a:solidFill>
                <a:latin typeface="Arial" pitchFamily="34" charset="0"/>
                <a:ea typeface="Arial" pitchFamily="34" charset="-122"/>
                <a:cs typeface="Arial" pitchFamily="34" charset="-120"/>
              </a:rPr>
              <a:t>Cuando haya viajeros con alto engagement</a:t>
            </a:r>
            <a:endParaRPr lang="en-US" sz="1150" dirty="0"/>
          </a:p>
        </p:txBody>
      </p:sp>
      <p:sp>
        <p:nvSpPr>
          <p:cNvPr id="47" name="Shape 45"/>
          <p:cNvSpPr/>
          <p:nvPr/>
        </p:nvSpPr>
        <p:spPr>
          <a:xfrm>
            <a:off x="8983751" y="1783080"/>
            <a:ext cx="2705024" cy="502920"/>
          </a:xfrm>
          <a:prstGeom prst="chevron">
            <a:avLst/>
          </a:prstGeom>
          <a:solidFill>
            <a:srgbClr val="0B132B"/>
          </a:solidFill>
          <a:ln w="12700">
            <a:solidFill>
              <a:srgbClr val="0B132B"/>
            </a:solidFill>
            <a:prstDash val="solid"/>
          </a:ln>
        </p:spPr>
      </p:sp>
      <p:sp>
        <p:nvSpPr>
          <p:cNvPr id="48" name="Text 46"/>
          <p:cNvSpPr txBox="1"/>
          <p:nvPr/>
        </p:nvSpPr>
        <p:spPr>
          <a:xfrm>
            <a:off x="9303791" y="1783080"/>
            <a:ext cx="2156384" cy="502920"/>
          </a:xfrm>
          <a:prstGeom prst="rect">
            <a:avLst/>
          </a:prstGeom>
          <a:noFill/>
          <a:ln/>
        </p:spPr>
        <p:txBody>
          <a:bodyPr wrap="square" lIns="0" tIns="0" rIns="0" bIns="0" rtlCol="0" anchor="ctr"/>
          <a:lstStyle/>
          <a:p>
            <a:pPr indent="0" marL="0">
              <a:buNone/>
            </a:pPr>
            <a:r>
              <a:rPr lang="en-US" sz="1200" b="1" spc="200" kern="0" dirty="0">
                <a:solidFill>
                  <a:srgbClr val="5BC0BE"/>
                </a:solidFill>
                <a:latin typeface="Arial" pitchFamily="34" charset="0"/>
                <a:ea typeface="Arial" pitchFamily="34" charset="-122"/>
                <a:cs typeface="Arial" pitchFamily="34" charset="-120"/>
              </a:rPr>
              <a:t>FASE 4</a:t>
            </a:r>
            <a:endParaRPr lang="en-US" sz="1200" dirty="0"/>
          </a:p>
        </p:txBody>
      </p:sp>
      <p:sp>
        <p:nvSpPr>
          <p:cNvPr id="49" name="Text 47"/>
          <p:cNvSpPr txBox="1"/>
          <p:nvPr/>
        </p:nvSpPr>
        <p:spPr>
          <a:xfrm>
            <a:off x="8983751" y="2468880"/>
            <a:ext cx="2613584" cy="457200"/>
          </a:xfrm>
          <a:prstGeom prst="rect">
            <a:avLst/>
          </a:prstGeom>
          <a:noFill/>
          <a:ln/>
        </p:spPr>
        <p:txBody>
          <a:bodyPr wrap="square" lIns="0" tIns="0" rIns="0" bIns="0" rtlCol="0" anchor="t"/>
          <a:lstStyle/>
          <a:p>
            <a:pPr indent="0" marL="0">
              <a:buNone/>
            </a:pPr>
            <a:r>
              <a:rPr lang="en-US" sz="1800" b="1" dirty="0">
                <a:solidFill>
                  <a:srgbClr val="0B132B"/>
                </a:solidFill>
                <a:latin typeface="Arial" pitchFamily="34" charset="0"/>
                <a:ea typeface="Arial" pitchFamily="34" charset="-122"/>
                <a:cs typeface="Arial" pitchFamily="34" charset="-120"/>
              </a:rPr>
              <a:t>Marketplace</a:t>
            </a:r>
            <a:endParaRPr lang="en-US" sz="1800" dirty="0"/>
          </a:p>
        </p:txBody>
      </p:sp>
      <p:sp>
        <p:nvSpPr>
          <p:cNvPr id="50" name="Shape 48"/>
          <p:cNvSpPr/>
          <p:nvPr/>
        </p:nvSpPr>
        <p:spPr>
          <a:xfrm>
            <a:off x="8983751" y="3017520"/>
            <a:ext cx="2613584" cy="1691640"/>
          </a:xfrm>
          <a:prstGeom prst="roundRect">
            <a:avLst>
              <a:gd name="adj" fmla="val 4324"/>
            </a:avLst>
          </a:prstGeom>
          <a:solidFill>
            <a:srgbClr val="FFFFFF"/>
          </a:solidFill>
          <a:ln w="9525">
            <a:solidFill>
              <a:srgbClr val="D8D2C4"/>
            </a:solidFill>
            <a:prstDash val="solid"/>
          </a:ln>
        </p:spPr>
      </p:sp>
      <p:sp>
        <p:nvSpPr>
          <p:cNvPr id="51" name="Shape 49"/>
          <p:cNvSpPr/>
          <p:nvPr/>
        </p:nvSpPr>
        <p:spPr>
          <a:xfrm>
            <a:off x="9184919" y="3227832"/>
            <a:ext cx="91440" cy="91440"/>
          </a:xfrm>
          <a:prstGeom prst="ellipse">
            <a:avLst/>
          </a:prstGeom>
          <a:solidFill>
            <a:srgbClr val="5BC0BE"/>
          </a:solidFill>
          <a:ln w="12700">
            <a:solidFill>
              <a:srgbClr val="5BC0BE"/>
            </a:solidFill>
            <a:prstDash val="solid"/>
          </a:ln>
        </p:spPr>
      </p:sp>
      <p:sp>
        <p:nvSpPr>
          <p:cNvPr id="52" name="Text 50"/>
          <p:cNvSpPr txBox="1"/>
          <p:nvPr/>
        </p:nvSpPr>
        <p:spPr>
          <a:xfrm>
            <a:off x="9395231" y="3118104"/>
            <a:ext cx="2064944" cy="310896"/>
          </a:xfrm>
          <a:prstGeom prst="rect">
            <a:avLst/>
          </a:prstGeom>
          <a:noFill/>
          <a:ln/>
        </p:spPr>
        <p:txBody>
          <a:bodyPr wrap="square" lIns="0" tIns="0" rIns="0" bIns="0" rtlCol="0" anchor="ctr"/>
          <a:lstStyle/>
          <a:p>
            <a:pPr indent="0" marL="0">
              <a:buNone/>
            </a:pPr>
            <a:r>
              <a:rPr lang="en-US" sz="1200" dirty="0">
                <a:solidFill>
                  <a:srgbClr val="0B132B"/>
                </a:solidFill>
                <a:latin typeface="Arial" pitchFamily="34" charset="0"/>
                <a:ea typeface="Arial" pitchFamily="34" charset="-122"/>
                <a:cs typeface="Arial" pitchFamily="34" charset="-120"/>
              </a:rPr>
              <a:t>Guías, operadores, entradas</a:t>
            </a:r>
            <a:endParaRPr lang="en-US" sz="1200" dirty="0"/>
          </a:p>
        </p:txBody>
      </p:sp>
      <p:sp>
        <p:nvSpPr>
          <p:cNvPr id="53" name="Text 51"/>
          <p:cNvSpPr txBox="1"/>
          <p:nvPr/>
        </p:nvSpPr>
        <p:spPr>
          <a:xfrm>
            <a:off x="8983751" y="4800600"/>
            <a:ext cx="2613584" cy="685800"/>
          </a:xfrm>
          <a:prstGeom prst="rect">
            <a:avLst/>
          </a:prstGeom>
          <a:noFill/>
          <a:ln/>
        </p:spPr>
        <p:txBody>
          <a:bodyPr wrap="square" lIns="0" tIns="0" rIns="0" bIns="0" rtlCol="0" anchor="t"/>
          <a:lstStyle/>
          <a:p>
            <a:pPr indent="0" marL="0">
              <a:buNone/>
            </a:pPr>
            <a:r>
              <a:rPr lang="en-US" sz="1150" i="1" dirty="0">
                <a:solidFill>
                  <a:srgbClr val="3D4659"/>
                </a:solidFill>
                <a:latin typeface="Arial" pitchFamily="34" charset="0"/>
                <a:ea typeface="Arial" pitchFamily="34" charset="-122"/>
                <a:cs typeface="Arial" pitchFamily="34" charset="-120"/>
              </a:rPr>
              <a:t>Solo con demanda repetible y calidad de oferta suficiente</a:t>
            </a:r>
            <a:endParaRPr lang="en-US" sz="1150" dirty="0"/>
          </a:p>
        </p:txBody>
      </p:sp>
      <p:sp>
        <p:nvSpPr>
          <p:cNvPr id="54" name="Shape 52"/>
          <p:cNvSpPr/>
          <p:nvPr/>
        </p:nvSpPr>
        <p:spPr>
          <a:xfrm>
            <a:off x="594360" y="5532120"/>
            <a:ext cx="11002975" cy="658368"/>
          </a:xfrm>
          <a:prstGeom prst="roundRect">
            <a:avLst>
              <a:gd name="adj" fmla="val 11111"/>
            </a:avLst>
          </a:prstGeom>
          <a:solidFill>
            <a:srgbClr val="DDE4EE"/>
          </a:solidFill>
          <a:ln w="9525">
            <a:solidFill>
              <a:srgbClr val="DDE4EE"/>
            </a:solidFill>
            <a:prstDash val="solid"/>
          </a:ln>
        </p:spPr>
      </p:sp>
      <p:sp>
        <p:nvSpPr>
          <p:cNvPr id="55" name="Text 53"/>
          <p:cNvSpPr txBox="1"/>
          <p:nvPr/>
        </p:nvSpPr>
        <p:spPr>
          <a:xfrm>
            <a:off x="822960" y="5532120"/>
            <a:ext cx="10545775" cy="658368"/>
          </a:xfrm>
          <a:prstGeom prst="rect">
            <a:avLst/>
          </a:prstGeom>
          <a:noFill/>
          <a:ln/>
        </p:spPr>
        <p:txBody>
          <a:bodyPr wrap="square" lIns="0" tIns="0" rIns="0" bIns="0" rtlCol="0" anchor="ctr"/>
          <a:lstStyle/>
          <a:p>
            <a:pPr indent="0" marL="0">
              <a:buNone/>
            </a:pPr>
            <a:r>
              <a:rPr lang="en-US" sz="1200" dirty="0">
                <a:solidFill>
                  <a:srgbClr val="3A506B"/>
                </a:solidFill>
                <a:latin typeface="Arial" pitchFamily="34" charset="0"/>
                <a:ea typeface="Arial" pitchFamily="34" charset="-122"/>
                <a:cs typeface="Arial" pitchFamily="34" charset="-120"/>
              </a:rPr>
              <a:t>Secuencia, no elección permanente. Condición previa: que el motor demuestre buena calidad, que es justamente el trabajo de los Horizontes 1 y 2 del roadmap.</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B132B"/>
        </a:solidFill>
      </p:bgPr>
    </p:bg>
    <p:spTree>
      <p:nvGrpSpPr>
        <p:cNvPr id="1" name=""/>
        <p:cNvGrpSpPr/>
        <p:nvPr/>
      </p:nvGrpSpPr>
      <p:grpSpPr>
        <a:xfrm>
          <a:off x="0" y="0"/>
          <a:ext cx="0" cy="0"/>
          <a:chOff x="0" y="0"/>
          <a:chExt cx="0" cy="0"/>
        </a:xfrm>
      </p:grpSpPr>
      <p:sp>
        <p:nvSpPr>
          <p:cNvPr id="2" name="Shape 0"/>
          <p:cNvSpPr/>
          <p:nvPr/>
        </p:nvSpPr>
        <p:spPr>
          <a:xfrm flipV="1">
            <a:off x="594360" y="384048"/>
            <a:ext cx="120701" cy="98755"/>
          </a:xfrm>
          <a:prstGeom prst="line">
            <a:avLst/>
          </a:prstGeom>
          <a:noFill/>
          <a:ln w="22225">
            <a:solidFill>
              <a:srgbClr val="5BC0BE"/>
            </a:solidFill>
            <a:prstDash val="solid"/>
          </a:ln>
        </p:spPr>
      </p:sp>
      <p:sp>
        <p:nvSpPr>
          <p:cNvPr id="3" name="Shape 1"/>
          <p:cNvSpPr/>
          <p:nvPr/>
        </p:nvSpPr>
        <p:spPr>
          <a:xfrm>
            <a:off x="715061" y="384048"/>
            <a:ext cx="120701" cy="98755"/>
          </a:xfrm>
          <a:prstGeom prst="line">
            <a:avLst/>
          </a:prstGeom>
          <a:noFill/>
          <a:ln w="22225">
            <a:solidFill>
              <a:srgbClr val="5BC0BE"/>
            </a:solidFill>
            <a:prstDash val="solid"/>
          </a:ln>
        </p:spPr>
      </p:sp>
      <p:sp>
        <p:nvSpPr>
          <p:cNvPr id="4" name="Shape 2"/>
          <p:cNvSpPr/>
          <p:nvPr/>
        </p:nvSpPr>
        <p:spPr>
          <a:xfrm flipV="1">
            <a:off x="835762" y="384048"/>
            <a:ext cx="120701" cy="98755"/>
          </a:xfrm>
          <a:prstGeom prst="line">
            <a:avLst/>
          </a:prstGeom>
          <a:noFill/>
          <a:ln w="22225">
            <a:solidFill>
              <a:srgbClr val="5BC0BE"/>
            </a:solidFill>
            <a:prstDash val="solid"/>
          </a:ln>
        </p:spPr>
      </p:sp>
      <p:sp>
        <p:nvSpPr>
          <p:cNvPr id="5" name="Shape 3"/>
          <p:cNvSpPr/>
          <p:nvPr/>
        </p:nvSpPr>
        <p:spPr>
          <a:xfrm>
            <a:off x="566928" y="455371"/>
            <a:ext cx="54864" cy="54864"/>
          </a:xfrm>
          <a:prstGeom prst="ellipse">
            <a:avLst/>
          </a:prstGeom>
          <a:solidFill>
            <a:srgbClr val="5BC0BE"/>
          </a:solidFill>
          <a:ln w="12700">
            <a:solidFill>
              <a:srgbClr val="5BC0BE"/>
            </a:solidFill>
            <a:prstDash val="solid"/>
          </a:ln>
        </p:spPr>
      </p:sp>
      <p:sp>
        <p:nvSpPr>
          <p:cNvPr id="6" name="Shape 4"/>
          <p:cNvSpPr/>
          <p:nvPr/>
        </p:nvSpPr>
        <p:spPr>
          <a:xfrm>
            <a:off x="687629" y="356616"/>
            <a:ext cx="54864" cy="54864"/>
          </a:xfrm>
          <a:prstGeom prst="ellipse">
            <a:avLst/>
          </a:prstGeom>
          <a:solidFill>
            <a:srgbClr val="5BC0BE"/>
          </a:solidFill>
          <a:ln w="12700">
            <a:solidFill>
              <a:srgbClr val="5BC0BE"/>
            </a:solidFill>
            <a:prstDash val="solid"/>
          </a:ln>
        </p:spPr>
      </p:sp>
      <p:sp>
        <p:nvSpPr>
          <p:cNvPr id="7" name="Shape 5"/>
          <p:cNvSpPr/>
          <p:nvPr/>
        </p:nvSpPr>
        <p:spPr>
          <a:xfrm>
            <a:off x="808330" y="455371"/>
            <a:ext cx="54864" cy="54864"/>
          </a:xfrm>
          <a:prstGeom prst="ellipse">
            <a:avLst/>
          </a:prstGeom>
          <a:solidFill>
            <a:srgbClr val="5BC0BE"/>
          </a:solidFill>
          <a:ln w="12700">
            <a:solidFill>
              <a:srgbClr val="5BC0BE"/>
            </a:solidFill>
            <a:prstDash val="solid"/>
          </a:ln>
        </p:spPr>
      </p:sp>
      <p:sp>
        <p:nvSpPr>
          <p:cNvPr id="8" name="Shape 6"/>
          <p:cNvSpPr/>
          <p:nvPr/>
        </p:nvSpPr>
        <p:spPr>
          <a:xfrm>
            <a:off x="929030" y="356616"/>
            <a:ext cx="54864" cy="54864"/>
          </a:xfrm>
          <a:prstGeom prst="ellipse">
            <a:avLst/>
          </a:prstGeom>
          <a:solidFill>
            <a:srgbClr val="5BC0BE"/>
          </a:solidFill>
          <a:ln w="12700">
            <a:solidFill>
              <a:srgbClr val="5BC0BE"/>
            </a:solidFill>
            <a:prstDash val="solid"/>
          </a:ln>
        </p:spPr>
      </p:sp>
      <p:sp>
        <p:nvSpPr>
          <p:cNvPr id="9" name="Shape 7"/>
          <p:cNvSpPr/>
          <p:nvPr/>
        </p:nvSpPr>
        <p:spPr>
          <a:xfrm>
            <a:off x="1143000" y="329184"/>
            <a:ext cx="1874520" cy="274320"/>
          </a:xfrm>
          <a:prstGeom prst="roundRect">
            <a:avLst>
              <a:gd name="adj" fmla="val 50000"/>
            </a:avLst>
          </a:prstGeom>
          <a:solidFill>
            <a:srgbClr val="F5E6C4"/>
          </a:solidFill>
          <a:ln w="12700">
            <a:solidFill>
              <a:srgbClr val="F5E6C4"/>
            </a:solidFill>
            <a:prstDash val="solid"/>
          </a:ln>
        </p:spPr>
      </p:sp>
      <p:sp>
        <p:nvSpPr>
          <p:cNvPr id="10" name="Text 8"/>
          <p:cNvSpPr txBox="1"/>
          <p:nvPr/>
        </p:nvSpPr>
        <p:spPr>
          <a:xfrm>
            <a:off x="1143000" y="329184"/>
            <a:ext cx="1874520" cy="274320"/>
          </a:xfrm>
          <a:prstGeom prst="rect">
            <a:avLst/>
          </a:prstGeom>
          <a:noFill/>
          <a:ln/>
        </p:spPr>
        <p:txBody>
          <a:bodyPr wrap="square" lIns="0" tIns="0" rIns="0" bIns="0" rtlCol="0" anchor="ctr"/>
          <a:lstStyle/>
          <a:p>
            <a:pPr algn="ctr" indent="0" marL="0">
              <a:buNone/>
            </a:pPr>
            <a:r>
              <a:rPr lang="en-US" sz="900" b="1" spc="150" kern="0" dirty="0">
                <a:solidFill>
                  <a:srgbClr val="8A5A06"/>
                </a:solidFill>
                <a:latin typeface="Arial" pitchFamily="34" charset="0"/>
                <a:ea typeface="Arial" pitchFamily="34" charset="-122"/>
                <a:cs typeface="Arial" pitchFamily="34" charset="-120"/>
              </a:rPr>
              <a:t>HIPÓTESIS DE NEGOCIO</a:t>
            </a:r>
            <a:endParaRPr lang="en-US" sz="900" dirty="0"/>
          </a:p>
        </p:txBody>
      </p:sp>
      <p:sp>
        <p:nvSpPr>
          <p:cNvPr id="11" name="Text 9"/>
          <p:cNvSpPr txBox="1"/>
          <p:nvPr/>
        </p:nvSpPr>
        <p:spPr>
          <a:xfrm>
            <a:off x="594360" y="777240"/>
            <a:ext cx="11002975" cy="731520"/>
          </a:xfrm>
          <a:prstGeom prst="rect">
            <a:avLst/>
          </a:prstGeom>
          <a:noFill/>
          <a:ln/>
        </p:spPr>
        <p:txBody>
          <a:bodyPr wrap="square" lIns="0" tIns="0" rIns="0" bIns="0" rtlCol="0" anchor="t"/>
          <a:lstStyle/>
          <a:p>
            <a:pPr indent="0" marL="0">
              <a:buNone/>
            </a:pPr>
            <a:r>
              <a:rPr lang="en-US" sz="3000" b="1" dirty="0">
                <a:solidFill>
                  <a:srgbClr val="FFFFFF"/>
                </a:solidFill>
                <a:latin typeface="Arial" pitchFamily="34" charset="0"/>
                <a:ea typeface="Arial" pitchFamily="34" charset="-122"/>
                <a:cs typeface="Arial" pitchFamily="34" charset="-120"/>
              </a:rPr>
              <a:t>Opcionalidad estratégica</a:t>
            </a:r>
            <a:endParaRPr lang="en-US" sz="3000" dirty="0"/>
          </a:p>
        </p:txBody>
      </p:sp>
      <p:sp>
        <p:nvSpPr>
          <p:cNvPr id="12" name="Text 10"/>
          <p:cNvSpPr txBox="1"/>
          <p:nvPr/>
        </p:nvSpPr>
        <p:spPr>
          <a:xfrm>
            <a:off x="594360" y="6473952"/>
            <a:ext cx="7315200" cy="182880"/>
          </a:xfrm>
          <a:prstGeom prst="rect">
            <a:avLst/>
          </a:prstGeom>
          <a:noFill/>
          <a:ln/>
        </p:spPr>
        <p:txBody>
          <a:bodyPr wrap="square" lIns="0" tIns="0" rIns="0" bIns="0" rtlCol="0" anchor="t"/>
          <a:lstStyle/>
          <a:p>
            <a:pPr indent="0" marL="0">
              <a:buNone/>
            </a:pPr>
            <a:r>
              <a:rPr lang="en-US" sz="850" dirty="0">
                <a:solidFill>
                  <a:srgbClr val="8391AE"/>
                </a:solidFill>
                <a:latin typeface="Arial" pitchFamily="34" charset="0"/>
                <a:ea typeface="Arial" pitchFamily="34" charset="-122"/>
                <a:cs typeface="Arial" pitchFamily="34" charset="-120"/>
              </a:rPr>
              <a:t>Zig-Zag · Business, Product &amp; Strategy Update · Septiembre 2026</a:t>
            </a:r>
            <a:endParaRPr lang="en-US" sz="850" dirty="0"/>
          </a:p>
        </p:txBody>
      </p:sp>
      <p:sp>
        <p:nvSpPr>
          <p:cNvPr id="13" name="Text 11"/>
          <p:cNvSpPr txBox="1"/>
          <p:nvPr/>
        </p:nvSpPr>
        <p:spPr>
          <a:xfrm>
            <a:off x="11048695" y="6473952"/>
            <a:ext cx="548640" cy="182880"/>
          </a:xfrm>
          <a:prstGeom prst="rect">
            <a:avLst/>
          </a:prstGeom>
          <a:noFill/>
          <a:ln/>
        </p:spPr>
        <p:txBody>
          <a:bodyPr wrap="square" lIns="0" tIns="0" rIns="0" bIns="0" rtlCol="0" anchor="t"/>
          <a:lstStyle/>
          <a:p>
            <a:pPr algn="r" indent="0" marL="0">
              <a:buNone/>
            </a:pPr>
            <a:r>
              <a:rPr lang="en-US" sz="850" dirty="0">
                <a:solidFill>
                  <a:srgbClr val="8391AE"/>
                </a:solidFill>
                <a:latin typeface="Arial" pitchFamily="34" charset="0"/>
                <a:ea typeface="Arial" pitchFamily="34" charset="-122"/>
                <a:cs typeface="Arial" pitchFamily="34" charset="-120"/>
              </a:rPr>
              <a:t>16</a:t>
            </a:r>
            <a:endParaRPr lang="en-US" sz="850" dirty="0"/>
          </a:p>
        </p:txBody>
      </p:sp>
      <p:sp>
        <p:nvSpPr>
          <p:cNvPr id="14" name="Text 12"/>
          <p:cNvSpPr txBox="1"/>
          <p:nvPr/>
        </p:nvSpPr>
        <p:spPr>
          <a:xfrm>
            <a:off x="594360" y="1554480"/>
            <a:ext cx="10972800" cy="411480"/>
          </a:xfrm>
          <a:prstGeom prst="rect">
            <a:avLst/>
          </a:prstGeom>
          <a:noFill/>
          <a:ln/>
        </p:spPr>
        <p:txBody>
          <a:bodyPr wrap="square" lIns="0" tIns="0" rIns="0" bIns="0" rtlCol="0" anchor="t"/>
          <a:lstStyle/>
          <a:p>
            <a:pPr indent="0" marL="0">
              <a:buNone/>
            </a:pPr>
            <a:r>
              <a:rPr lang="en-US" sz="1700" dirty="0">
                <a:solidFill>
                  <a:srgbClr val="C7D0E0"/>
                </a:solidFill>
                <a:latin typeface="Arial" pitchFamily="34" charset="0"/>
                <a:ea typeface="Arial" pitchFamily="34" charset="-122"/>
                <a:cs typeface="Arial" pitchFamily="34" charset="-120"/>
              </a:rPr>
              <a:t>No necesitamos saber hoy qué canal de distribución va a ganar.</a:t>
            </a:r>
            <a:endParaRPr lang="en-US" sz="1700" dirty="0"/>
          </a:p>
        </p:txBody>
      </p:sp>
      <p:sp>
        <p:nvSpPr>
          <p:cNvPr id="15" name="Shape 13"/>
          <p:cNvSpPr/>
          <p:nvPr/>
        </p:nvSpPr>
        <p:spPr>
          <a:xfrm>
            <a:off x="594360" y="2286000"/>
            <a:ext cx="2017715" cy="685800"/>
          </a:xfrm>
          <a:prstGeom prst="roundRect">
            <a:avLst>
              <a:gd name="adj" fmla="val 10667"/>
            </a:avLst>
          </a:prstGeom>
          <a:solidFill>
            <a:srgbClr val="243054"/>
          </a:solidFill>
          <a:ln w="9525">
            <a:solidFill>
              <a:srgbClr val="34426A"/>
            </a:solidFill>
            <a:prstDash val="solid"/>
          </a:ln>
        </p:spPr>
      </p:sp>
      <p:sp>
        <p:nvSpPr>
          <p:cNvPr id="16" name="Text 14"/>
          <p:cNvSpPr txBox="1"/>
          <p:nvPr/>
        </p:nvSpPr>
        <p:spPr>
          <a:xfrm>
            <a:off x="594360" y="2286000"/>
            <a:ext cx="2017715" cy="68580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B2C</a:t>
            </a:r>
            <a:endParaRPr lang="en-US" sz="1600" dirty="0"/>
          </a:p>
        </p:txBody>
      </p:sp>
      <p:sp>
        <p:nvSpPr>
          <p:cNvPr id="17" name="Shape 15"/>
          <p:cNvSpPr/>
          <p:nvPr/>
        </p:nvSpPr>
        <p:spPr>
          <a:xfrm>
            <a:off x="1438626" y="3108960"/>
            <a:ext cx="329184" cy="457200"/>
          </a:xfrm>
          <a:prstGeom prst="downArrow">
            <a:avLst/>
          </a:prstGeom>
          <a:solidFill>
            <a:srgbClr val="5BC0BE"/>
          </a:solidFill>
          <a:ln w="12700">
            <a:solidFill>
              <a:srgbClr val="5BC0BE"/>
            </a:solidFill>
            <a:prstDash val="solid"/>
          </a:ln>
        </p:spPr>
      </p:sp>
      <p:sp>
        <p:nvSpPr>
          <p:cNvPr id="18" name="Shape 16"/>
          <p:cNvSpPr/>
          <p:nvPr/>
        </p:nvSpPr>
        <p:spPr>
          <a:xfrm>
            <a:off x="2840675" y="2286000"/>
            <a:ext cx="2017715" cy="685800"/>
          </a:xfrm>
          <a:prstGeom prst="roundRect">
            <a:avLst>
              <a:gd name="adj" fmla="val 10667"/>
            </a:avLst>
          </a:prstGeom>
          <a:solidFill>
            <a:srgbClr val="243054"/>
          </a:solidFill>
          <a:ln w="9525">
            <a:solidFill>
              <a:srgbClr val="34426A"/>
            </a:solidFill>
            <a:prstDash val="solid"/>
          </a:ln>
        </p:spPr>
      </p:sp>
      <p:sp>
        <p:nvSpPr>
          <p:cNvPr id="19" name="Text 17"/>
          <p:cNvSpPr txBox="1"/>
          <p:nvPr/>
        </p:nvSpPr>
        <p:spPr>
          <a:xfrm>
            <a:off x="2840675" y="2286000"/>
            <a:ext cx="2017715" cy="68580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B2B API</a:t>
            </a:r>
            <a:endParaRPr lang="en-US" sz="1600" dirty="0"/>
          </a:p>
        </p:txBody>
      </p:sp>
      <p:sp>
        <p:nvSpPr>
          <p:cNvPr id="20" name="Shape 18"/>
          <p:cNvSpPr/>
          <p:nvPr/>
        </p:nvSpPr>
        <p:spPr>
          <a:xfrm>
            <a:off x="3684941" y="3108960"/>
            <a:ext cx="329184" cy="457200"/>
          </a:xfrm>
          <a:prstGeom prst="downArrow">
            <a:avLst/>
          </a:prstGeom>
          <a:solidFill>
            <a:srgbClr val="5BC0BE"/>
          </a:solidFill>
          <a:ln w="12700">
            <a:solidFill>
              <a:srgbClr val="5BC0BE"/>
            </a:solidFill>
            <a:prstDash val="solid"/>
          </a:ln>
        </p:spPr>
      </p:sp>
      <p:sp>
        <p:nvSpPr>
          <p:cNvPr id="21" name="Shape 19"/>
          <p:cNvSpPr/>
          <p:nvPr/>
        </p:nvSpPr>
        <p:spPr>
          <a:xfrm>
            <a:off x="5086990" y="2286000"/>
            <a:ext cx="2017715" cy="685800"/>
          </a:xfrm>
          <a:prstGeom prst="roundRect">
            <a:avLst>
              <a:gd name="adj" fmla="val 10667"/>
            </a:avLst>
          </a:prstGeom>
          <a:solidFill>
            <a:srgbClr val="243054"/>
          </a:solidFill>
          <a:ln w="9525">
            <a:solidFill>
              <a:srgbClr val="34426A"/>
            </a:solidFill>
            <a:prstDash val="solid"/>
          </a:ln>
        </p:spPr>
      </p:sp>
      <p:sp>
        <p:nvSpPr>
          <p:cNvPr id="22" name="Text 20"/>
          <p:cNvSpPr txBox="1"/>
          <p:nvPr/>
        </p:nvSpPr>
        <p:spPr>
          <a:xfrm>
            <a:off x="5086990" y="2286000"/>
            <a:ext cx="2017715" cy="68580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White-label</a:t>
            </a:r>
            <a:endParaRPr lang="en-US" sz="1600" dirty="0"/>
          </a:p>
        </p:txBody>
      </p:sp>
      <p:sp>
        <p:nvSpPr>
          <p:cNvPr id="23" name="Shape 21"/>
          <p:cNvSpPr/>
          <p:nvPr/>
        </p:nvSpPr>
        <p:spPr>
          <a:xfrm>
            <a:off x="5931256" y="3108960"/>
            <a:ext cx="329184" cy="457200"/>
          </a:xfrm>
          <a:prstGeom prst="downArrow">
            <a:avLst/>
          </a:prstGeom>
          <a:solidFill>
            <a:srgbClr val="5BC0BE"/>
          </a:solidFill>
          <a:ln w="12700">
            <a:solidFill>
              <a:srgbClr val="5BC0BE"/>
            </a:solidFill>
            <a:prstDash val="solid"/>
          </a:ln>
        </p:spPr>
      </p:sp>
      <p:sp>
        <p:nvSpPr>
          <p:cNvPr id="24" name="Shape 22"/>
          <p:cNvSpPr/>
          <p:nvPr/>
        </p:nvSpPr>
        <p:spPr>
          <a:xfrm>
            <a:off x="7333305" y="2286000"/>
            <a:ext cx="2017715" cy="685800"/>
          </a:xfrm>
          <a:prstGeom prst="roundRect">
            <a:avLst>
              <a:gd name="adj" fmla="val 10667"/>
            </a:avLst>
          </a:prstGeom>
          <a:solidFill>
            <a:srgbClr val="243054"/>
          </a:solidFill>
          <a:ln w="9525">
            <a:solidFill>
              <a:srgbClr val="34426A"/>
            </a:solidFill>
            <a:prstDash val="solid"/>
          </a:ln>
        </p:spPr>
      </p:sp>
      <p:sp>
        <p:nvSpPr>
          <p:cNvPr id="25" name="Text 23"/>
          <p:cNvSpPr txBox="1"/>
          <p:nvPr/>
        </p:nvSpPr>
        <p:spPr>
          <a:xfrm>
            <a:off x="7333305" y="2286000"/>
            <a:ext cx="2017715" cy="68580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Embebido</a:t>
            </a:r>
            <a:endParaRPr lang="en-US" sz="1600" dirty="0"/>
          </a:p>
        </p:txBody>
      </p:sp>
      <p:sp>
        <p:nvSpPr>
          <p:cNvPr id="26" name="Shape 24"/>
          <p:cNvSpPr/>
          <p:nvPr/>
        </p:nvSpPr>
        <p:spPr>
          <a:xfrm>
            <a:off x="8177571" y="3108960"/>
            <a:ext cx="329184" cy="457200"/>
          </a:xfrm>
          <a:prstGeom prst="downArrow">
            <a:avLst/>
          </a:prstGeom>
          <a:solidFill>
            <a:srgbClr val="5BC0BE"/>
          </a:solidFill>
          <a:ln w="12700">
            <a:solidFill>
              <a:srgbClr val="5BC0BE"/>
            </a:solidFill>
            <a:prstDash val="solid"/>
          </a:ln>
        </p:spPr>
      </p:sp>
      <p:sp>
        <p:nvSpPr>
          <p:cNvPr id="27" name="Shape 25"/>
          <p:cNvSpPr/>
          <p:nvPr/>
        </p:nvSpPr>
        <p:spPr>
          <a:xfrm>
            <a:off x="9579620" y="2286000"/>
            <a:ext cx="2017715" cy="685800"/>
          </a:xfrm>
          <a:prstGeom prst="roundRect">
            <a:avLst>
              <a:gd name="adj" fmla="val 10667"/>
            </a:avLst>
          </a:prstGeom>
          <a:solidFill>
            <a:srgbClr val="243054"/>
          </a:solidFill>
          <a:ln w="9525">
            <a:solidFill>
              <a:srgbClr val="34426A"/>
            </a:solidFill>
            <a:prstDash val="solid"/>
          </a:ln>
        </p:spPr>
      </p:sp>
      <p:sp>
        <p:nvSpPr>
          <p:cNvPr id="28" name="Text 26"/>
          <p:cNvSpPr txBox="1"/>
          <p:nvPr/>
        </p:nvSpPr>
        <p:spPr>
          <a:xfrm>
            <a:off x="9579620" y="2286000"/>
            <a:ext cx="2017715" cy="68580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Marketplace</a:t>
            </a:r>
            <a:endParaRPr lang="en-US" sz="1600" dirty="0"/>
          </a:p>
        </p:txBody>
      </p:sp>
      <p:sp>
        <p:nvSpPr>
          <p:cNvPr id="29" name="Shape 27"/>
          <p:cNvSpPr/>
          <p:nvPr/>
        </p:nvSpPr>
        <p:spPr>
          <a:xfrm>
            <a:off x="10423886" y="3108960"/>
            <a:ext cx="329184" cy="457200"/>
          </a:xfrm>
          <a:prstGeom prst="downArrow">
            <a:avLst/>
          </a:prstGeom>
          <a:solidFill>
            <a:srgbClr val="5BC0BE"/>
          </a:solidFill>
          <a:ln w="12700">
            <a:solidFill>
              <a:srgbClr val="5BC0BE"/>
            </a:solidFill>
            <a:prstDash val="solid"/>
          </a:ln>
        </p:spPr>
      </p:sp>
      <p:sp>
        <p:nvSpPr>
          <p:cNvPr id="30" name="Shape 28"/>
          <p:cNvSpPr/>
          <p:nvPr/>
        </p:nvSpPr>
        <p:spPr>
          <a:xfrm>
            <a:off x="594360" y="3703320"/>
            <a:ext cx="11002975" cy="1371600"/>
          </a:xfrm>
          <a:prstGeom prst="roundRect">
            <a:avLst>
              <a:gd name="adj" fmla="val 6667"/>
            </a:avLst>
          </a:prstGeom>
          <a:solidFill>
            <a:srgbClr val="5BC0BE"/>
          </a:solidFill>
          <a:ln w="9525">
            <a:solidFill>
              <a:srgbClr val="5BC0BE"/>
            </a:solidFill>
            <a:prstDash val="solid"/>
          </a:ln>
        </p:spPr>
      </p:sp>
      <p:sp>
        <p:nvSpPr>
          <p:cNvPr id="31" name="Text 29"/>
          <p:cNvSpPr txBox="1"/>
          <p:nvPr/>
        </p:nvSpPr>
        <p:spPr>
          <a:xfrm>
            <a:off x="868680" y="3794760"/>
            <a:ext cx="4572000" cy="320040"/>
          </a:xfrm>
          <a:prstGeom prst="rect">
            <a:avLst/>
          </a:prstGeom>
          <a:noFill/>
          <a:ln/>
        </p:spPr>
        <p:txBody>
          <a:bodyPr wrap="square" lIns="0" tIns="0" rIns="0" bIns="0" rtlCol="0" anchor="t"/>
          <a:lstStyle/>
          <a:p>
            <a:pPr indent="0" marL="0">
              <a:buNone/>
            </a:pPr>
            <a:r>
              <a:rPr lang="en-US" sz="1200" b="1" spc="200" kern="0" dirty="0">
                <a:solidFill>
                  <a:srgbClr val="0B132B"/>
                </a:solidFill>
                <a:latin typeface="Arial" pitchFamily="34" charset="0"/>
                <a:ea typeface="Arial" pitchFamily="34" charset="-122"/>
                <a:cs typeface="Arial" pitchFamily="34" charset="-120"/>
              </a:rPr>
              <a:t>Núcleo compartido</a:t>
            </a:r>
            <a:endParaRPr lang="en-US" sz="1200" dirty="0"/>
          </a:p>
        </p:txBody>
      </p:sp>
      <p:sp>
        <p:nvSpPr>
          <p:cNvPr id="32" name="Text 30"/>
          <p:cNvSpPr txBox="1"/>
          <p:nvPr/>
        </p:nvSpPr>
        <p:spPr>
          <a:xfrm>
            <a:off x="868680" y="4160520"/>
            <a:ext cx="1999427" cy="731520"/>
          </a:xfrm>
          <a:prstGeom prst="rect">
            <a:avLst/>
          </a:prstGeom>
          <a:noFill/>
          <a:ln/>
        </p:spPr>
        <p:txBody>
          <a:bodyPr wrap="square" lIns="0" tIns="0" rIns="0" bIns="0" rtlCol="0" anchor="ctr"/>
          <a:lstStyle/>
          <a:p>
            <a:pPr indent="0" marL="0">
              <a:buNone/>
            </a:pPr>
            <a:r>
              <a:rPr lang="en-US" sz="1500" b="1" dirty="0">
                <a:solidFill>
                  <a:srgbClr val="0B132B"/>
                </a:solidFill>
                <a:latin typeface="Arial" pitchFamily="34" charset="0"/>
                <a:ea typeface="Arial" pitchFamily="34" charset="-122"/>
                <a:cs typeface="Arial" pitchFamily="34" charset="-120"/>
              </a:rPr>
              <a:t>Entender al viajero</a:t>
            </a:r>
            <a:endParaRPr lang="en-US" sz="1500" dirty="0"/>
          </a:p>
        </p:txBody>
      </p:sp>
      <p:sp>
        <p:nvSpPr>
          <p:cNvPr id="33" name="Text 31"/>
          <p:cNvSpPr txBox="1"/>
          <p:nvPr/>
        </p:nvSpPr>
        <p:spPr>
          <a:xfrm>
            <a:off x="2959547" y="4160520"/>
            <a:ext cx="1999427" cy="731520"/>
          </a:xfrm>
          <a:prstGeom prst="rect">
            <a:avLst/>
          </a:prstGeom>
          <a:noFill/>
          <a:ln/>
        </p:spPr>
        <p:txBody>
          <a:bodyPr wrap="square" lIns="0" tIns="0" rIns="0" bIns="0" rtlCol="0" anchor="ctr"/>
          <a:lstStyle/>
          <a:p>
            <a:pPr indent="0" marL="0">
              <a:buNone/>
            </a:pPr>
            <a:r>
              <a:rPr lang="en-US" sz="1500" b="1" dirty="0">
                <a:solidFill>
                  <a:srgbClr val="0B132B"/>
                </a:solidFill>
                <a:latin typeface="Arial" pitchFamily="34" charset="0"/>
                <a:ea typeface="Arial" pitchFamily="34" charset="-122"/>
                <a:cs typeface="Arial" pitchFamily="34" charset="-120"/>
              </a:rPr>
              <a:t>Conocimiento verificado</a:t>
            </a:r>
            <a:endParaRPr lang="en-US" sz="1500" dirty="0"/>
          </a:p>
        </p:txBody>
      </p:sp>
      <p:sp>
        <p:nvSpPr>
          <p:cNvPr id="34" name="Text 32"/>
          <p:cNvSpPr txBox="1"/>
          <p:nvPr/>
        </p:nvSpPr>
        <p:spPr>
          <a:xfrm>
            <a:off x="5050414" y="4160520"/>
            <a:ext cx="1999427" cy="731520"/>
          </a:xfrm>
          <a:prstGeom prst="rect">
            <a:avLst/>
          </a:prstGeom>
          <a:noFill/>
          <a:ln/>
        </p:spPr>
        <p:txBody>
          <a:bodyPr wrap="square" lIns="0" tIns="0" rIns="0" bIns="0" rtlCol="0" anchor="ctr"/>
          <a:lstStyle/>
          <a:p>
            <a:pPr indent="0" marL="0">
              <a:buNone/>
            </a:pPr>
            <a:r>
              <a:rPr lang="en-US" sz="1500" b="1" dirty="0">
                <a:solidFill>
                  <a:srgbClr val="0B132B"/>
                </a:solidFill>
                <a:latin typeface="Arial" pitchFamily="34" charset="0"/>
                <a:ea typeface="Arial" pitchFamily="34" charset="-122"/>
                <a:cs typeface="Arial" pitchFamily="34" charset="-120"/>
              </a:rPr>
              <a:t>Selección</a:t>
            </a:r>
            <a:endParaRPr lang="en-US" sz="1500" dirty="0"/>
          </a:p>
        </p:txBody>
      </p:sp>
      <p:sp>
        <p:nvSpPr>
          <p:cNvPr id="35" name="Text 33"/>
          <p:cNvSpPr txBox="1"/>
          <p:nvPr/>
        </p:nvSpPr>
        <p:spPr>
          <a:xfrm>
            <a:off x="7141281" y="4160520"/>
            <a:ext cx="1999427" cy="731520"/>
          </a:xfrm>
          <a:prstGeom prst="rect">
            <a:avLst/>
          </a:prstGeom>
          <a:noFill/>
          <a:ln/>
        </p:spPr>
        <p:txBody>
          <a:bodyPr wrap="square" lIns="0" tIns="0" rIns="0" bIns="0" rtlCol="0" anchor="ctr"/>
          <a:lstStyle/>
          <a:p>
            <a:pPr indent="0" marL="0">
              <a:buNone/>
            </a:pPr>
            <a:r>
              <a:rPr lang="en-US" sz="1500" b="1" dirty="0">
                <a:solidFill>
                  <a:srgbClr val="0B132B"/>
                </a:solidFill>
                <a:latin typeface="Arial" pitchFamily="34" charset="0"/>
                <a:ea typeface="Arial" pitchFamily="34" charset="-122"/>
                <a:cs typeface="Arial" pitchFamily="34" charset="-120"/>
              </a:rPr>
              <a:t>Planificación</a:t>
            </a:r>
            <a:endParaRPr lang="en-US" sz="1500" dirty="0"/>
          </a:p>
        </p:txBody>
      </p:sp>
      <p:sp>
        <p:nvSpPr>
          <p:cNvPr id="36" name="Text 34"/>
          <p:cNvSpPr txBox="1"/>
          <p:nvPr/>
        </p:nvSpPr>
        <p:spPr>
          <a:xfrm>
            <a:off x="9232148" y="4160520"/>
            <a:ext cx="1999427" cy="731520"/>
          </a:xfrm>
          <a:prstGeom prst="rect">
            <a:avLst/>
          </a:prstGeom>
          <a:noFill/>
          <a:ln/>
        </p:spPr>
        <p:txBody>
          <a:bodyPr wrap="square" lIns="0" tIns="0" rIns="0" bIns="0" rtlCol="0" anchor="ctr"/>
          <a:lstStyle/>
          <a:p>
            <a:pPr indent="0" marL="0">
              <a:buNone/>
            </a:pPr>
            <a:r>
              <a:rPr lang="en-US" sz="1500" b="1" dirty="0">
                <a:solidFill>
                  <a:srgbClr val="0B132B"/>
                </a:solidFill>
                <a:latin typeface="Arial" pitchFamily="34" charset="0"/>
                <a:ea typeface="Arial" pitchFamily="34" charset="-122"/>
                <a:cs typeface="Arial" pitchFamily="34" charset="-120"/>
              </a:rPr>
              <a:t>Registro de decisiones</a:t>
            </a:r>
            <a:endParaRPr lang="en-US" sz="1500" dirty="0"/>
          </a:p>
        </p:txBody>
      </p:sp>
      <p:sp>
        <p:nvSpPr>
          <p:cNvPr id="37" name="Text 35"/>
          <p:cNvSpPr txBox="1"/>
          <p:nvPr/>
        </p:nvSpPr>
        <p:spPr>
          <a:xfrm>
            <a:off x="594360" y="5394960"/>
            <a:ext cx="10972800" cy="548640"/>
          </a:xfrm>
          <a:prstGeom prst="rect">
            <a:avLst/>
          </a:prstGeom>
          <a:noFill/>
          <a:ln/>
        </p:spPr>
        <p:txBody>
          <a:bodyPr wrap="square" lIns="0" tIns="0" rIns="0" bIns="0" rtlCol="0" anchor="t"/>
          <a:lstStyle/>
          <a:p>
            <a:pPr indent="0" marL="0">
              <a:buNone/>
            </a:pPr>
            <a:r>
              <a:rPr lang="en-US" sz="2200" b="1" dirty="0">
                <a:solidFill>
                  <a:srgbClr val="FFFFFF"/>
                </a:solidFill>
                <a:latin typeface="Arial" pitchFamily="34" charset="0"/>
                <a:ea typeface="Arial" pitchFamily="34" charset="-122"/>
                <a:cs typeface="Arial" pitchFamily="34" charset="-120"/>
              </a:rPr>
              <a:t>La inversión de ingeniería actual preserva la opcionalidad del modelo de negocio.</a:t>
            </a:r>
            <a:endParaRPr lang="en-US" sz="2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5F1E8"/>
        </a:solidFill>
      </p:bgPr>
    </p:bg>
    <p:spTree>
      <p:nvGrpSpPr>
        <p:cNvPr id="1" name=""/>
        <p:cNvGrpSpPr/>
        <p:nvPr/>
      </p:nvGrpSpPr>
      <p:grpSpPr>
        <a:xfrm>
          <a:off x="0" y="0"/>
          <a:ext cx="0" cy="0"/>
          <a:chOff x="0" y="0"/>
          <a:chExt cx="0" cy="0"/>
        </a:xfrm>
      </p:grpSpPr>
      <p:sp>
        <p:nvSpPr>
          <p:cNvPr id="2" name="Shape 0"/>
          <p:cNvSpPr/>
          <p:nvPr/>
        </p:nvSpPr>
        <p:spPr>
          <a:xfrm flipV="1">
            <a:off x="594360" y="384048"/>
            <a:ext cx="120701" cy="98755"/>
          </a:xfrm>
          <a:prstGeom prst="line">
            <a:avLst/>
          </a:prstGeom>
          <a:noFill/>
          <a:ln w="22225">
            <a:solidFill>
              <a:srgbClr val="5BC0BE"/>
            </a:solidFill>
            <a:prstDash val="solid"/>
          </a:ln>
        </p:spPr>
      </p:sp>
      <p:sp>
        <p:nvSpPr>
          <p:cNvPr id="3" name="Shape 1"/>
          <p:cNvSpPr/>
          <p:nvPr/>
        </p:nvSpPr>
        <p:spPr>
          <a:xfrm>
            <a:off x="715061" y="384048"/>
            <a:ext cx="120701" cy="98755"/>
          </a:xfrm>
          <a:prstGeom prst="line">
            <a:avLst/>
          </a:prstGeom>
          <a:noFill/>
          <a:ln w="22225">
            <a:solidFill>
              <a:srgbClr val="5BC0BE"/>
            </a:solidFill>
            <a:prstDash val="solid"/>
          </a:ln>
        </p:spPr>
      </p:sp>
      <p:sp>
        <p:nvSpPr>
          <p:cNvPr id="4" name="Shape 2"/>
          <p:cNvSpPr/>
          <p:nvPr/>
        </p:nvSpPr>
        <p:spPr>
          <a:xfrm flipV="1">
            <a:off x="835762" y="384048"/>
            <a:ext cx="120701" cy="98755"/>
          </a:xfrm>
          <a:prstGeom prst="line">
            <a:avLst/>
          </a:prstGeom>
          <a:noFill/>
          <a:ln w="22225">
            <a:solidFill>
              <a:srgbClr val="5BC0BE"/>
            </a:solidFill>
            <a:prstDash val="solid"/>
          </a:ln>
        </p:spPr>
      </p:sp>
      <p:sp>
        <p:nvSpPr>
          <p:cNvPr id="5" name="Shape 3"/>
          <p:cNvSpPr/>
          <p:nvPr/>
        </p:nvSpPr>
        <p:spPr>
          <a:xfrm>
            <a:off x="566928" y="455371"/>
            <a:ext cx="54864" cy="54864"/>
          </a:xfrm>
          <a:prstGeom prst="ellipse">
            <a:avLst/>
          </a:prstGeom>
          <a:solidFill>
            <a:srgbClr val="5BC0BE"/>
          </a:solidFill>
          <a:ln w="12700">
            <a:solidFill>
              <a:srgbClr val="5BC0BE"/>
            </a:solidFill>
            <a:prstDash val="solid"/>
          </a:ln>
        </p:spPr>
      </p:sp>
      <p:sp>
        <p:nvSpPr>
          <p:cNvPr id="6" name="Shape 4"/>
          <p:cNvSpPr/>
          <p:nvPr/>
        </p:nvSpPr>
        <p:spPr>
          <a:xfrm>
            <a:off x="687629" y="356616"/>
            <a:ext cx="54864" cy="54864"/>
          </a:xfrm>
          <a:prstGeom prst="ellipse">
            <a:avLst/>
          </a:prstGeom>
          <a:solidFill>
            <a:srgbClr val="5BC0BE"/>
          </a:solidFill>
          <a:ln w="12700">
            <a:solidFill>
              <a:srgbClr val="5BC0BE"/>
            </a:solidFill>
            <a:prstDash val="solid"/>
          </a:ln>
        </p:spPr>
      </p:sp>
      <p:sp>
        <p:nvSpPr>
          <p:cNvPr id="7" name="Shape 5"/>
          <p:cNvSpPr/>
          <p:nvPr/>
        </p:nvSpPr>
        <p:spPr>
          <a:xfrm>
            <a:off x="808330" y="455371"/>
            <a:ext cx="54864" cy="54864"/>
          </a:xfrm>
          <a:prstGeom prst="ellipse">
            <a:avLst/>
          </a:prstGeom>
          <a:solidFill>
            <a:srgbClr val="5BC0BE"/>
          </a:solidFill>
          <a:ln w="12700">
            <a:solidFill>
              <a:srgbClr val="5BC0BE"/>
            </a:solidFill>
            <a:prstDash val="solid"/>
          </a:ln>
        </p:spPr>
      </p:sp>
      <p:sp>
        <p:nvSpPr>
          <p:cNvPr id="8" name="Shape 6"/>
          <p:cNvSpPr/>
          <p:nvPr/>
        </p:nvSpPr>
        <p:spPr>
          <a:xfrm>
            <a:off x="929030" y="356616"/>
            <a:ext cx="54864" cy="54864"/>
          </a:xfrm>
          <a:prstGeom prst="ellipse">
            <a:avLst/>
          </a:prstGeom>
          <a:solidFill>
            <a:srgbClr val="5BC0BE"/>
          </a:solidFill>
          <a:ln w="12700">
            <a:solidFill>
              <a:srgbClr val="5BC0BE"/>
            </a:solidFill>
            <a:prstDash val="solid"/>
          </a:ln>
        </p:spPr>
      </p:sp>
      <p:sp>
        <p:nvSpPr>
          <p:cNvPr id="9" name="Shape 7"/>
          <p:cNvSpPr/>
          <p:nvPr/>
        </p:nvSpPr>
        <p:spPr>
          <a:xfrm>
            <a:off x="1143000" y="329184"/>
            <a:ext cx="1563624" cy="274320"/>
          </a:xfrm>
          <a:prstGeom prst="roundRect">
            <a:avLst>
              <a:gd name="adj" fmla="val 50000"/>
            </a:avLst>
          </a:prstGeom>
          <a:solidFill>
            <a:srgbClr val="F6DCD5"/>
          </a:solidFill>
          <a:ln w="12700">
            <a:solidFill>
              <a:srgbClr val="F6DCD5"/>
            </a:solidFill>
            <a:prstDash val="solid"/>
          </a:ln>
        </p:spPr>
      </p:sp>
      <p:sp>
        <p:nvSpPr>
          <p:cNvPr id="10" name="Text 8"/>
          <p:cNvSpPr txBox="1"/>
          <p:nvPr/>
        </p:nvSpPr>
        <p:spPr>
          <a:xfrm>
            <a:off x="1143000" y="329184"/>
            <a:ext cx="1563624" cy="274320"/>
          </a:xfrm>
          <a:prstGeom prst="rect">
            <a:avLst/>
          </a:prstGeom>
          <a:noFill/>
          <a:ln/>
        </p:spPr>
        <p:txBody>
          <a:bodyPr wrap="square" lIns="0" tIns="0" rIns="0" bIns="0" rtlCol="0" anchor="ctr"/>
          <a:lstStyle/>
          <a:p>
            <a:pPr algn="ctr" indent="0" marL="0">
              <a:buNone/>
            </a:pPr>
            <a:r>
              <a:rPr lang="en-US" sz="900" b="1" spc="150" kern="0" dirty="0">
                <a:solidFill>
                  <a:srgbClr val="B04A36"/>
                </a:solidFill>
                <a:latin typeface="Arial" pitchFamily="34" charset="0"/>
                <a:ea typeface="Arial" pitchFamily="34" charset="-122"/>
                <a:cs typeface="Arial" pitchFamily="34" charset="-120"/>
              </a:rPr>
              <a:t>RIESGO OBSERVADO</a:t>
            </a:r>
            <a:endParaRPr lang="en-US" sz="900" dirty="0"/>
          </a:p>
        </p:txBody>
      </p:sp>
      <p:sp>
        <p:nvSpPr>
          <p:cNvPr id="11" name="Text 9"/>
          <p:cNvSpPr txBox="1"/>
          <p:nvPr/>
        </p:nvSpPr>
        <p:spPr>
          <a:xfrm>
            <a:off x="594360" y="777240"/>
            <a:ext cx="11002975" cy="731520"/>
          </a:xfrm>
          <a:prstGeom prst="rect">
            <a:avLst/>
          </a:prstGeom>
          <a:noFill/>
          <a:ln/>
        </p:spPr>
        <p:txBody>
          <a:bodyPr wrap="square" lIns="0" tIns="0" rIns="0" bIns="0" rtlCol="0" anchor="t"/>
          <a:lstStyle/>
          <a:p>
            <a:pPr indent="0" marL="0">
              <a:buNone/>
            </a:pPr>
            <a:r>
              <a:rPr lang="en-US" sz="3000" b="1" dirty="0">
                <a:solidFill>
                  <a:srgbClr val="0B132B"/>
                </a:solidFill>
                <a:latin typeface="Arial" pitchFamily="34" charset="0"/>
                <a:ea typeface="Arial" pitchFamily="34" charset="-122"/>
                <a:cs typeface="Arial" pitchFamily="34" charset="-120"/>
              </a:rPr>
              <a:t>Mapa de riesgos actual</a:t>
            </a:r>
            <a:endParaRPr lang="en-US" sz="3000" dirty="0"/>
          </a:p>
        </p:txBody>
      </p:sp>
      <p:sp>
        <p:nvSpPr>
          <p:cNvPr id="12" name="Text 10"/>
          <p:cNvSpPr txBox="1"/>
          <p:nvPr/>
        </p:nvSpPr>
        <p:spPr>
          <a:xfrm>
            <a:off x="594360" y="6473952"/>
            <a:ext cx="7315200" cy="182880"/>
          </a:xfrm>
          <a:prstGeom prst="rect">
            <a:avLst/>
          </a:prstGeom>
          <a:noFill/>
          <a:ln/>
        </p:spPr>
        <p:txBody>
          <a:bodyPr wrap="square" lIns="0" tIns="0" rIns="0" bIns="0" rtlCol="0" anchor="t"/>
          <a:lstStyle/>
          <a:p>
            <a:pPr indent="0" marL="0">
              <a:buNone/>
            </a:pPr>
            <a:r>
              <a:rPr lang="en-US" sz="850" dirty="0">
                <a:solidFill>
                  <a:srgbClr val="6B7385"/>
                </a:solidFill>
                <a:latin typeface="Arial" pitchFamily="34" charset="0"/>
                <a:ea typeface="Arial" pitchFamily="34" charset="-122"/>
                <a:cs typeface="Arial" pitchFamily="34" charset="-120"/>
              </a:rPr>
              <a:t>Zig-Zag · Business, Product &amp; Strategy Update · Septiembre 2026</a:t>
            </a:r>
            <a:endParaRPr lang="en-US" sz="850" dirty="0"/>
          </a:p>
        </p:txBody>
      </p:sp>
      <p:sp>
        <p:nvSpPr>
          <p:cNvPr id="13" name="Text 11"/>
          <p:cNvSpPr txBox="1"/>
          <p:nvPr/>
        </p:nvSpPr>
        <p:spPr>
          <a:xfrm>
            <a:off x="11048695" y="6473952"/>
            <a:ext cx="548640" cy="182880"/>
          </a:xfrm>
          <a:prstGeom prst="rect">
            <a:avLst/>
          </a:prstGeom>
          <a:noFill/>
          <a:ln/>
        </p:spPr>
        <p:txBody>
          <a:bodyPr wrap="square" lIns="0" tIns="0" rIns="0" bIns="0" rtlCol="0" anchor="t"/>
          <a:lstStyle/>
          <a:p>
            <a:pPr algn="r" indent="0" marL="0">
              <a:buNone/>
            </a:pPr>
            <a:r>
              <a:rPr lang="en-US" sz="850" dirty="0">
                <a:solidFill>
                  <a:srgbClr val="6B7385"/>
                </a:solidFill>
                <a:latin typeface="Arial" pitchFamily="34" charset="0"/>
                <a:ea typeface="Arial" pitchFamily="34" charset="-122"/>
                <a:cs typeface="Arial" pitchFamily="34" charset="-120"/>
              </a:rPr>
              <a:t>17</a:t>
            </a:r>
            <a:endParaRPr lang="en-US" sz="850" dirty="0"/>
          </a:p>
        </p:txBody>
      </p:sp>
      <p:sp>
        <p:nvSpPr>
          <p:cNvPr id="14" name="Shape 12"/>
          <p:cNvSpPr/>
          <p:nvPr/>
        </p:nvSpPr>
        <p:spPr>
          <a:xfrm>
            <a:off x="594360" y="1600200"/>
            <a:ext cx="2613584" cy="2240280"/>
          </a:xfrm>
          <a:prstGeom prst="roundRect">
            <a:avLst>
              <a:gd name="adj" fmla="val 4082"/>
            </a:avLst>
          </a:prstGeom>
          <a:solidFill>
            <a:srgbClr val="FFFFFF"/>
          </a:solidFill>
          <a:ln w="9525">
            <a:solidFill>
              <a:srgbClr val="D8D2C4"/>
            </a:solidFill>
            <a:prstDash val="solid"/>
          </a:ln>
        </p:spPr>
      </p:sp>
      <p:sp>
        <p:nvSpPr>
          <p:cNvPr id="15" name="Text 13"/>
          <p:cNvSpPr txBox="1"/>
          <p:nvPr/>
        </p:nvSpPr>
        <p:spPr>
          <a:xfrm>
            <a:off x="758952" y="1719072"/>
            <a:ext cx="2284400" cy="292608"/>
          </a:xfrm>
          <a:prstGeom prst="rect">
            <a:avLst/>
          </a:prstGeom>
          <a:noFill/>
          <a:ln/>
        </p:spPr>
        <p:txBody>
          <a:bodyPr wrap="square" lIns="0" tIns="0" rIns="0" bIns="0" rtlCol="0" anchor="t"/>
          <a:lstStyle/>
          <a:p>
            <a:pPr indent="0" marL="0">
              <a:buNone/>
            </a:pPr>
            <a:r>
              <a:rPr lang="en-US" sz="1300" b="1" dirty="0">
                <a:solidFill>
                  <a:srgbClr val="B04A36"/>
                </a:solidFill>
                <a:latin typeface="Arial" pitchFamily="34" charset="0"/>
                <a:ea typeface="Arial" pitchFamily="34" charset="-122"/>
                <a:cs typeface="Arial" pitchFamily="34" charset="-120"/>
              </a:rPr>
              <a:t>Calidad de recomendación</a:t>
            </a:r>
            <a:endParaRPr lang="en-US" sz="1300" dirty="0"/>
          </a:p>
        </p:txBody>
      </p:sp>
      <p:sp>
        <p:nvSpPr>
          <p:cNvPr id="16" name="Text 14"/>
          <p:cNvSpPr txBox="1"/>
          <p:nvPr/>
        </p:nvSpPr>
        <p:spPr>
          <a:xfrm>
            <a:off x="758952" y="2075688"/>
            <a:ext cx="2284400" cy="548640"/>
          </a:xfrm>
          <a:prstGeom prst="rect">
            <a:avLst/>
          </a:prstGeom>
          <a:noFill/>
          <a:ln/>
        </p:spPr>
        <p:txBody>
          <a:bodyPr wrap="square" lIns="0" tIns="0" rIns="0" bIns="0" rtlCol="0" anchor="t"/>
          <a:lstStyle/>
          <a:p>
            <a:pPr indent="0" marL="0">
              <a:buNone/>
            </a:pPr>
            <a:r>
              <a:rPr lang="en-US" sz="850" b="1" dirty="0">
                <a:solidFill>
                  <a:srgbClr val="6B7385"/>
                </a:solidFill>
                <a:latin typeface="Arial" pitchFamily="34" charset="0"/>
                <a:ea typeface="Arial" pitchFamily="34" charset="-122"/>
                <a:cs typeface="Arial" pitchFamily="34" charset="-120"/>
              </a:rPr>
              <a:t>IMPACTO  </a:t>
            </a:r>
            <a:pPr indent="0" marL="0">
              <a:buNone/>
            </a:pPr>
            <a:r>
              <a:rPr lang="en-US" sz="1050" dirty="0">
                <a:solidFill>
                  <a:srgbClr val="0B132B"/>
                </a:solidFill>
                <a:latin typeface="Arial" pitchFamily="34" charset="0"/>
                <a:ea typeface="Arial" pitchFamily="34" charset="-122"/>
                <a:cs typeface="Arial" pitchFamily="34" charset="-120"/>
              </a:rPr>
              <a:t>Correcto no siempre es útil.</a:t>
            </a:r>
            <a:endParaRPr lang="en-US" sz="850" dirty="0"/>
          </a:p>
        </p:txBody>
      </p:sp>
      <p:sp>
        <p:nvSpPr>
          <p:cNvPr id="17" name="Text 15"/>
          <p:cNvSpPr txBox="1"/>
          <p:nvPr/>
        </p:nvSpPr>
        <p:spPr>
          <a:xfrm>
            <a:off x="758952" y="2468880"/>
            <a:ext cx="2284400" cy="548640"/>
          </a:xfrm>
          <a:prstGeom prst="rect">
            <a:avLst/>
          </a:prstGeom>
          <a:noFill/>
          <a:ln/>
        </p:spPr>
        <p:txBody>
          <a:bodyPr wrap="square" lIns="0" tIns="0" rIns="0" bIns="0" rtlCol="0" anchor="t"/>
          <a:lstStyle/>
          <a:p>
            <a:pPr indent="0" marL="0">
              <a:buNone/>
            </a:pPr>
            <a:r>
              <a:rPr lang="en-US" sz="850" b="1" dirty="0">
                <a:solidFill>
                  <a:srgbClr val="6B7385"/>
                </a:solidFill>
                <a:latin typeface="Arial" pitchFamily="34" charset="0"/>
                <a:ea typeface="Arial" pitchFamily="34" charset="-122"/>
                <a:cs typeface="Arial" pitchFamily="34" charset="-120"/>
              </a:rPr>
              <a:t>EVIDENCIA  </a:t>
            </a:r>
            <a:pPr indent="0" marL="0">
              <a:buNone/>
            </a:pPr>
            <a:r>
              <a:rPr lang="en-US" sz="1050" dirty="0">
                <a:solidFill>
                  <a:srgbClr val="0B132B"/>
                </a:solidFill>
                <a:latin typeface="Arial" pitchFamily="34" charset="0"/>
                <a:ea typeface="Arial" pitchFamily="34" charset="-122"/>
                <a:cs typeface="Arial" pitchFamily="34" charset="-120"/>
              </a:rPr>
              <a:t>Buenos Aires: plan con 5 museos en vez de la caminata pedida.</a:t>
            </a:r>
            <a:endParaRPr lang="en-US" sz="850" dirty="0"/>
          </a:p>
        </p:txBody>
      </p:sp>
      <p:sp>
        <p:nvSpPr>
          <p:cNvPr id="18" name="Text 16"/>
          <p:cNvSpPr txBox="1"/>
          <p:nvPr/>
        </p:nvSpPr>
        <p:spPr>
          <a:xfrm>
            <a:off x="758952" y="3136392"/>
            <a:ext cx="2284400" cy="548640"/>
          </a:xfrm>
          <a:prstGeom prst="rect">
            <a:avLst/>
          </a:prstGeom>
          <a:noFill/>
          <a:ln/>
        </p:spPr>
        <p:txBody>
          <a:bodyPr wrap="square" lIns="0" tIns="0" rIns="0" bIns="0" rtlCol="0" anchor="t"/>
          <a:lstStyle/>
          <a:p>
            <a:pPr indent="0" marL="0">
              <a:buNone/>
            </a:pPr>
            <a:r>
              <a:rPr lang="en-US" sz="850" b="1" dirty="0">
                <a:solidFill>
                  <a:srgbClr val="6B7385"/>
                </a:solidFill>
                <a:latin typeface="Arial" pitchFamily="34" charset="0"/>
                <a:ea typeface="Arial" pitchFamily="34" charset="-122"/>
                <a:cs typeface="Arial" pitchFamily="34" charset="-120"/>
              </a:rPr>
              <a:t>PRÓXIMO  </a:t>
            </a:r>
            <a:pPr indent="0" marL="0">
              <a:buNone/>
            </a:pPr>
            <a:r>
              <a:rPr lang="en-US" sz="1050" dirty="0">
                <a:solidFill>
                  <a:srgbClr val="0B132B"/>
                </a:solidFill>
                <a:latin typeface="Arial" pitchFamily="34" charset="0"/>
                <a:ea typeface="Arial" pitchFamily="34" charset="-122"/>
                <a:cs typeface="Arial" pitchFamily="34" charset="-120"/>
              </a:rPr>
              <a:t>Evaluación de calidad con revisión humana.</a:t>
            </a:r>
            <a:endParaRPr lang="en-US" sz="850" dirty="0"/>
          </a:p>
        </p:txBody>
      </p:sp>
      <p:sp>
        <p:nvSpPr>
          <p:cNvPr id="19" name="Shape 17"/>
          <p:cNvSpPr/>
          <p:nvPr/>
        </p:nvSpPr>
        <p:spPr>
          <a:xfrm>
            <a:off x="3390824" y="1600200"/>
            <a:ext cx="2613584" cy="2240280"/>
          </a:xfrm>
          <a:prstGeom prst="roundRect">
            <a:avLst>
              <a:gd name="adj" fmla="val 4082"/>
            </a:avLst>
          </a:prstGeom>
          <a:solidFill>
            <a:srgbClr val="FFFFFF"/>
          </a:solidFill>
          <a:ln w="9525">
            <a:solidFill>
              <a:srgbClr val="D8D2C4"/>
            </a:solidFill>
            <a:prstDash val="solid"/>
          </a:ln>
        </p:spPr>
      </p:sp>
      <p:sp>
        <p:nvSpPr>
          <p:cNvPr id="20" name="Text 18"/>
          <p:cNvSpPr txBox="1"/>
          <p:nvPr/>
        </p:nvSpPr>
        <p:spPr>
          <a:xfrm>
            <a:off x="3555416" y="1719072"/>
            <a:ext cx="2284400" cy="292608"/>
          </a:xfrm>
          <a:prstGeom prst="rect">
            <a:avLst/>
          </a:prstGeom>
          <a:noFill/>
          <a:ln/>
        </p:spPr>
        <p:txBody>
          <a:bodyPr wrap="square" lIns="0" tIns="0" rIns="0" bIns="0" rtlCol="0" anchor="t"/>
          <a:lstStyle/>
          <a:p>
            <a:pPr indent="0" marL="0">
              <a:buNone/>
            </a:pPr>
            <a:r>
              <a:rPr lang="en-US" sz="1300" b="1" dirty="0">
                <a:solidFill>
                  <a:srgbClr val="B04A36"/>
                </a:solidFill>
                <a:latin typeface="Arial" pitchFamily="34" charset="0"/>
                <a:ea typeface="Arial" pitchFamily="34" charset="-122"/>
                <a:cs typeface="Arial" pitchFamily="34" charset="-120"/>
              </a:rPr>
              <a:t>Profundidad de las fuentes</a:t>
            </a:r>
            <a:endParaRPr lang="en-US" sz="1300" dirty="0"/>
          </a:p>
        </p:txBody>
      </p:sp>
      <p:sp>
        <p:nvSpPr>
          <p:cNvPr id="21" name="Text 19"/>
          <p:cNvSpPr txBox="1"/>
          <p:nvPr/>
        </p:nvSpPr>
        <p:spPr>
          <a:xfrm>
            <a:off x="3555416" y="2075688"/>
            <a:ext cx="2284400" cy="548640"/>
          </a:xfrm>
          <a:prstGeom prst="rect">
            <a:avLst/>
          </a:prstGeom>
          <a:noFill/>
          <a:ln/>
        </p:spPr>
        <p:txBody>
          <a:bodyPr wrap="square" lIns="0" tIns="0" rIns="0" bIns="0" rtlCol="0" anchor="t"/>
          <a:lstStyle/>
          <a:p>
            <a:pPr indent="0" marL="0">
              <a:buNone/>
            </a:pPr>
            <a:r>
              <a:rPr lang="en-US" sz="850" b="1" dirty="0">
                <a:solidFill>
                  <a:srgbClr val="6B7385"/>
                </a:solidFill>
                <a:latin typeface="Arial" pitchFamily="34" charset="0"/>
                <a:ea typeface="Arial" pitchFamily="34" charset="-122"/>
                <a:cs typeface="Arial" pitchFamily="34" charset="-120"/>
              </a:rPr>
              <a:t>IMPACTO  </a:t>
            </a:r>
            <a:pPr indent="0" marL="0">
              <a:buNone/>
            </a:pPr>
            <a:r>
              <a:rPr lang="en-US" sz="1050" dirty="0">
                <a:solidFill>
                  <a:srgbClr val="0B132B"/>
                </a:solidFill>
                <a:latin typeface="Arial" pitchFamily="34" charset="0"/>
                <a:ea typeface="Arial" pitchFamily="34" charset="-122"/>
                <a:cs typeface="Arial" pitchFamily="34" charset="-120"/>
              </a:rPr>
              <a:t>Experiencias incompletas.</a:t>
            </a:r>
            <a:endParaRPr lang="en-US" sz="850" dirty="0"/>
          </a:p>
        </p:txBody>
      </p:sp>
      <p:sp>
        <p:nvSpPr>
          <p:cNvPr id="22" name="Text 20"/>
          <p:cNvSpPr txBox="1"/>
          <p:nvPr/>
        </p:nvSpPr>
        <p:spPr>
          <a:xfrm>
            <a:off x="3555416" y="2468880"/>
            <a:ext cx="2284400" cy="548640"/>
          </a:xfrm>
          <a:prstGeom prst="rect">
            <a:avLst/>
          </a:prstGeom>
          <a:noFill/>
          <a:ln/>
        </p:spPr>
        <p:txBody>
          <a:bodyPr wrap="square" lIns="0" tIns="0" rIns="0" bIns="0" rtlCol="0" anchor="t"/>
          <a:lstStyle/>
          <a:p>
            <a:pPr indent="0" marL="0">
              <a:buNone/>
            </a:pPr>
            <a:r>
              <a:rPr lang="en-US" sz="850" b="1" dirty="0">
                <a:solidFill>
                  <a:srgbClr val="6B7385"/>
                </a:solidFill>
                <a:latin typeface="Arial" pitchFamily="34" charset="0"/>
                <a:ea typeface="Arial" pitchFamily="34" charset="-122"/>
                <a:cs typeface="Arial" pitchFamily="34" charset="-120"/>
              </a:rPr>
              <a:t>EVIDENCIA  </a:t>
            </a:r>
            <a:pPr indent="0" marL="0">
              <a:buNone/>
            </a:pPr>
            <a:r>
              <a:rPr lang="en-US" sz="1050" dirty="0">
                <a:solidFill>
                  <a:srgbClr val="0B132B"/>
                </a:solidFill>
                <a:latin typeface="Arial" pitchFamily="34" charset="0"/>
                <a:ea typeface="Arial" pitchFamily="34" charset="-122"/>
                <a:cs typeface="Arial" pitchFamily="34" charset="-120"/>
              </a:rPr>
              <a:t>La estatua de Mafalda y el Parque Lezama no aparecieron en los resultados de búsqueda.</a:t>
            </a:r>
            <a:endParaRPr lang="en-US" sz="850" dirty="0"/>
          </a:p>
        </p:txBody>
      </p:sp>
      <p:sp>
        <p:nvSpPr>
          <p:cNvPr id="23" name="Text 21"/>
          <p:cNvSpPr txBox="1"/>
          <p:nvPr/>
        </p:nvSpPr>
        <p:spPr>
          <a:xfrm>
            <a:off x="3555416" y="3136392"/>
            <a:ext cx="2284400" cy="548640"/>
          </a:xfrm>
          <a:prstGeom prst="rect">
            <a:avLst/>
          </a:prstGeom>
          <a:noFill/>
          <a:ln/>
        </p:spPr>
        <p:txBody>
          <a:bodyPr wrap="square" lIns="0" tIns="0" rIns="0" bIns="0" rtlCol="0" anchor="t"/>
          <a:lstStyle/>
          <a:p>
            <a:pPr indent="0" marL="0">
              <a:buNone/>
            </a:pPr>
            <a:r>
              <a:rPr lang="en-US" sz="850" b="1" dirty="0">
                <a:solidFill>
                  <a:srgbClr val="6B7385"/>
                </a:solidFill>
                <a:latin typeface="Arial" pitchFamily="34" charset="0"/>
                <a:ea typeface="Arial" pitchFamily="34" charset="-122"/>
                <a:cs typeface="Arial" pitchFamily="34" charset="-120"/>
              </a:rPr>
              <a:t>PRÓXIMO  </a:t>
            </a:r>
            <a:pPr indent="0" marL="0">
              <a:buNone/>
            </a:pPr>
            <a:r>
              <a:rPr lang="en-US" sz="1050" dirty="0">
                <a:solidFill>
                  <a:srgbClr val="0B132B"/>
                </a:solidFill>
                <a:latin typeface="Arial" pitchFamily="34" charset="0"/>
                <a:ea typeface="Arial" pitchFamily="34" charset="-122"/>
                <a:cs typeface="Arial" pitchFamily="34" charset="-120"/>
              </a:rPr>
              <a:t>Leer las fuentes completas, no solo resúmenes.</a:t>
            </a:r>
            <a:endParaRPr lang="en-US" sz="850" dirty="0"/>
          </a:p>
        </p:txBody>
      </p:sp>
      <p:sp>
        <p:nvSpPr>
          <p:cNvPr id="24" name="Shape 22"/>
          <p:cNvSpPr/>
          <p:nvPr/>
        </p:nvSpPr>
        <p:spPr>
          <a:xfrm>
            <a:off x="6187288" y="1600200"/>
            <a:ext cx="2613584" cy="2240280"/>
          </a:xfrm>
          <a:prstGeom prst="roundRect">
            <a:avLst>
              <a:gd name="adj" fmla="val 4082"/>
            </a:avLst>
          </a:prstGeom>
          <a:solidFill>
            <a:srgbClr val="FFFFFF"/>
          </a:solidFill>
          <a:ln w="9525">
            <a:solidFill>
              <a:srgbClr val="D8D2C4"/>
            </a:solidFill>
            <a:prstDash val="solid"/>
          </a:ln>
        </p:spPr>
      </p:sp>
      <p:sp>
        <p:nvSpPr>
          <p:cNvPr id="25" name="Text 23"/>
          <p:cNvSpPr txBox="1"/>
          <p:nvPr/>
        </p:nvSpPr>
        <p:spPr>
          <a:xfrm>
            <a:off x="6351880" y="1719072"/>
            <a:ext cx="2284400" cy="292608"/>
          </a:xfrm>
          <a:prstGeom prst="rect">
            <a:avLst/>
          </a:prstGeom>
          <a:noFill/>
          <a:ln/>
        </p:spPr>
        <p:txBody>
          <a:bodyPr wrap="square" lIns="0" tIns="0" rIns="0" bIns="0" rtlCol="0" anchor="t"/>
          <a:lstStyle/>
          <a:p>
            <a:pPr indent="0" marL="0">
              <a:buNone/>
            </a:pPr>
            <a:r>
              <a:rPr lang="en-US" sz="1300" b="1" dirty="0">
                <a:solidFill>
                  <a:srgbClr val="B04A36"/>
                </a:solidFill>
                <a:latin typeface="Arial" pitchFamily="34" charset="0"/>
                <a:ea typeface="Arial" pitchFamily="34" charset="-122"/>
                <a:cs typeface="Arial" pitchFamily="34" charset="-120"/>
              </a:rPr>
              <a:t>Consistencia de la IA</a:t>
            </a:r>
            <a:endParaRPr lang="en-US" sz="1300" dirty="0"/>
          </a:p>
        </p:txBody>
      </p:sp>
      <p:sp>
        <p:nvSpPr>
          <p:cNvPr id="26" name="Text 24"/>
          <p:cNvSpPr txBox="1"/>
          <p:nvPr/>
        </p:nvSpPr>
        <p:spPr>
          <a:xfrm>
            <a:off x="6351880" y="2075688"/>
            <a:ext cx="2284400" cy="548640"/>
          </a:xfrm>
          <a:prstGeom prst="rect">
            <a:avLst/>
          </a:prstGeom>
          <a:noFill/>
          <a:ln/>
        </p:spPr>
        <p:txBody>
          <a:bodyPr wrap="square" lIns="0" tIns="0" rIns="0" bIns="0" rtlCol="0" anchor="t"/>
          <a:lstStyle/>
          <a:p>
            <a:pPr indent="0" marL="0">
              <a:buNone/>
            </a:pPr>
            <a:r>
              <a:rPr lang="en-US" sz="850" b="1" dirty="0">
                <a:solidFill>
                  <a:srgbClr val="6B7385"/>
                </a:solidFill>
                <a:latin typeface="Arial" pitchFamily="34" charset="0"/>
                <a:ea typeface="Arial" pitchFamily="34" charset="-122"/>
                <a:cs typeface="Arial" pitchFamily="34" charset="-120"/>
              </a:rPr>
              <a:t>IMPACTO  </a:t>
            </a:r>
            <a:pPr indent="0" marL="0">
              <a:buNone/>
            </a:pPr>
            <a:r>
              <a:rPr lang="en-US" sz="1050" dirty="0">
                <a:solidFill>
                  <a:srgbClr val="0B132B"/>
                </a:solidFill>
                <a:latin typeface="Arial" pitchFamily="34" charset="0"/>
                <a:ea typeface="Arial" pitchFamily="34" charset="-122"/>
                <a:cs typeface="Arial" pitchFamily="34" charset="-120"/>
              </a:rPr>
              <a:t>Paradas faltantes.</a:t>
            </a:r>
            <a:endParaRPr lang="en-US" sz="850" dirty="0"/>
          </a:p>
        </p:txBody>
      </p:sp>
      <p:sp>
        <p:nvSpPr>
          <p:cNvPr id="27" name="Text 25"/>
          <p:cNvSpPr txBox="1"/>
          <p:nvPr/>
        </p:nvSpPr>
        <p:spPr>
          <a:xfrm>
            <a:off x="6351880" y="2468880"/>
            <a:ext cx="2284400" cy="548640"/>
          </a:xfrm>
          <a:prstGeom prst="rect">
            <a:avLst/>
          </a:prstGeom>
          <a:noFill/>
          <a:ln/>
        </p:spPr>
        <p:txBody>
          <a:bodyPr wrap="square" lIns="0" tIns="0" rIns="0" bIns="0" rtlCol="0" anchor="t"/>
          <a:lstStyle/>
          <a:p>
            <a:pPr indent="0" marL="0">
              <a:buNone/>
            </a:pPr>
            <a:r>
              <a:rPr lang="en-US" sz="850" b="1" dirty="0">
                <a:solidFill>
                  <a:srgbClr val="6B7385"/>
                </a:solidFill>
                <a:latin typeface="Arial" pitchFamily="34" charset="0"/>
                <a:ea typeface="Arial" pitchFamily="34" charset="-122"/>
                <a:cs typeface="Arial" pitchFamily="34" charset="-120"/>
              </a:rPr>
              <a:t>EVIDENCIA  </a:t>
            </a:r>
            <a:pPr indent="0" marL="0">
              <a:buNone/>
            </a:pPr>
            <a:r>
              <a:rPr lang="en-US" sz="1050" dirty="0">
                <a:solidFill>
                  <a:srgbClr val="0B132B"/>
                </a:solidFill>
                <a:latin typeface="Arial" pitchFamily="34" charset="0"/>
                <a:ea typeface="Arial" pitchFamily="34" charset="-122"/>
                <a:cs typeface="Arial" pitchFamily="34" charset="-120"/>
              </a:rPr>
              <a:t>Con la misma información, la IA omitió una parada real en 4 de 5 intentos.</a:t>
            </a:r>
            <a:endParaRPr lang="en-US" sz="850" dirty="0"/>
          </a:p>
        </p:txBody>
      </p:sp>
      <p:sp>
        <p:nvSpPr>
          <p:cNvPr id="28" name="Text 26"/>
          <p:cNvSpPr txBox="1"/>
          <p:nvPr/>
        </p:nvSpPr>
        <p:spPr>
          <a:xfrm>
            <a:off x="6351880" y="3136392"/>
            <a:ext cx="2284400" cy="548640"/>
          </a:xfrm>
          <a:prstGeom prst="rect">
            <a:avLst/>
          </a:prstGeom>
          <a:noFill/>
          <a:ln/>
        </p:spPr>
        <p:txBody>
          <a:bodyPr wrap="square" lIns="0" tIns="0" rIns="0" bIns="0" rtlCol="0" anchor="t"/>
          <a:lstStyle/>
          <a:p>
            <a:pPr indent="0" marL="0">
              <a:buNone/>
            </a:pPr>
            <a:r>
              <a:rPr lang="en-US" sz="850" b="1" dirty="0">
                <a:solidFill>
                  <a:srgbClr val="6B7385"/>
                </a:solidFill>
                <a:latin typeface="Arial" pitchFamily="34" charset="0"/>
                <a:ea typeface="Arial" pitchFamily="34" charset="-122"/>
                <a:cs typeface="Arial" pitchFamily="34" charset="-120"/>
              </a:rPr>
              <a:t>PRÓXIMO  </a:t>
            </a:r>
            <a:pPr indent="0" marL="0">
              <a:buNone/>
            </a:pPr>
            <a:r>
              <a:rPr lang="en-US" sz="1050" dirty="0">
                <a:solidFill>
                  <a:srgbClr val="0B132B"/>
                </a:solidFill>
                <a:latin typeface="Arial" pitchFamily="34" charset="0"/>
                <a:ea typeface="Arial" pitchFamily="34" charset="-122"/>
                <a:cs typeface="Arial" pitchFamily="34" charset="-120"/>
              </a:rPr>
              <a:t>Set de pruebas fijo para medir y comparar.</a:t>
            </a:r>
            <a:endParaRPr lang="en-US" sz="850" dirty="0"/>
          </a:p>
        </p:txBody>
      </p:sp>
      <p:sp>
        <p:nvSpPr>
          <p:cNvPr id="29" name="Shape 27"/>
          <p:cNvSpPr/>
          <p:nvPr/>
        </p:nvSpPr>
        <p:spPr>
          <a:xfrm>
            <a:off x="8983751" y="1600200"/>
            <a:ext cx="2613584" cy="2240280"/>
          </a:xfrm>
          <a:prstGeom prst="roundRect">
            <a:avLst>
              <a:gd name="adj" fmla="val 4082"/>
            </a:avLst>
          </a:prstGeom>
          <a:solidFill>
            <a:srgbClr val="FFFFFF"/>
          </a:solidFill>
          <a:ln w="9525">
            <a:solidFill>
              <a:srgbClr val="D8D2C4"/>
            </a:solidFill>
            <a:prstDash val="solid"/>
          </a:ln>
        </p:spPr>
      </p:sp>
      <p:sp>
        <p:nvSpPr>
          <p:cNvPr id="30" name="Text 28"/>
          <p:cNvSpPr txBox="1"/>
          <p:nvPr/>
        </p:nvSpPr>
        <p:spPr>
          <a:xfrm>
            <a:off x="9148343" y="1719072"/>
            <a:ext cx="2284400" cy="292608"/>
          </a:xfrm>
          <a:prstGeom prst="rect">
            <a:avLst/>
          </a:prstGeom>
          <a:noFill/>
          <a:ln/>
        </p:spPr>
        <p:txBody>
          <a:bodyPr wrap="square" lIns="0" tIns="0" rIns="0" bIns="0" rtlCol="0" anchor="t"/>
          <a:lstStyle/>
          <a:p>
            <a:pPr indent="0" marL="0">
              <a:buNone/>
            </a:pPr>
            <a:r>
              <a:rPr lang="en-US" sz="1300" b="1" dirty="0">
                <a:solidFill>
                  <a:srgbClr val="B04A36"/>
                </a:solidFill>
                <a:latin typeface="Arial" pitchFamily="34" charset="0"/>
                <a:ea typeface="Arial" pitchFamily="34" charset="-122"/>
                <a:cs typeface="Arial" pitchFamily="34" charset="-120"/>
              </a:rPr>
              <a:t>Proveedores externos</a:t>
            </a:r>
            <a:endParaRPr lang="en-US" sz="1300" dirty="0"/>
          </a:p>
        </p:txBody>
      </p:sp>
      <p:sp>
        <p:nvSpPr>
          <p:cNvPr id="31" name="Text 29"/>
          <p:cNvSpPr txBox="1"/>
          <p:nvPr/>
        </p:nvSpPr>
        <p:spPr>
          <a:xfrm>
            <a:off x="9148343" y="2075688"/>
            <a:ext cx="2284400" cy="548640"/>
          </a:xfrm>
          <a:prstGeom prst="rect">
            <a:avLst/>
          </a:prstGeom>
          <a:noFill/>
          <a:ln/>
        </p:spPr>
        <p:txBody>
          <a:bodyPr wrap="square" lIns="0" tIns="0" rIns="0" bIns="0" rtlCol="0" anchor="t"/>
          <a:lstStyle/>
          <a:p>
            <a:pPr indent="0" marL="0">
              <a:buNone/>
            </a:pPr>
            <a:r>
              <a:rPr lang="en-US" sz="850" b="1" dirty="0">
                <a:solidFill>
                  <a:srgbClr val="6B7385"/>
                </a:solidFill>
                <a:latin typeface="Arial" pitchFamily="34" charset="0"/>
                <a:ea typeface="Arial" pitchFamily="34" charset="-122"/>
                <a:cs typeface="Arial" pitchFamily="34" charset="-120"/>
              </a:rPr>
              <a:t>IMPACTO  </a:t>
            </a:r>
            <a:pPr indent="0" marL="0">
              <a:buNone/>
            </a:pPr>
            <a:r>
              <a:rPr lang="en-US" sz="1050" dirty="0">
                <a:solidFill>
                  <a:srgbClr val="0B132B"/>
                </a:solidFill>
                <a:latin typeface="Arial" pitchFamily="34" charset="0"/>
                <a:ea typeface="Arial" pitchFamily="34" charset="-122"/>
                <a:cs typeface="Arial" pitchFamily="34" charset="-120"/>
              </a:rPr>
              <a:t>Latencia, cuotas y costo.</a:t>
            </a:r>
            <a:endParaRPr lang="en-US" sz="850" dirty="0"/>
          </a:p>
        </p:txBody>
      </p:sp>
      <p:sp>
        <p:nvSpPr>
          <p:cNvPr id="32" name="Text 30"/>
          <p:cNvSpPr txBox="1"/>
          <p:nvPr/>
        </p:nvSpPr>
        <p:spPr>
          <a:xfrm>
            <a:off x="9148343" y="2468880"/>
            <a:ext cx="2284400" cy="548640"/>
          </a:xfrm>
          <a:prstGeom prst="rect">
            <a:avLst/>
          </a:prstGeom>
          <a:noFill/>
          <a:ln/>
        </p:spPr>
        <p:txBody>
          <a:bodyPr wrap="square" lIns="0" tIns="0" rIns="0" bIns="0" rtlCol="0" anchor="t"/>
          <a:lstStyle/>
          <a:p>
            <a:pPr indent="0" marL="0">
              <a:buNone/>
            </a:pPr>
            <a:r>
              <a:rPr lang="en-US" sz="850" b="1" dirty="0">
                <a:solidFill>
                  <a:srgbClr val="6B7385"/>
                </a:solidFill>
                <a:latin typeface="Arial" pitchFamily="34" charset="0"/>
                <a:ea typeface="Arial" pitchFamily="34" charset="-122"/>
                <a:cs typeface="Arial" pitchFamily="34" charset="-120"/>
              </a:rPr>
              <a:t>EVIDENCIA  </a:t>
            </a:r>
            <a:pPr indent="0" marL="0">
              <a:buNone/>
            </a:pPr>
            <a:r>
              <a:rPr lang="en-US" sz="1050" dirty="0">
                <a:solidFill>
                  <a:srgbClr val="0B132B"/>
                </a:solidFill>
                <a:latin typeface="Arial" pitchFamily="34" charset="0"/>
                <a:ea typeface="Arial" pitchFamily="34" charset="-122"/>
                <a:cs typeface="Arial" pitchFamily="34" charset="-120"/>
              </a:rPr>
              <a:t>Un proveedor de IA agotó su cuota diaria; otro demoró más de 60 s en 1 de 5 intentos.</a:t>
            </a:r>
            <a:endParaRPr lang="en-US" sz="850" dirty="0"/>
          </a:p>
        </p:txBody>
      </p:sp>
      <p:sp>
        <p:nvSpPr>
          <p:cNvPr id="33" name="Text 31"/>
          <p:cNvSpPr txBox="1"/>
          <p:nvPr/>
        </p:nvSpPr>
        <p:spPr>
          <a:xfrm>
            <a:off x="9148343" y="3136392"/>
            <a:ext cx="2284400" cy="548640"/>
          </a:xfrm>
          <a:prstGeom prst="rect">
            <a:avLst/>
          </a:prstGeom>
          <a:noFill/>
          <a:ln/>
        </p:spPr>
        <p:txBody>
          <a:bodyPr wrap="square" lIns="0" tIns="0" rIns="0" bIns="0" rtlCol="0" anchor="t"/>
          <a:lstStyle/>
          <a:p>
            <a:pPr indent="0" marL="0">
              <a:buNone/>
            </a:pPr>
            <a:r>
              <a:rPr lang="en-US" sz="850" b="1" dirty="0">
                <a:solidFill>
                  <a:srgbClr val="6B7385"/>
                </a:solidFill>
                <a:latin typeface="Arial" pitchFamily="34" charset="0"/>
                <a:ea typeface="Arial" pitchFamily="34" charset="-122"/>
                <a:cs typeface="Arial" pitchFamily="34" charset="-120"/>
              </a:rPr>
              <a:t>PRÓXIMO  </a:t>
            </a:r>
            <a:pPr indent="0" marL="0">
              <a:buNone/>
            </a:pPr>
            <a:r>
              <a:rPr lang="en-US" sz="1050" dirty="0">
                <a:solidFill>
                  <a:srgbClr val="0B132B"/>
                </a:solidFill>
                <a:latin typeface="Arial" pitchFamily="34" charset="0"/>
                <a:ea typeface="Arial" pitchFamily="34" charset="-122"/>
                <a:cs typeface="Arial" pitchFamily="34" charset="-120"/>
              </a:rPr>
              <a:t>Medir costos; definir después un plan B con reglas claras.</a:t>
            </a:r>
            <a:endParaRPr lang="en-US" sz="850" dirty="0"/>
          </a:p>
        </p:txBody>
      </p:sp>
      <p:sp>
        <p:nvSpPr>
          <p:cNvPr id="34" name="Shape 32"/>
          <p:cNvSpPr/>
          <p:nvPr/>
        </p:nvSpPr>
        <p:spPr>
          <a:xfrm>
            <a:off x="594360" y="4005072"/>
            <a:ext cx="2613584" cy="2240280"/>
          </a:xfrm>
          <a:prstGeom prst="roundRect">
            <a:avLst>
              <a:gd name="adj" fmla="val 4082"/>
            </a:avLst>
          </a:prstGeom>
          <a:solidFill>
            <a:srgbClr val="FFFFFF"/>
          </a:solidFill>
          <a:ln w="9525">
            <a:solidFill>
              <a:srgbClr val="D8D2C4"/>
            </a:solidFill>
            <a:prstDash val="solid"/>
          </a:ln>
        </p:spPr>
      </p:sp>
      <p:sp>
        <p:nvSpPr>
          <p:cNvPr id="35" name="Text 33"/>
          <p:cNvSpPr txBox="1"/>
          <p:nvPr/>
        </p:nvSpPr>
        <p:spPr>
          <a:xfrm>
            <a:off x="758952" y="4123944"/>
            <a:ext cx="2284400" cy="292608"/>
          </a:xfrm>
          <a:prstGeom prst="rect">
            <a:avLst/>
          </a:prstGeom>
          <a:noFill/>
          <a:ln/>
        </p:spPr>
        <p:txBody>
          <a:bodyPr wrap="square" lIns="0" tIns="0" rIns="0" bIns="0" rtlCol="0" anchor="t"/>
          <a:lstStyle/>
          <a:p>
            <a:pPr indent="0" marL="0">
              <a:buNone/>
            </a:pPr>
            <a:r>
              <a:rPr lang="en-US" sz="1300" b="1" dirty="0">
                <a:solidFill>
                  <a:srgbClr val="B04A36"/>
                </a:solidFill>
                <a:latin typeface="Arial" pitchFamily="34" charset="0"/>
                <a:ea typeface="Arial" pitchFamily="34" charset="-122"/>
                <a:cs typeface="Arial" pitchFamily="34" charset="-120"/>
              </a:rPr>
              <a:t>Políticas de planificación</a:t>
            </a:r>
            <a:endParaRPr lang="en-US" sz="1300" dirty="0"/>
          </a:p>
        </p:txBody>
      </p:sp>
      <p:sp>
        <p:nvSpPr>
          <p:cNvPr id="36" name="Text 34"/>
          <p:cNvSpPr txBox="1"/>
          <p:nvPr/>
        </p:nvSpPr>
        <p:spPr>
          <a:xfrm>
            <a:off x="758952" y="4480560"/>
            <a:ext cx="2284400" cy="548640"/>
          </a:xfrm>
          <a:prstGeom prst="rect">
            <a:avLst/>
          </a:prstGeom>
          <a:noFill/>
          <a:ln/>
        </p:spPr>
        <p:txBody>
          <a:bodyPr wrap="square" lIns="0" tIns="0" rIns="0" bIns="0" rtlCol="0" anchor="t"/>
          <a:lstStyle/>
          <a:p>
            <a:pPr indent="0" marL="0">
              <a:buNone/>
            </a:pPr>
            <a:r>
              <a:rPr lang="en-US" sz="850" b="1" dirty="0">
                <a:solidFill>
                  <a:srgbClr val="6B7385"/>
                </a:solidFill>
                <a:latin typeface="Arial" pitchFamily="34" charset="0"/>
                <a:ea typeface="Arial" pitchFamily="34" charset="-122"/>
                <a:cs typeface="Arial" pitchFamily="34" charset="-120"/>
              </a:rPr>
              <a:t>IMPACTO  </a:t>
            </a:r>
            <a:pPr indent="0" marL="0">
              <a:buNone/>
            </a:pPr>
            <a:r>
              <a:rPr lang="en-US" sz="1050" dirty="0">
                <a:solidFill>
                  <a:srgbClr val="0B132B"/>
                </a:solidFill>
                <a:latin typeface="Arial" pitchFamily="34" charset="0"/>
                <a:ea typeface="Arial" pitchFamily="34" charset="-122"/>
                <a:cs typeface="Arial" pitchFamily="34" charset="-120"/>
              </a:rPr>
              <a:t>Restricciones vs. intención.</a:t>
            </a:r>
            <a:endParaRPr lang="en-US" sz="850" dirty="0"/>
          </a:p>
        </p:txBody>
      </p:sp>
      <p:sp>
        <p:nvSpPr>
          <p:cNvPr id="37" name="Text 35"/>
          <p:cNvSpPr txBox="1"/>
          <p:nvPr/>
        </p:nvSpPr>
        <p:spPr>
          <a:xfrm>
            <a:off x="758952" y="4873752"/>
            <a:ext cx="2284400" cy="548640"/>
          </a:xfrm>
          <a:prstGeom prst="rect">
            <a:avLst/>
          </a:prstGeom>
          <a:noFill/>
          <a:ln/>
        </p:spPr>
        <p:txBody>
          <a:bodyPr wrap="square" lIns="0" tIns="0" rIns="0" bIns="0" rtlCol="0" anchor="t"/>
          <a:lstStyle/>
          <a:p>
            <a:pPr indent="0" marL="0">
              <a:buNone/>
            </a:pPr>
            <a:r>
              <a:rPr lang="en-US" sz="850" b="1" dirty="0">
                <a:solidFill>
                  <a:srgbClr val="6B7385"/>
                </a:solidFill>
                <a:latin typeface="Arial" pitchFamily="34" charset="0"/>
                <a:ea typeface="Arial" pitchFamily="34" charset="-122"/>
                <a:cs typeface="Arial" pitchFamily="34" charset="-120"/>
              </a:rPr>
              <a:t>EVIDENCIA  </a:t>
            </a:r>
            <a:pPr indent="0" marL="0">
              <a:buNone/>
            </a:pPr>
            <a:r>
              <a:rPr lang="en-US" sz="1050" dirty="0">
                <a:solidFill>
                  <a:srgbClr val="0B132B"/>
                </a:solidFill>
                <a:latin typeface="Arial" pitchFamily="34" charset="0"/>
                <a:ea typeface="Arial" pitchFamily="34" charset="-122"/>
                <a:cs typeface="Arial" pitchFamily="34" charset="-120"/>
              </a:rPr>
              <a:t>Caminata descartada por límites de 5 km por día y 3 km seguidos.</a:t>
            </a:r>
            <a:endParaRPr lang="en-US" sz="850" dirty="0"/>
          </a:p>
        </p:txBody>
      </p:sp>
      <p:sp>
        <p:nvSpPr>
          <p:cNvPr id="38" name="Text 36"/>
          <p:cNvSpPr txBox="1"/>
          <p:nvPr/>
        </p:nvSpPr>
        <p:spPr>
          <a:xfrm>
            <a:off x="758952" y="5541264"/>
            <a:ext cx="2284400" cy="548640"/>
          </a:xfrm>
          <a:prstGeom prst="rect">
            <a:avLst/>
          </a:prstGeom>
          <a:noFill/>
          <a:ln/>
        </p:spPr>
        <p:txBody>
          <a:bodyPr wrap="square" lIns="0" tIns="0" rIns="0" bIns="0" rtlCol="0" anchor="t"/>
          <a:lstStyle/>
          <a:p>
            <a:pPr indent="0" marL="0">
              <a:buNone/>
            </a:pPr>
            <a:r>
              <a:rPr lang="en-US" sz="850" b="1" dirty="0">
                <a:solidFill>
                  <a:srgbClr val="6B7385"/>
                </a:solidFill>
                <a:latin typeface="Arial" pitchFamily="34" charset="0"/>
                <a:ea typeface="Arial" pitchFamily="34" charset="-122"/>
                <a:cs typeface="Arial" pitchFamily="34" charset="-120"/>
              </a:rPr>
              <a:t>PRÓXIMO  </a:t>
            </a:r>
            <a:pPr indent="0" marL="0">
              <a:buNone/>
            </a:pPr>
            <a:r>
              <a:rPr lang="en-US" sz="1050" dirty="0">
                <a:solidFill>
                  <a:srgbClr val="0B132B"/>
                </a:solidFill>
                <a:latin typeface="Arial" pitchFamily="34" charset="0"/>
                <a:ea typeface="Arial" pitchFamily="34" charset="-122"/>
                <a:cs typeface="Arial" pitchFamily="34" charset="-120"/>
              </a:rPr>
              <a:t>Diagnósticos ya auditables; decisión de producto pendiente.</a:t>
            </a:r>
            <a:endParaRPr lang="en-US" sz="850" dirty="0"/>
          </a:p>
        </p:txBody>
      </p:sp>
      <p:sp>
        <p:nvSpPr>
          <p:cNvPr id="39" name="Shape 37"/>
          <p:cNvSpPr/>
          <p:nvPr/>
        </p:nvSpPr>
        <p:spPr>
          <a:xfrm>
            <a:off x="3390824" y="4005072"/>
            <a:ext cx="2613584" cy="2240280"/>
          </a:xfrm>
          <a:prstGeom prst="roundRect">
            <a:avLst>
              <a:gd name="adj" fmla="val 4082"/>
            </a:avLst>
          </a:prstGeom>
          <a:solidFill>
            <a:srgbClr val="FFFFFF"/>
          </a:solidFill>
          <a:ln w="9525">
            <a:solidFill>
              <a:srgbClr val="D8D2C4"/>
            </a:solidFill>
            <a:prstDash val="solid"/>
          </a:ln>
        </p:spPr>
      </p:sp>
      <p:sp>
        <p:nvSpPr>
          <p:cNvPr id="40" name="Text 38"/>
          <p:cNvSpPr txBox="1"/>
          <p:nvPr/>
        </p:nvSpPr>
        <p:spPr>
          <a:xfrm>
            <a:off x="3555416" y="4123944"/>
            <a:ext cx="2284400" cy="292608"/>
          </a:xfrm>
          <a:prstGeom prst="rect">
            <a:avLst/>
          </a:prstGeom>
          <a:noFill/>
          <a:ln/>
        </p:spPr>
        <p:txBody>
          <a:bodyPr wrap="square" lIns="0" tIns="0" rIns="0" bIns="0" rtlCol="0" anchor="t"/>
          <a:lstStyle/>
          <a:p>
            <a:pPr indent="0" marL="0">
              <a:buNone/>
            </a:pPr>
            <a:r>
              <a:rPr lang="en-US" sz="1300" b="1" dirty="0">
                <a:solidFill>
                  <a:srgbClr val="B04A36"/>
                </a:solidFill>
                <a:latin typeface="Arial" pitchFamily="34" charset="0"/>
                <a:ea typeface="Arial" pitchFamily="34" charset="-122"/>
                <a:cs typeface="Arial" pitchFamily="34" charset="-120"/>
              </a:rPr>
              <a:t>Generalización</a:t>
            </a:r>
            <a:endParaRPr lang="en-US" sz="1300" dirty="0"/>
          </a:p>
        </p:txBody>
      </p:sp>
      <p:sp>
        <p:nvSpPr>
          <p:cNvPr id="41" name="Text 39"/>
          <p:cNvSpPr txBox="1"/>
          <p:nvPr/>
        </p:nvSpPr>
        <p:spPr>
          <a:xfrm>
            <a:off x="3555416" y="4480560"/>
            <a:ext cx="2284400" cy="548640"/>
          </a:xfrm>
          <a:prstGeom prst="rect">
            <a:avLst/>
          </a:prstGeom>
          <a:noFill/>
          <a:ln/>
        </p:spPr>
        <p:txBody>
          <a:bodyPr wrap="square" lIns="0" tIns="0" rIns="0" bIns="0" rtlCol="0" anchor="t"/>
          <a:lstStyle/>
          <a:p>
            <a:pPr indent="0" marL="0">
              <a:buNone/>
            </a:pPr>
            <a:r>
              <a:rPr lang="en-US" sz="850" b="1" dirty="0">
                <a:solidFill>
                  <a:srgbClr val="6B7385"/>
                </a:solidFill>
                <a:latin typeface="Arial" pitchFamily="34" charset="0"/>
                <a:ea typeface="Arial" pitchFamily="34" charset="-122"/>
                <a:cs typeface="Arial" pitchFamily="34" charset="-120"/>
              </a:rPr>
              <a:t>IMPACTO  </a:t>
            </a:r>
            <a:pPr indent="0" marL="0">
              <a:buNone/>
            </a:pPr>
            <a:r>
              <a:rPr lang="en-US" sz="1050" dirty="0">
                <a:solidFill>
                  <a:srgbClr val="0B132B"/>
                </a:solidFill>
                <a:latin typeface="Arial" pitchFamily="34" charset="0"/>
                <a:ea typeface="Arial" pitchFamily="34" charset="-122"/>
                <a:cs typeface="Arial" pitchFamily="34" charset="-120"/>
              </a:rPr>
              <a:t>Tesis probada solo en Buenos Aires.</a:t>
            </a:r>
            <a:endParaRPr lang="en-US" sz="850" dirty="0"/>
          </a:p>
        </p:txBody>
      </p:sp>
      <p:sp>
        <p:nvSpPr>
          <p:cNvPr id="42" name="Text 40"/>
          <p:cNvSpPr txBox="1"/>
          <p:nvPr/>
        </p:nvSpPr>
        <p:spPr>
          <a:xfrm>
            <a:off x="3555416" y="4873752"/>
            <a:ext cx="2284400" cy="548640"/>
          </a:xfrm>
          <a:prstGeom prst="rect">
            <a:avLst/>
          </a:prstGeom>
          <a:noFill/>
          <a:ln/>
        </p:spPr>
        <p:txBody>
          <a:bodyPr wrap="square" lIns="0" tIns="0" rIns="0" bIns="0" rtlCol="0" anchor="t"/>
          <a:lstStyle/>
          <a:p>
            <a:pPr indent="0" marL="0">
              <a:buNone/>
            </a:pPr>
            <a:r>
              <a:rPr lang="en-US" sz="850" b="1" dirty="0">
                <a:solidFill>
                  <a:srgbClr val="6B7385"/>
                </a:solidFill>
                <a:latin typeface="Arial" pitchFamily="34" charset="0"/>
                <a:ea typeface="Arial" pitchFamily="34" charset="-122"/>
                <a:cs typeface="Arial" pitchFamily="34" charset="-120"/>
              </a:rPr>
              <a:t>EVIDENCIA  </a:t>
            </a:r>
            <a:pPr indent="0" marL="0">
              <a:buNone/>
            </a:pPr>
            <a:r>
              <a:rPr lang="en-US" sz="1050" dirty="0">
                <a:solidFill>
                  <a:srgbClr val="0B132B"/>
                </a:solidFill>
                <a:latin typeface="Arial" pitchFamily="34" charset="0"/>
                <a:ea typeface="Arial" pitchFamily="34" charset="-122"/>
                <a:cs typeface="Arial" pitchFamily="34" charset="-120"/>
              </a:rPr>
              <a:t>Todos los casos reales hasta ahora son de Buenos Aires.</a:t>
            </a:r>
            <a:endParaRPr lang="en-US" sz="850" dirty="0"/>
          </a:p>
        </p:txBody>
      </p:sp>
      <p:sp>
        <p:nvSpPr>
          <p:cNvPr id="43" name="Text 41"/>
          <p:cNvSpPr txBox="1"/>
          <p:nvPr/>
        </p:nvSpPr>
        <p:spPr>
          <a:xfrm>
            <a:off x="3555416" y="5541264"/>
            <a:ext cx="2284400" cy="548640"/>
          </a:xfrm>
          <a:prstGeom prst="rect">
            <a:avLst/>
          </a:prstGeom>
          <a:noFill/>
          <a:ln/>
        </p:spPr>
        <p:txBody>
          <a:bodyPr wrap="square" lIns="0" tIns="0" rIns="0" bIns="0" rtlCol="0" anchor="t"/>
          <a:lstStyle/>
          <a:p>
            <a:pPr indent="0" marL="0">
              <a:buNone/>
            </a:pPr>
            <a:r>
              <a:rPr lang="en-US" sz="850" b="1" dirty="0">
                <a:solidFill>
                  <a:srgbClr val="6B7385"/>
                </a:solidFill>
                <a:latin typeface="Arial" pitchFamily="34" charset="0"/>
                <a:ea typeface="Arial" pitchFamily="34" charset="-122"/>
                <a:cs typeface="Arial" pitchFamily="34" charset="-120"/>
              </a:rPr>
              <a:t>PRÓXIMO  </a:t>
            </a:r>
            <a:pPr indent="0" marL="0">
              <a:buNone/>
            </a:pPr>
            <a:r>
              <a:rPr lang="en-US" sz="1050" dirty="0">
                <a:solidFill>
                  <a:srgbClr val="0B132B"/>
                </a:solidFill>
                <a:latin typeface="Arial" pitchFamily="34" charset="0"/>
                <a:ea typeface="Arial" pitchFamily="34" charset="-122"/>
                <a:cs typeface="Arial" pitchFamily="34" charset="-120"/>
              </a:rPr>
              <a:t>Probar una ruta, una región, otra ciudad y un caso negativo.</a:t>
            </a:r>
            <a:endParaRPr lang="en-US" sz="850" dirty="0"/>
          </a:p>
        </p:txBody>
      </p:sp>
      <p:sp>
        <p:nvSpPr>
          <p:cNvPr id="44" name="Shape 42"/>
          <p:cNvSpPr/>
          <p:nvPr/>
        </p:nvSpPr>
        <p:spPr>
          <a:xfrm>
            <a:off x="6187288" y="4005072"/>
            <a:ext cx="2613584" cy="2240280"/>
          </a:xfrm>
          <a:prstGeom prst="roundRect">
            <a:avLst>
              <a:gd name="adj" fmla="val 4082"/>
            </a:avLst>
          </a:prstGeom>
          <a:solidFill>
            <a:srgbClr val="FFFFFF"/>
          </a:solidFill>
          <a:ln w="9525">
            <a:solidFill>
              <a:srgbClr val="D8D2C4"/>
            </a:solidFill>
            <a:prstDash val="solid"/>
          </a:ln>
        </p:spPr>
      </p:sp>
      <p:sp>
        <p:nvSpPr>
          <p:cNvPr id="45" name="Text 43"/>
          <p:cNvSpPr txBox="1"/>
          <p:nvPr/>
        </p:nvSpPr>
        <p:spPr>
          <a:xfrm>
            <a:off x="6351880" y="4123944"/>
            <a:ext cx="2284400" cy="292608"/>
          </a:xfrm>
          <a:prstGeom prst="rect">
            <a:avLst/>
          </a:prstGeom>
          <a:noFill/>
          <a:ln/>
        </p:spPr>
        <p:txBody>
          <a:bodyPr wrap="square" lIns="0" tIns="0" rIns="0" bIns="0" rtlCol="0" anchor="t"/>
          <a:lstStyle/>
          <a:p>
            <a:pPr indent="0" marL="0">
              <a:buNone/>
            </a:pPr>
            <a:r>
              <a:rPr lang="en-US" sz="1300" b="1" dirty="0">
                <a:solidFill>
                  <a:srgbClr val="B04A36"/>
                </a:solidFill>
                <a:latin typeface="Arial" pitchFamily="34" charset="0"/>
                <a:ea typeface="Arial" pitchFamily="34" charset="-122"/>
                <a:cs typeface="Arial" pitchFamily="34" charset="-120"/>
              </a:rPr>
              <a:t>Tiempo y costo</a:t>
            </a:r>
            <a:endParaRPr lang="en-US" sz="1300" dirty="0"/>
          </a:p>
        </p:txBody>
      </p:sp>
      <p:sp>
        <p:nvSpPr>
          <p:cNvPr id="46" name="Text 44"/>
          <p:cNvSpPr txBox="1"/>
          <p:nvPr/>
        </p:nvSpPr>
        <p:spPr>
          <a:xfrm>
            <a:off x="6351880" y="4480560"/>
            <a:ext cx="2284400" cy="548640"/>
          </a:xfrm>
          <a:prstGeom prst="rect">
            <a:avLst/>
          </a:prstGeom>
          <a:noFill/>
          <a:ln/>
        </p:spPr>
        <p:txBody>
          <a:bodyPr wrap="square" lIns="0" tIns="0" rIns="0" bIns="0" rtlCol="0" anchor="t"/>
          <a:lstStyle/>
          <a:p>
            <a:pPr indent="0" marL="0">
              <a:buNone/>
            </a:pPr>
            <a:r>
              <a:rPr lang="en-US" sz="850" b="1" dirty="0">
                <a:solidFill>
                  <a:srgbClr val="6B7385"/>
                </a:solidFill>
                <a:latin typeface="Arial" pitchFamily="34" charset="0"/>
                <a:ea typeface="Arial" pitchFamily="34" charset="-122"/>
                <a:cs typeface="Arial" pitchFamily="34" charset="-120"/>
              </a:rPr>
              <a:t>IMPACTO  </a:t>
            </a:r>
            <a:pPr indent="0" marL="0">
              <a:buNone/>
            </a:pPr>
            <a:r>
              <a:rPr lang="en-US" sz="1050" dirty="0">
                <a:solidFill>
                  <a:srgbClr val="0B132B"/>
                </a:solidFill>
                <a:latin typeface="Arial" pitchFamily="34" charset="0"/>
                <a:ea typeface="Arial" pitchFamily="34" charset="-122"/>
                <a:cs typeface="Arial" pitchFamily="34" charset="-120"/>
              </a:rPr>
              <a:t>Investigar de cero es caro.</a:t>
            </a:r>
            <a:endParaRPr lang="en-US" sz="850" dirty="0"/>
          </a:p>
        </p:txBody>
      </p:sp>
      <p:sp>
        <p:nvSpPr>
          <p:cNvPr id="47" name="Text 45"/>
          <p:cNvSpPr txBox="1"/>
          <p:nvPr/>
        </p:nvSpPr>
        <p:spPr>
          <a:xfrm>
            <a:off x="6351880" y="4873752"/>
            <a:ext cx="2284400" cy="548640"/>
          </a:xfrm>
          <a:prstGeom prst="rect">
            <a:avLst/>
          </a:prstGeom>
          <a:noFill/>
          <a:ln/>
        </p:spPr>
        <p:txBody>
          <a:bodyPr wrap="square" lIns="0" tIns="0" rIns="0" bIns="0" rtlCol="0" anchor="t"/>
          <a:lstStyle/>
          <a:p>
            <a:pPr indent="0" marL="0">
              <a:buNone/>
            </a:pPr>
            <a:r>
              <a:rPr lang="en-US" sz="850" b="1" dirty="0">
                <a:solidFill>
                  <a:srgbClr val="6B7385"/>
                </a:solidFill>
                <a:latin typeface="Arial" pitchFamily="34" charset="0"/>
                <a:ea typeface="Arial" pitchFamily="34" charset="-122"/>
                <a:cs typeface="Arial" pitchFamily="34" charset="-120"/>
              </a:rPr>
              <a:t>EVIDENCIA  </a:t>
            </a:r>
            <a:pPr indent="0" marL="0">
              <a:buNone/>
            </a:pPr>
            <a:r>
              <a:rPr lang="en-US" sz="1050" dirty="0">
                <a:solidFill>
                  <a:srgbClr val="0B132B"/>
                </a:solidFill>
                <a:latin typeface="Arial" pitchFamily="34" charset="0"/>
                <a:ea typeface="Arial" pitchFamily="34" charset="-122"/>
                <a:cs typeface="Arial" pitchFamily="34" charset="-120"/>
              </a:rPr>
              <a:t>Primera vez unos 4 min; reutilizando, 34 s (entorno de pruebas, una medición).</a:t>
            </a:r>
            <a:endParaRPr lang="en-US" sz="850" dirty="0"/>
          </a:p>
        </p:txBody>
      </p:sp>
      <p:sp>
        <p:nvSpPr>
          <p:cNvPr id="48" name="Text 46"/>
          <p:cNvSpPr txBox="1"/>
          <p:nvPr/>
        </p:nvSpPr>
        <p:spPr>
          <a:xfrm>
            <a:off x="6351880" y="5541264"/>
            <a:ext cx="2284400" cy="548640"/>
          </a:xfrm>
          <a:prstGeom prst="rect">
            <a:avLst/>
          </a:prstGeom>
          <a:noFill/>
          <a:ln/>
        </p:spPr>
        <p:txBody>
          <a:bodyPr wrap="square" lIns="0" tIns="0" rIns="0" bIns="0" rtlCol="0" anchor="t"/>
          <a:lstStyle/>
          <a:p>
            <a:pPr indent="0" marL="0">
              <a:buNone/>
            </a:pPr>
            <a:r>
              <a:rPr lang="en-US" sz="850" b="1" dirty="0">
                <a:solidFill>
                  <a:srgbClr val="6B7385"/>
                </a:solidFill>
                <a:latin typeface="Arial" pitchFamily="34" charset="0"/>
                <a:ea typeface="Arial" pitchFamily="34" charset="-122"/>
                <a:cs typeface="Arial" pitchFamily="34" charset="-120"/>
              </a:rPr>
              <a:t>PRÓXIMO  </a:t>
            </a:r>
            <a:pPr indent="0" marL="0">
              <a:buNone/>
            </a:pPr>
            <a:r>
              <a:rPr lang="en-US" sz="1050" dirty="0">
                <a:solidFill>
                  <a:srgbClr val="0B132B"/>
                </a:solidFill>
                <a:latin typeface="Arial" pitchFamily="34" charset="0"/>
                <a:ea typeface="Arial" pitchFamily="34" charset="-122"/>
                <a:cs typeface="Arial" pitchFamily="34" charset="-120"/>
              </a:rPr>
              <a:t>Medir tiempo y costo por plan en condiciones reales.</a:t>
            </a:r>
            <a:endParaRPr lang="en-US" sz="850" dirty="0"/>
          </a:p>
        </p:txBody>
      </p:sp>
      <p:sp>
        <p:nvSpPr>
          <p:cNvPr id="49" name="Shape 47"/>
          <p:cNvSpPr/>
          <p:nvPr/>
        </p:nvSpPr>
        <p:spPr>
          <a:xfrm>
            <a:off x="8983751" y="4005072"/>
            <a:ext cx="2613584" cy="2240280"/>
          </a:xfrm>
          <a:prstGeom prst="roundRect">
            <a:avLst>
              <a:gd name="adj" fmla="val 4082"/>
            </a:avLst>
          </a:prstGeom>
          <a:solidFill>
            <a:srgbClr val="0B132B"/>
          </a:solidFill>
          <a:ln w="9525">
            <a:solidFill>
              <a:srgbClr val="0B132B"/>
            </a:solidFill>
            <a:prstDash val="solid"/>
          </a:ln>
        </p:spPr>
      </p:sp>
      <p:sp>
        <p:nvSpPr>
          <p:cNvPr id="50" name="Text 48"/>
          <p:cNvSpPr txBox="1"/>
          <p:nvPr/>
        </p:nvSpPr>
        <p:spPr>
          <a:xfrm>
            <a:off x="9166631" y="4005072"/>
            <a:ext cx="2247824" cy="2240280"/>
          </a:xfrm>
          <a:prstGeom prst="rect">
            <a:avLst/>
          </a:prstGeom>
          <a:noFill/>
          <a:ln/>
        </p:spPr>
        <p:txBody>
          <a:bodyPr wrap="square" lIns="0" tIns="0" rIns="0" bIns="0" rtlCol="0" anchor="ctr"/>
          <a:lstStyle/>
          <a:p>
            <a:pPr indent="0" marL="0">
              <a:buNone/>
            </a:pPr>
            <a:r>
              <a:rPr lang="en-US" sz="1350" b="1" dirty="0">
                <a:solidFill>
                  <a:srgbClr val="FFFFFF"/>
                </a:solidFill>
                <a:latin typeface="Arial" pitchFamily="34" charset="0"/>
                <a:ea typeface="Arial" pitchFamily="34" charset="-122"/>
                <a:cs typeface="Arial" pitchFamily="34" charset="-120"/>
              </a:rPr>
              <a:t>Ninguno invalida la idea. Son riesgos de calidad, alcance y costo que el roadmap ataca en orden.</a:t>
            </a:r>
            <a:endParaRPr lang="en-US" sz="13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5F1E8"/>
        </a:solidFill>
      </p:bgPr>
    </p:bg>
    <p:spTree>
      <p:nvGrpSpPr>
        <p:cNvPr id="1" name=""/>
        <p:cNvGrpSpPr/>
        <p:nvPr/>
      </p:nvGrpSpPr>
      <p:grpSpPr>
        <a:xfrm>
          <a:off x="0" y="0"/>
          <a:ext cx="0" cy="0"/>
          <a:chOff x="0" y="0"/>
          <a:chExt cx="0" cy="0"/>
        </a:xfrm>
      </p:grpSpPr>
      <p:sp>
        <p:nvSpPr>
          <p:cNvPr id="2" name="Shape 0"/>
          <p:cNvSpPr/>
          <p:nvPr/>
        </p:nvSpPr>
        <p:spPr>
          <a:xfrm flipV="1">
            <a:off x="594360" y="384048"/>
            <a:ext cx="120701" cy="98755"/>
          </a:xfrm>
          <a:prstGeom prst="line">
            <a:avLst/>
          </a:prstGeom>
          <a:noFill/>
          <a:ln w="22225">
            <a:solidFill>
              <a:srgbClr val="5BC0BE"/>
            </a:solidFill>
            <a:prstDash val="solid"/>
          </a:ln>
        </p:spPr>
      </p:sp>
      <p:sp>
        <p:nvSpPr>
          <p:cNvPr id="3" name="Shape 1"/>
          <p:cNvSpPr/>
          <p:nvPr/>
        </p:nvSpPr>
        <p:spPr>
          <a:xfrm>
            <a:off x="715061" y="384048"/>
            <a:ext cx="120701" cy="98755"/>
          </a:xfrm>
          <a:prstGeom prst="line">
            <a:avLst/>
          </a:prstGeom>
          <a:noFill/>
          <a:ln w="22225">
            <a:solidFill>
              <a:srgbClr val="5BC0BE"/>
            </a:solidFill>
            <a:prstDash val="solid"/>
          </a:ln>
        </p:spPr>
      </p:sp>
      <p:sp>
        <p:nvSpPr>
          <p:cNvPr id="4" name="Shape 2"/>
          <p:cNvSpPr/>
          <p:nvPr/>
        </p:nvSpPr>
        <p:spPr>
          <a:xfrm flipV="1">
            <a:off x="835762" y="384048"/>
            <a:ext cx="120701" cy="98755"/>
          </a:xfrm>
          <a:prstGeom prst="line">
            <a:avLst/>
          </a:prstGeom>
          <a:noFill/>
          <a:ln w="22225">
            <a:solidFill>
              <a:srgbClr val="5BC0BE"/>
            </a:solidFill>
            <a:prstDash val="solid"/>
          </a:ln>
        </p:spPr>
      </p:sp>
      <p:sp>
        <p:nvSpPr>
          <p:cNvPr id="5" name="Shape 3"/>
          <p:cNvSpPr/>
          <p:nvPr/>
        </p:nvSpPr>
        <p:spPr>
          <a:xfrm>
            <a:off x="566928" y="455371"/>
            <a:ext cx="54864" cy="54864"/>
          </a:xfrm>
          <a:prstGeom prst="ellipse">
            <a:avLst/>
          </a:prstGeom>
          <a:solidFill>
            <a:srgbClr val="5BC0BE"/>
          </a:solidFill>
          <a:ln w="12700">
            <a:solidFill>
              <a:srgbClr val="5BC0BE"/>
            </a:solidFill>
            <a:prstDash val="solid"/>
          </a:ln>
        </p:spPr>
      </p:sp>
      <p:sp>
        <p:nvSpPr>
          <p:cNvPr id="6" name="Shape 4"/>
          <p:cNvSpPr/>
          <p:nvPr/>
        </p:nvSpPr>
        <p:spPr>
          <a:xfrm>
            <a:off x="687629" y="356616"/>
            <a:ext cx="54864" cy="54864"/>
          </a:xfrm>
          <a:prstGeom prst="ellipse">
            <a:avLst/>
          </a:prstGeom>
          <a:solidFill>
            <a:srgbClr val="5BC0BE"/>
          </a:solidFill>
          <a:ln w="12700">
            <a:solidFill>
              <a:srgbClr val="5BC0BE"/>
            </a:solidFill>
            <a:prstDash val="solid"/>
          </a:ln>
        </p:spPr>
      </p:sp>
      <p:sp>
        <p:nvSpPr>
          <p:cNvPr id="7" name="Shape 5"/>
          <p:cNvSpPr/>
          <p:nvPr/>
        </p:nvSpPr>
        <p:spPr>
          <a:xfrm>
            <a:off x="808330" y="455371"/>
            <a:ext cx="54864" cy="54864"/>
          </a:xfrm>
          <a:prstGeom prst="ellipse">
            <a:avLst/>
          </a:prstGeom>
          <a:solidFill>
            <a:srgbClr val="5BC0BE"/>
          </a:solidFill>
          <a:ln w="12700">
            <a:solidFill>
              <a:srgbClr val="5BC0BE"/>
            </a:solidFill>
            <a:prstDash val="solid"/>
          </a:ln>
        </p:spPr>
      </p:sp>
      <p:sp>
        <p:nvSpPr>
          <p:cNvPr id="8" name="Shape 6"/>
          <p:cNvSpPr/>
          <p:nvPr/>
        </p:nvSpPr>
        <p:spPr>
          <a:xfrm>
            <a:off x="929030" y="356616"/>
            <a:ext cx="54864" cy="54864"/>
          </a:xfrm>
          <a:prstGeom prst="ellipse">
            <a:avLst/>
          </a:prstGeom>
          <a:solidFill>
            <a:srgbClr val="5BC0BE"/>
          </a:solidFill>
          <a:ln w="12700">
            <a:solidFill>
              <a:srgbClr val="5BC0BE"/>
            </a:solidFill>
            <a:prstDash val="solid"/>
          </a:ln>
        </p:spPr>
      </p:sp>
      <p:sp>
        <p:nvSpPr>
          <p:cNvPr id="9" name="Shape 7"/>
          <p:cNvSpPr/>
          <p:nvPr/>
        </p:nvSpPr>
        <p:spPr>
          <a:xfrm>
            <a:off x="1143000" y="329184"/>
            <a:ext cx="786384" cy="274320"/>
          </a:xfrm>
          <a:prstGeom prst="roundRect">
            <a:avLst>
              <a:gd name="adj" fmla="val 50000"/>
            </a:avLst>
          </a:prstGeom>
          <a:solidFill>
            <a:srgbClr val="E8E0F3"/>
          </a:solidFill>
          <a:ln w="12700">
            <a:solidFill>
              <a:srgbClr val="E8E0F3"/>
            </a:solidFill>
            <a:prstDash val="solid"/>
          </a:ln>
        </p:spPr>
      </p:sp>
      <p:sp>
        <p:nvSpPr>
          <p:cNvPr id="10" name="Text 8"/>
          <p:cNvSpPr txBox="1"/>
          <p:nvPr/>
        </p:nvSpPr>
        <p:spPr>
          <a:xfrm>
            <a:off x="1143000" y="329184"/>
            <a:ext cx="786384" cy="274320"/>
          </a:xfrm>
          <a:prstGeom prst="rect">
            <a:avLst/>
          </a:prstGeom>
          <a:noFill/>
          <a:ln/>
        </p:spPr>
        <p:txBody>
          <a:bodyPr wrap="square" lIns="0" tIns="0" rIns="0" bIns="0" rtlCol="0" anchor="ctr"/>
          <a:lstStyle/>
          <a:p>
            <a:pPr algn="ctr" indent="0" marL="0">
              <a:buNone/>
            </a:pPr>
            <a:r>
              <a:rPr lang="en-US" sz="900" b="1" spc="150" kern="0" dirty="0">
                <a:solidFill>
                  <a:srgbClr val="6B4FA0"/>
                </a:solidFill>
                <a:latin typeface="Arial" pitchFamily="34" charset="0"/>
                <a:ea typeface="Arial" pitchFamily="34" charset="-122"/>
                <a:cs typeface="Arial" pitchFamily="34" charset="-120"/>
              </a:rPr>
              <a:t>FUTURO</a:t>
            </a:r>
            <a:endParaRPr lang="en-US" sz="900" dirty="0"/>
          </a:p>
        </p:txBody>
      </p:sp>
      <p:sp>
        <p:nvSpPr>
          <p:cNvPr id="11" name="Text 9"/>
          <p:cNvSpPr txBox="1"/>
          <p:nvPr/>
        </p:nvSpPr>
        <p:spPr>
          <a:xfrm>
            <a:off x="594360" y="777240"/>
            <a:ext cx="11002975" cy="731520"/>
          </a:xfrm>
          <a:prstGeom prst="rect">
            <a:avLst/>
          </a:prstGeom>
          <a:noFill/>
          <a:ln/>
        </p:spPr>
        <p:txBody>
          <a:bodyPr wrap="square" lIns="0" tIns="0" rIns="0" bIns="0" rtlCol="0" anchor="t"/>
          <a:lstStyle/>
          <a:p>
            <a:pPr indent="0" marL="0">
              <a:buNone/>
            </a:pPr>
            <a:r>
              <a:rPr lang="en-US" sz="3000" b="1" dirty="0">
                <a:solidFill>
                  <a:srgbClr val="0B132B"/>
                </a:solidFill>
                <a:latin typeface="Arial" pitchFamily="34" charset="0"/>
                <a:ea typeface="Arial" pitchFamily="34" charset="-122"/>
                <a:cs typeface="Arial" pitchFamily="34" charset="-120"/>
              </a:rPr>
              <a:t>Roadmap en cuatro horizontes</a:t>
            </a:r>
            <a:endParaRPr lang="en-US" sz="3000" dirty="0"/>
          </a:p>
        </p:txBody>
      </p:sp>
      <p:sp>
        <p:nvSpPr>
          <p:cNvPr id="12" name="Text 10"/>
          <p:cNvSpPr txBox="1"/>
          <p:nvPr/>
        </p:nvSpPr>
        <p:spPr>
          <a:xfrm>
            <a:off x="594360" y="6473952"/>
            <a:ext cx="7315200" cy="182880"/>
          </a:xfrm>
          <a:prstGeom prst="rect">
            <a:avLst/>
          </a:prstGeom>
          <a:noFill/>
          <a:ln/>
        </p:spPr>
        <p:txBody>
          <a:bodyPr wrap="square" lIns="0" tIns="0" rIns="0" bIns="0" rtlCol="0" anchor="t"/>
          <a:lstStyle/>
          <a:p>
            <a:pPr indent="0" marL="0">
              <a:buNone/>
            </a:pPr>
            <a:r>
              <a:rPr lang="en-US" sz="850" dirty="0">
                <a:solidFill>
                  <a:srgbClr val="6B7385"/>
                </a:solidFill>
                <a:latin typeface="Arial" pitchFamily="34" charset="0"/>
                <a:ea typeface="Arial" pitchFamily="34" charset="-122"/>
                <a:cs typeface="Arial" pitchFamily="34" charset="-120"/>
              </a:rPr>
              <a:t>Zig-Zag · Business, Product &amp; Strategy Update · Septiembre 2026</a:t>
            </a:r>
            <a:endParaRPr lang="en-US" sz="850" dirty="0"/>
          </a:p>
        </p:txBody>
      </p:sp>
      <p:sp>
        <p:nvSpPr>
          <p:cNvPr id="13" name="Text 11"/>
          <p:cNvSpPr txBox="1"/>
          <p:nvPr/>
        </p:nvSpPr>
        <p:spPr>
          <a:xfrm>
            <a:off x="11048695" y="6473952"/>
            <a:ext cx="548640" cy="182880"/>
          </a:xfrm>
          <a:prstGeom prst="rect">
            <a:avLst/>
          </a:prstGeom>
          <a:noFill/>
          <a:ln/>
        </p:spPr>
        <p:txBody>
          <a:bodyPr wrap="square" lIns="0" tIns="0" rIns="0" bIns="0" rtlCol="0" anchor="t"/>
          <a:lstStyle/>
          <a:p>
            <a:pPr algn="r" indent="0" marL="0">
              <a:buNone/>
            </a:pPr>
            <a:r>
              <a:rPr lang="en-US" sz="850" dirty="0">
                <a:solidFill>
                  <a:srgbClr val="6B7385"/>
                </a:solidFill>
                <a:latin typeface="Arial" pitchFamily="34" charset="0"/>
                <a:ea typeface="Arial" pitchFamily="34" charset="-122"/>
                <a:cs typeface="Arial" pitchFamily="34" charset="-120"/>
              </a:rPr>
              <a:t>18</a:t>
            </a:r>
            <a:endParaRPr lang="en-US" sz="850" dirty="0"/>
          </a:p>
        </p:txBody>
      </p:sp>
      <p:sp>
        <p:nvSpPr>
          <p:cNvPr id="14" name="Shape 12"/>
          <p:cNvSpPr/>
          <p:nvPr/>
        </p:nvSpPr>
        <p:spPr>
          <a:xfrm>
            <a:off x="594360" y="1600200"/>
            <a:ext cx="2613584" cy="868680"/>
          </a:xfrm>
          <a:prstGeom prst="rect">
            <a:avLst/>
          </a:prstGeom>
          <a:solidFill>
            <a:srgbClr val="5BC0BE"/>
          </a:solidFill>
          <a:ln w="9525">
            <a:solidFill>
              <a:srgbClr val="5BC0BE"/>
            </a:solidFill>
            <a:prstDash val="solid"/>
          </a:ln>
        </p:spPr>
      </p:sp>
      <p:sp>
        <p:nvSpPr>
          <p:cNvPr id="15" name="Text 13"/>
          <p:cNvSpPr txBox="1"/>
          <p:nvPr/>
        </p:nvSpPr>
        <p:spPr>
          <a:xfrm>
            <a:off x="758952" y="1691640"/>
            <a:ext cx="2339264" cy="228600"/>
          </a:xfrm>
          <a:prstGeom prst="rect">
            <a:avLst/>
          </a:prstGeom>
          <a:noFill/>
          <a:ln/>
        </p:spPr>
        <p:txBody>
          <a:bodyPr wrap="square" lIns="0" tIns="0" rIns="0" bIns="0" rtlCol="0" anchor="t"/>
          <a:lstStyle/>
          <a:p>
            <a:pPr indent="0" marL="0">
              <a:buNone/>
            </a:pPr>
            <a:r>
              <a:rPr lang="en-US" sz="1000" b="1" spc="200" kern="0" dirty="0">
                <a:solidFill>
                  <a:srgbClr val="0B132B"/>
                </a:solidFill>
                <a:latin typeface="Arial" pitchFamily="34" charset="0"/>
                <a:ea typeface="Arial" pitchFamily="34" charset="-122"/>
                <a:cs typeface="Arial" pitchFamily="34" charset="-120"/>
              </a:rPr>
              <a:t>AHORA · H1</a:t>
            </a:r>
            <a:endParaRPr lang="en-US" sz="1000" dirty="0"/>
          </a:p>
        </p:txBody>
      </p:sp>
      <p:sp>
        <p:nvSpPr>
          <p:cNvPr id="16" name="Text 14"/>
          <p:cNvSpPr txBox="1"/>
          <p:nvPr/>
        </p:nvSpPr>
        <p:spPr>
          <a:xfrm>
            <a:off x="758952" y="1947672"/>
            <a:ext cx="2339264" cy="457200"/>
          </a:xfrm>
          <a:prstGeom prst="rect">
            <a:avLst/>
          </a:prstGeom>
          <a:noFill/>
          <a:ln/>
        </p:spPr>
        <p:txBody>
          <a:bodyPr wrap="square" lIns="0" tIns="0" rIns="0" bIns="0" rtlCol="0" anchor="t"/>
          <a:lstStyle/>
          <a:p>
            <a:pPr indent="0" marL="0">
              <a:buNone/>
            </a:pPr>
            <a:r>
              <a:rPr lang="en-US" sz="1600" b="1" dirty="0">
                <a:solidFill>
                  <a:srgbClr val="0B132B"/>
                </a:solidFill>
                <a:latin typeface="Arial" pitchFamily="34" charset="0"/>
                <a:ea typeface="Arial" pitchFamily="34" charset="-122"/>
                <a:cs typeface="Arial" pitchFamily="34" charset="-120"/>
              </a:rPr>
              <a:t>Probar generalidad</a:t>
            </a:r>
            <a:endParaRPr lang="en-US" sz="1600" dirty="0"/>
          </a:p>
        </p:txBody>
      </p:sp>
      <p:sp>
        <p:nvSpPr>
          <p:cNvPr id="17" name="Shape 15"/>
          <p:cNvSpPr/>
          <p:nvPr/>
        </p:nvSpPr>
        <p:spPr>
          <a:xfrm>
            <a:off x="594360" y="2468880"/>
            <a:ext cx="2613584" cy="2606040"/>
          </a:xfrm>
          <a:prstGeom prst="rect">
            <a:avLst/>
          </a:prstGeom>
          <a:solidFill>
            <a:srgbClr val="FFFFFF"/>
          </a:solidFill>
          <a:ln w="9525">
            <a:solidFill>
              <a:srgbClr val="D8D2C4"/>
            </a:solidFill>
            <a:prstDash val="solid"/>
          </a:ln>
        </p:spPr>
      </p:sp>
      <p:sp>
        <p:nvSpPr>
          <p:cNvPr id="18" name="Shape 16"/>
          <p:cNvSpPr/>
          <p:nvPr/>
        </p:nvSpPr>
        <p:spPr>
          <a:xfrm>
            <a:off x="777240" y="2697480"/>
            <a:ext cx="82296" cy="82296"/>
          </a:xfrm>
          <a:prstGeom prst="ellipse">
            <a:avLst/>
          </a:prstGeom>
          <a:solidFill>
            <a:srgbClr val="5BC0BE"/>
          </a:solidFill>
          <a:ln w="12700">
            <a:solidFill>
              <a:srgbClr val="5BC0BE"/>
            </a:solidFill>
            <a:prstDash val="solid"/>
          </a:ln>
        </p:spPr>
      </p:sp>
      <p:sp>
        <p:nvSpPr>
          <p:cNvPr id="19" name="Text 17"/>
          <p:cNvSpPr txBox="1"/>
          <p:nvPr/>
        </p:nvSpPr>
        <p:spPr>
          <a:xfrm>
            <a:off x="960120" y="2587752"/>
            <a:ext cx="2156384" cy="310896"/>
          </a:xfrm>
          <a:prstGeom prst="rect">
            <a:avLst/>
          </a:prstGeom>
          <a:noFill/>
          <a:ln/>
        </p:spPr>
        <p:txBody>
          <a:bodyPr wrap="square" lIns="0" tIns="0" rIns="0" bIns="0" rtlCol="0" anchor="ctr"/>
          <a:lstStyle/>
          <a:p>
            <a:pPr indent="0" marL="0">
              <a:buNone/>
            </a:pPr>
            <a:r>
              <a:rPr lang="en-US" sz="1150" dirty="0">
                <a:solidFill>
                  <a:srgbClr val="0B132B"/>
                </a:solidFill>
                <a:latin typeface="Arial" pitchFamily="34" charset="0"/>
                <a:ea typeface="Arial" pitchFamily="34" charset="-122"/>
                <a:cs typeface="Arial" pitchFamily="34" charset="-120"/>
              </a:rPr>
              <a:t>Recorrido por Caminito</a:t>
            </a:r>
            <a:endParaRPr lang="en-US" sz="1150" dirty="0"/>
          </a:p>
        </p:txBody>
      </p:sp>
      <p:sp>
        <p:nvSpPr>
          <p:cNvPr id="20" name="Shape 18"/>
          <p:cNvSpPr/>
          <p:nvPr/>
        </p:nvSpPr>
        <p:spPr>
          <a:xfrm>
            <a:off x="777240" y="3099816"/>
            <a:ext cx="82296" cy="82296"/>
          </a:xfrm>
          <a:prstGeom prst="ellipse">
            <a:avLst/>
          </a:prstGeom>
          <a:solidFill>
            <a:srgbClr val="5BC0BE"/>
          </a:solidFill>
          <a:ln w="12700">
            <a:solidFill>
              <a:srgbClr val="5BC0BE"/>
            </a:solidFill>
            <a:prstDash val="solid"/>
          </a:ln>
        </p:spPr>
      </p:sp>
      <p:sp>
        <p:nvSpPr>
          <p:cNvPr id="21" name="Text 19"/>
          <p:cNvSpPr txBox="1"/>
          <p:nvPr/>
        </p:nvSpPr>
        <p:spPr>
          <a:xfrm>
            <a:off x="960120" y="2990088"/>
            <a:ext cx="2156384" cy="310896"/>
          </a:xfrm>
          <a:prstGeom prst="rect">
            <a:avLst/>
          </a:prstGeom>
          <a:noFill/>
          <a:ln/>
        </p:spPr>
        <p:txBody>
          <a:bodyPr wrap="square" lIns="0" tIns="0" rIns="0" bIns="0" rtlCol="0" anchor="ctr"/>
          <a:lstStyle/>
          <a:p>
            <a:pPr indent="0" marL="0">
              <a:buNone/>
            </a:pPr>
            <a:r>
              <a:rPr lang="en-US" sz="1150" dirty="0">
                <a:solidFill>
                  <a:srgbClr val="0B132B"/>
                </a:solidFill>
                <a:latin typeface="Arial" pitchFamily="34" charset="0"/>
                <a:ea typeface="Arial" pitchFamily="34" charset="-122"/>
                <a:cs typeface="Arial" pitchFamily="34" charset="-120"/>
              </a:rPr>
              <a:t>Ruta del Vino de Mendoza</a:t>
            </a:r>
            <a:endParaRPr lang="en-US" sz="1150" dirty="0"/>
          </a:p>
        </p:txBody>
      </p:sp>
      <p:sp>
        <p:nvSpPr>
          <p:cNvPr id="22" name="Shape 20"/>
          <p:cNvSpPr/>
          <p:nvPr/>
        </p:nvSpPr>
        <p:spPr>
          <a:xfrm>
            <a:off x="777240" y="3502152"/>
            <a:ext cx="82296" cy="82296"/>
          </a:xfrm>
          <a:prstGeom prst="ellipse">
            <a:avLst/>
          </a:prstGeom>
          <a:solidFill>
            <a:srgbClr val="5BC0BE"/>
          </a:solidFill>
          <a:ln w="12700">
            <a:solidFill>
              <a:srgbClr val="5BC0BE"/>
            </a:solidFill>
            <a:prstDash val="solid"/>
          </a:ln>
        </p:spPr>
      </p:sp>
      <p:sp>
        <p:nvSpPr>
          <p:cNvPr id="23" name="Text 21"/>
          <p:cNvSpPr txBox="1"/>
          <p:nvPr/>
        </p:nvSpPr>
        <p:spPr>
          <a:xfrm>
            <a:off x="960120" y="3392424"/>
            <a:ext cx="2156384" cy="310896"/>
          </a:xfrm>
          <a:prstGeom prst="rect">
            <a:avLst/>
          </a:prstGeom>
          <a:noFill/>
          <a:ln/>
        </p:spPr>
        <p:txBody>
          <a:bodyPr wrap="square" lIns="0" tIns="0" rIns="0" bIns="0" rtlCol="0" anchor="ctr"/>
          <a:lstStyle/>
          <a:p>
            <a:pPr indent="0" marL="0">
              <a:buNone/>
            </a:pPr>
            <a:r>
              <a:rPr lang="en-US" sz="1150" dirty="0">
                <a:solidFill>
                  <a:srgbClr val="0B132B"/>
                </a:solidFill>
                <a:latin typeface="Arial" pitchFamily="34" charset="0"/>
                <a:ea typeface="Arial" pitchFamily="34" charset="-122"/>
                <a:cs typeface="Arial" pitchFamily="34" charset="-120"/>
              </a:rPr>
              <a:t>Una ciudad fuera de Argentina</a:t>
            </a:r>
            <a:endParaRPr lang="en-US" sz="1150" dirty="0"/>
          </a:p>
        </p:txBody>
      </p:sp>
      <p:sp>
        <p:nvSpPr>
          <p:cNvPr id="24" name="Shape 22"/>
          <p:cNvSpPr/>
          <p:nvPr/>
        </p:nvSpPr>
        <p:spPr>
          <a:xfrm>
            <a:off x="777240" y="3904488"/>
            <a:ext cx="82296" cy="82296"/>
          </a:xfrm>
          <a:prstGeom prst="ellipse">
            <a:avLst/>
          </a:prstGeom>
          <a:solidFill>
            <a:srgbClr val="5BC0BE"/>
          </a:solidFill>
          <a:ln w="12700">
            <a:solidFill>
              <a:srgbClr val="5BC0BE"/>
            </a:solidFill>
            <a:prstDash val="solid"/>
          </a:ln>
        </p:spPr>
      </p:sp>
      <p:sp>
        <p:nvSpPr>
          <p:cNvPr id="25" name="Text 23"/>
          <p:cNvSpPr txBox="1"/>
          <p:nvPr/>
        </p:nvSpPr>
        <p:spPr>
          <a:xfrm>
            <a:off x="960120" y="3794760"/>
            <a:ext cx="2156384" cy="310896"/>
          </a:xfrm>
          <a:prstGeom prst="rect">
            <a:avLst/>
          </a:prstGeom>
          <a:noFill/>
          <a:ln/>
        </p:spPr>
        <p:txBody>
          <a:bodyPr wrap="square" lIns="0" tIns="0" rIns="0" bIns="0" rtlCol="0" anchor="ctr"/>
          <a:lstStyle/>
          <a:p>
            <a:pPr indent="0" marL="0">
              <a:buNone/>
            </a:pPr>
            <a:r>
              <a:rPr lang="en-US" sz="1150" dirty="0">
                <a:solidFill>
                  <a:srgbClr val="0B132B"/>
                </a:solidFill>
                <a:latin typeface="Arial" pitchFamily="34" charset="0"/>
                <a:ea typeface="Arial" pitchFamily="34" charset="-122"/>
                <a:cs typeface="Arial" pitchFamily="34" charset="-120"/>
              </a:rPr>
              <a:t>No inventar lo que no existe</a:t>
            </a:r>
            <a:endParaRPr lang="en-US" sz="1150" dirty="0"/>
          </a:p>
        </p:txBody>
      </p:sp>
      <p:sp>
        <p:nvSpPr>
          <p:cNvPr id="26" name="Shape 24"/>
          <p:cNvSpPr/>
          <p:nvPr/>
        </p:nvSpPr>
        <p:spPr>
          <a:xfrm>
            <a:off x="594360" y="5166360"/>
            <a:ext cx="2613584" cy="868680"/>
          </a:xfrm>
          <a:prstGeom prst="rect">
            <a:avLst/>
          </a:prstGeom>
          <a:solidFill>
            <a:srgbClr val="ECE6D8"/>
          </a:solidFill>
          <a:ln w="9525">
            <a:solidFill>
              <a:srgbClr val="ECE6D8"/>
            </a:solidFill>
            <a:prstDash val="solid"/>
          </a:ln>
        </p:spPr>
      </p:sp>
      <p:sp>
        <p:nvSpPr>
          <p:cNvPr id="27" name="Text 25"/>
          <p:cNvSpPr txBox="1"/>
          <p:nvPr/>
        </p:nvSpPr>
        <p:spPr>
          <a:xfrm>
            <a:off x="758952" y="5166360"/>
            <a:ext cx="2339264" cy="868680"/>
          </a:xfrm>
          <a:prstGeom prst="rect">
            <a:avLst/>
          </a:prstGeom>
          <a:noFill/>
          <a:ln/>
        </p:spPr>
        <p:txBody>
          <a:bodyPr wrap="square" lIns="0" tIns="0" rIns="0" bIns="0" rtlCol="0" anchor="ctr"/>
          <a:lstStyle/>
          <a:p>
            <a:pPr indent="0" marL="0">
              <a:buNone/>
            </a:pPr>
            <a:r>
              <a:rPr lang="en-US" sz="1150" b="1" dirty="0">
                <a:solidFill>
                  <a:srgbClr val="1F7A73"/>
                </a:solidFill>
                <a:latin typeface="Arial" pitchFamily="34" charset="0"/>
                <a:ea typeface="Arial" pitchFamily="34" charset="-122"/>
                <a:cs typeface="Arial" pitchFamily="34" charset="-120"/>
              </a:rPr>
              <a:t>Resultado: </a:t>
            </a:r>
            <a:pPr indent="0" marL="0">
              <a:buNone/>
            </a:pPr>
            <a:r>
              <a:rPr lang="en-US" sz="1150" b="1" dirty="0">
                <a:solidFill>
                  <a:srgbClr val="0B132B"/>
                </a:solidFill>
                <a:latin typeface="Arial" pitchFamily="34" charset="0"/>
                <a:ea typeface="Arial" pitchFamily="34" charset="-122"/>
                <a:cs typeface="Arial" pitchFamily="34" charset="-120"/>
              </a:rPr>
              <a:t>El motor funciona más allá de los ejemplos fáciles.</a:t>
            </a:r>
            <a:endParaRPr lang="en-US" sz="1150" dirty="0"/>
          </a:p>
        </p:txBody>
      </p:sp>
      <p:sp>
        <p:nvSpPr>
          <p:cNvPr id="28" name="Shape 26"/>
          <p:cNvSpPr/>
          <p:nvPr/>
        </p:nvSpPr>
        <p:spPr>
          <a:xfrm>
            <a:off x="3390824" y="1600200"/>
            <a:ext cx="2613584" cy="868680"/>
          </a:xfrm>
          <a:prstGeom prst="rect">
            <a:avLst/>
          </a:prstGeom>
          <a:solidFill>
            <a:srgbClr val="0B132B"/>
          </a:solidFill>
          <a:ln w="9525">
            <a:solidFill>
              <a:srgbClr val="0B132B"/>
            </a:solidFill>
            <a:prstDash val="solid"/>
          </a:ln>
        </p:spPr>
      </p:sp>
      <p:sp>
        <p:nvSpPr>
          <p:cNvPr id="29" name="Text 27"/>
          <p:cNvSpPr txBox="1"/>
          <p:nvPr/>
        </p:nvSpPr>
        <p:spPr>
          <a:xfrm>
            <a:off x="3555416" y="1691640"/>
            <a:ext cx="2339264" cy="228600"/>
          </a:xfrm>
          <a:prstGeom prst="rect">
            <a:avLst/>
          </a:prstGeom>
          <a:noFill/>
          <a:ln/>
        </p:spPr>
        <p:txBody>
          <a:bodyPr wrap="square" lIns="0" tIns="0" rIns="0" bIns="0" rtlCol="0" anchor="t"/>
          <a:lstStyle/>
          <a:p>
            <a:pPr indent="0" marL="0">
              <a:buNone/>
            </a:pPr>
            <a:r>
              <a:rPr lang="en-US" sz="1000" b="1" spc="200" kern="0" dirty="0">
                <a:solidFill>
                  <a:srgbClr val="5BC0BE"/>
                </a:solidFill>
                <a:latin typeface="Arial" pitchFamily="34" charset="0"/>
                <a:ea typeface="Arial" pitchFamily="34" charset="-122"/>
                <a:cs typeface="Arial" pitchFamily="34" charset="-120"/>
              </a:rPr>
              <a:t>H2</a:t>
            </a:r>
            <a:endParaRPr lang="en-US" sz="1000" dirty="0"/>
          </a:p>
        </p:txBody>
      </p:sp>
      <p:sp>
        <p:nvSpPr>
          <p:cNvPr id="30" name="Text 28"/>
          <p:cNvSpPr txBox="1"/>
          <p:nvPr/>
        </p:nvSpPr>
        <p:spPr>
          <a:xfrm>
            <a:off x="3555416" y="1947672"/>
            <a:ext cx="2339264" cy="457200"/>
          </a:xfrm>
          <a:prstGeom prst="rect">
            <a:avLst/>
          </a:prstGeom>
          <a:noFill/>
          <a:ln/>
        </p:spPr>
        <p:txBody>
          <a:bodyPr wrap="square" lIns="0" tIns="0" rIns="0" bIns="0" rtlCol="0" anchor="t"/>
          <a:lstStyle/>
          <a:p>
            <a:pPr indent="0" marL="0">
              <a:buNone/>
            </a:pPr>
            <a:r>
              <a:rPr lang="en-US" sz="1600" b="1" dirty="0">
                <a:solidFill>
                  <a:srgbClr val="FFFFFF"/>
                </a:solidFill>
                <a:latin typeface="Arial" pitchFamily="34" charset="0"/>
                <a:ea typeface="Arial" pitchFamily="34" charset="-122"/>
                <a:cs typeface="Arial" pitchFamily="34" charset="-120"/>
              </a:rPr>
              <a:t>Cerrar el núcleo del producto</a:t>
            </a:r>
            <a:endParaRPr lang="en-US" sz="1600" dirty="0"/>
          </a:p>
        </p:txBody>
      </p:sp>
      <p:sp>
        <p:nvSpPr>
          <p:cNvPr id="31" name="Shape 29"/>
          <p:cNvSpPr/>
          <p:nvPr/>
        </p:nvSpPr>
        <p:spPr>
          <a:xfrm>
            <a:off x="3390824" y="2468880"/>
            <a:ext cx="2613584" cy="2606040"/>
          </a:xfrm>
          <a:prstGeom prst="rect">
            <a:avLst/>
          </a:prstGeom>
          <a:solidFill>
            <a:srgbClr val="FFFFFF"/>
          </a:solidFill>
          <a:ln w="9525">
            <a:solidFill>
              <a:srgbClr val="D8D2C4"/>
            </a:solidFill>
            <a:prstDash val="solid"/>
          </a:ln>
        </p:spPr>
      </p:sp>
      <p:sp>
        <p:nvSpPr>
          <p:cNvPr id="32" name="Shape 30"/>
          <p:cNvSpPr/>
          <p:nvPr/>
        </p:nvSpPr>
        <p:spPr>
          <a:xfrm>
            <a:off x="3573704" y="2697480"/>
            <a:ext cx="82296" cy="82296"/>
          </a:xfrm>
          <a:prstGeom prst="ellipse">
            <a:avLst/>
          </a:prstGeom>
          <a:solidFill>
            <a:srgbClr val="5BC0BE"/>
          </a:solidFill>
          <a:ln w="12700">
            <a:solidFill>
              <a:srgbClr val="5BC0BE"/>
            </a:solidFill>
            <a:prstDash val="solid"/>
          </a:ln>
        </p:spPr>
      </p:sp>
      <p:sp>
        <p:nvSpPr>
          <p:cNvPr id="33" name="Text 31"/>
          <p:cNvSpPr txBox="1"/>
          <p:nvPr/>
        </p:nvSpPr>
        <p:spPr>
          <a:xfrm>
            <a:off x="3756584" y="2587752"/>
            <a:ext cx="2156384" cy="310896"/>
          </a:xfrm>
          <a:prstGeom prst="rect">
            <a:avLst/>
          </a:prstGeom>
          <a:noFill/>
          <a:ln/>
        </p:spPr>
        <p:txBody>
          <a:bodyPr wrap="square" lIns="0" tIns="0" rIns="0" bIns="0" rtlCol="0" anchor="ctr"/>
          <a:lstStyle/>
          <a:p>
            <a:pPr indent="0" marL="0">
              <a:buNone/>
            </a:pPr>
            <a:r>
              <a:rPr lang="en-US" sz="1150" dirty="0">
                <a:solidFill>
                  <a:srgbClr val="0B132B"/>
                </a:solidFill>
                <a:latin typeface="Arial" pitchFamily="34" charset="0"/>
                <a:ea typeface="Arial" pitchFamily="34" charset="-122"/>
                <a:cs typeface="Arial" pitchFamily="34" charset="-120"/>
              </a:rPr>
              <a:t>Evaluar la calidad de los viajes</a:t>
            </a:r>
            <a:endParaRPr lang="en-US" sz="1150" dirty="0"/>
          </a:p>
        </p:txBody>
      </p:sp>
      <p:sp>
        <p:nvSpPr>
          <p:cNvPr id="34" name="Shape 32"/>
          <p:cNvSpPr/>
          <p:nvPr/>
        </p:nvSpPr>
        <p:spPr>
          <a:xfrm>
            <a:off x="3573704" y="3099816"/>
            <a:ext cx="82296" cy="82296"/>
          </a:xfrm>
          <a:prstGeom prst="ellipse">
            <a:avLst/>
          </a:prstGeom>
          <a:solidFill>
            <a:srgbClr val="5BC0BE"/>
          </a:solidFill>
          <a:ln w="12700">
            <a:solidFill>
              <a:srgbClr val="5BC0BE"/>
            </a:solidFill>
            <a:prstDash val="solid"/>
          </a:ln>
        </p:spPr>
      </p:sp>
      <p:sp>
        <p:nvSpPr>
          <p:cNvPr id="35" name="Text 33"/>
          <p:cNvSpPr txBox="1"/>
          <p:nvPr/>
        </p:nvSpPr>
        <p:spPr>
          <a:xfrm>
            <a:off x="3756584" y="2990088"/>
            <a:ext cx="2156384" cy="310896"/>
          </a:xfrm>
          <a:prstGeom prst="rect">
            <a:avLst/>
          </a:prstGeom>
          <a:noFill/>
          <a:ln/>
        </p:spPr>
        <p:txBody>
          <a:bodyPr wrap="square" lIns="0" tIns="0" rIns="0" bIns="0" rtlCol="0" anchor="ctr"/>
          <a:lstStyle/>
          <a:p>
            <a:pPr indent="0" marL="0">
              <a:buNone/>
            </a:pPr>
            <a:r>
              <a:rPr lang="en-US" sz="1150" dirty="0">
                <a:solidFill>
                  <a:srgbClr val="0B132B"/>
                </a:solidFill>
                <a:latin typeface="Arial" pitchFamily="34" charset="0"/>
                <a:ea typeface="Arial" pitchFamily="34" charset="-122"/>
                <a:cs typeface="Arial" pitchFamily="34" charset="-120"/>
              </a:rPr>
              <a:t>Definir límites de movilidad</a:t>
            </a:r>
            <a:endParaRPr lang="en-US" sz="1150" dirty="0"/>
          </a:p>
        </p:txBody>
      </p:sp>
      <p:sp>
        <p:nvSpPr>
          <p:cNvPr id="36" name="Shape 34"/>
          <p:cNvSpPr/>
          <p:nvPr/>
        </p:nvSpPr>
        <p:spPr>
          <a:xfrm>
            <a:off x="3573704" y="3502152"/>
            <a:ext cx="82296" cy="82296"/>
          </a:xfrm>
          <a:prstGeom prst="ellipse">
            <a:avLst/>
          </a:prstGeom>
          <a:solidFill>
            <a:srgbClr val="5BC0BE"/>
          </a:solidFill>
          <a:ln w="12700">
            <a:solidFill>
              <a:srgbClr val="5BC0BE"/>
            </a:solidFill>
            <a:prstDash val="solid"/>
          </a:ln>
        </p:spPr>
      </p:sp>
      <p:sp>
        <p:nvSpPr>
          <p:cNvPr id="37" name="Text 35"/>
          <p:cNvSpPr txBox="1"/>
          <p:nvPr/>
        </p:nvSpPr>
        <p:spPr>
          <a:xfrm>
            <a:off x="3756584" y="3392424"/>
            <a:ext cx="2156384" cy="310896"/>
          </a:xfrm>
          <a:prstGeom prst="rect">
            <a:avLst/>
          </a:prstGeom>
          <a:noFill/>
          <a:ln/>
        </p:spPr>
        <p:txBody>
          <a:bodyPr wrap="square" lIns="0" tIns="0" rIns="0" bIns="0" rtlCol="0" anchor="ctr"/>
          <a:lstStyle/>
          <a:p>
            <a:pPr indent="0" marL="0">
              <a:buNone/>
            </a:pPr>
            <a:r>
              <a:rPr lang="en-US" sz="1150" dirty="0">
                <a:solidFill>
                  <a:srgbClr val="0B132B"/>
                </a:solidFill>
                <a:latin typeface="Arial" pitchFamily="34" charset="0"/>
                <a:ea typeface="Arial" pitchFamily="34" charset="-122"/>
                <a:cs typeface="Arial" pitchFamily="34" charset="-120"/>
              </a:rPr>
              <a:t>Costos de proveedores</a:t>
            </a:r>
            <a:endParaRPr lang="en-US" sz="1150" dirty="0"/>
          </a:p>
        </p:txBody>
      </p:sp>
      <p:sp>
        <p:nvSpPr>
          <p:cNvPr id="38" name="Shape 36"/>
          <p:cNvSpPr/>
          <p:nvPr/>
        </p:nvSpPr>
        <p:spPr>
          <a:xfrm>
            <a:off x="3573704" y="3904488"/>
            <a:ext cx="82296" cy="82296"/>
          </a:xfrm>
          <a:prstGeom prst="ellipse">
            <a:avLst/>
          </a:prstGeom>
          <a:solidFill>
            <a:srgbClr val="5BC0BE"/>
          </a:solidFill>
          <a:ln w="12700">
            <a:solidFill>
              <a:srgbClr val="5BC0BE"/>
            </a:solidFill>
            <a:prstDash val="solid"/>
          </a:ln>
        </p:spPr>
      </p:sp>
      <p:sp>
        <p:nvSpPr>
          <p:cNvPr id="39" name="Text 37"/>
          <p:cNvSpPr txBox="1"/>
          <p:nvPr/>
        </p:nvSpPr>
        <p:spPr>
          <a:xfrm>
            <a:off x="3756584" y="3794760"/>
            <a:ext cx="2156384" cy="310896"/>
          </a:xfrm>
          <a:prstGeom prst="rect">
            <a:avLst/>
          </a:prstGeom>
          <a:noFill/>
          <a:ln/>
        </p:spPr>
        <p:txBody>
          <a:bodyPr wrap="square" lIns="0" tIns="0" rIns="0" bIns="0" rtlCol="0" anchor="ctr"/>
          <a:lstStyle/>
          <a:p>
            <a:pPr indent="0" marL="0">
              <a:buNone/>
            </a:pPr>
            <a:r>
              <a:rPr lang="en-US" sz="1150" dirty="0">
                <a:solidFill>
                  <a:srgbClr val="0B132B"/>
                </a:solidFill>
                <a:latin typeface="Arial" pitchFamily="34" charset="0"/>
                <a:ea typeface="Arial" pitchFamily="34" charset="-122"/>
                <a:cs typeface="Arial" pitchFamily="34" charset="-120"/>
              </a:rPr>
              <a:t>Pruebas automáticas confiables</a:t>
            </a:r>
            <a:endParaRPr lang="en-US" sz="1150" dirty="0"/>
          </a:p>
        </p:txBody>
      </p:sp>
      <p:sp>
        <p:nvSpPr>
          <p:cNvPr id="40" name="Shape 38"/>
          <p:cNvSpPr/>
          <p:nvPr/>
        </p:nvSpPr>
        <p:spPr>
          <a:xfrm>
            <a:off x="3573704" y="4306824"/>
            <a:ext cx="82296" cy="82296"/>
          </a:xfrm>
          <a:prstGeom prst="ellipse">
            <a:avLst/>
          </a:prstGeom>
          <a:solidFill>
            <a:srgbClr val="5BC0BE"/>
          </a:solidFill>
          <a:ln w="12700">
            <a:solidFill>
              <a:srgbClr val="5BC0BE"/>
            </a:solidFill>
            <a:prstDash val="solid"/>
          </a:ln>
        </p:spPr>
      </p:sp>
      <p:sp>
        <p:nvSpPr>
          <p:cNvPr id="41" name="Text 39"/>
          <p:cNvSpPr txBox="1"/>
          <p:nvPr/>
        </p:nvSpPr>
        <p:spPr>
          <a:xfrm>
            <a:off x="3756584" y="4197096"/>
            <a:ext cx="2156384" cy="310896"/>
          </a:xfrm>
          <a:prstGeom prst="rect">
            <a:avLst/>
          </a:prstGeom>
          <a:noFill/>
          <a:ln/>
        </p:spPr>
        <p:txBody>
          <a:bodyPr wrap="square" lIns="0" tIns="0" rIns="0" bIns="0" rtlCol="0" anchor="ctr"/>
          <a:lstStyle/>
          <a:p>
            <a:pPr indent="0" marL="0">
              <a:buNone/>
            </a:pPr>
            <a:r>
              <a:rPr lang="en-US" sz="1150" dirty="0">
                <a:solidFill>
                  <a:srgbClr val="0B132B"/>
                </a:solidFill>
                <a:latin typeface="Arial" pitchFamily="34" charset="0"/>
                <a:ea typeface="Arial" pitchFamily="34" charset="-122"/>
                <a:cs typeface="Arial" pitchFamily="34" charset="-120"/>
              </a:rPr>
              <a:t>Terminar el nuevo motor de selección</a:t>
            </a:r>
            <a:endParaRPr lang="en-US" sz="1150" dirty="0"/>
          </a:p>
        </p:txBody>
      </p:sp>
      <p:sp>
        <p:nvSpPr>
          <p:cNvPr id="42" name="Shape 40"/>
          <p:cNvSpPr/>
          <p:nvPr/>
        </p:nvSpPr>
        <p:spPr>
          <a:xfrm>
            <a:off x="3573704" y="4709160"/>
            <a:ext cx="82296" cy="82296"/>
          </a:xfrm>
          <a:prstGeom prst="ellipse">
            <a:avLst/>
          </a:prstGeom>
          <a:solidFill>
            <a:srgbClr val="5BC0BE"/>
          </a:solidFill>
          <a:ln w="12700">
            <a:solidFill>
              <a:srgbClr val="5BC0BE"/>
            </a:solidFill>
            <a:prstDash val="solid"/>
          </a:ln>
        </p:spPr>
      </p:sp>
      <p:sp>
        <p:nvSpPr>
          <p:cNvPr id="43" name="Text 41"/>
          <p:cNvSpPr txBox="1"/>
          <p:nvPr/>
        </p:nvSpPr>
        <p:spPr>
          <a:xfrm>
            <a:off x="3756584" y="4599432"/>
            <a:ext cx="2156384" cy="310896"/>
          </a:xfrm>
          <a:prstGeom prst="rect">
            <a:avLst/>
          </a:prstGeom>
          <a:noFill/>
          <a:ln/>
        </p:spPr>
        <p:txBody>
          <a:bodyPr wrap="square" lIns="0" tIns="0" rIns="0" bIns="0" rtlCol="0" anchor="ctr"/>
          <a:lstStyle/>
          <a:p>
            <a:pPr indent="0" marL="0">
              <a:buNone/>
            </a:pPr>
            <a:r>
              <a:rPr lang="en-US" sz="1150" dirty="0">
                <a:solidFill>
                  <a:srgbClr val="0B132B"/>
                </a:solidFill>
                <a:latin typeface="Arial" pitchFamily="34" charset="0"/>
                <a:ea typeface="Arial" pitchFamily="34" charset="-122"/>
                <a:cs typeface="Arial" pitchFamily="34" charset="-120"/>
              </a:rPr>
              <a:t>Mantener el catálogo actualizado</a:t>
            </a:r>
            <a:endParaRPr lang="en-US" sz="1150" dirty="0"/>
          </a:p>
        </p:txBody>
      </p:sp>
      <p:sp>
        <p:nvSpPr>
          <p:cNvPr id="44" name="Shape 42"/>
          <p:cNvSpPr/>
          <p:nvPr/>
        </p:nvSpPr>
        <p:spPr>
          <a:xfrm>
            <a:off x="3390824" y="5166360"/>
            <a:ext cx="2613584" cy="868680"/>
          </a:xfrm>
          <a:prstGeom prst="rect">
            <a:avLst/>
          </a:prstGeom>
          <a:solidFill>
            <a:srgbClr val="ECE6D8"/>
          </a:solidFill>
          <a:ln w="9525">
            <a:solidFill>
              <a:srgbClr val="ECE6D8"/>
            </a:solidFill>
            <a:prstDash val="solid"/>
          </a:ln>
        </p:spPr>
      </p:sp>
      <p:sp>
        <p:nvSpPr>
          <p:cNvPr id="45" name="Text 43"/>
          <p:cNvSpPr txBox="1"/>
          <p:nvPr/>
        </p:nvSpPr>
        <p:spPr>
          <a:xfrm>
            <a:off x="3555416" y="5166360"/>
            <a:ext cx="2339264" cy="868680"/>
          </a:xfrm>
          <a:prstGeom prst="rect">
            <a:avLst/>
          </a:prstGeom>
          <a:noFill/>
          <a:ln/>
        </p:spPr>
        <p:txBody>
          <a:bodyPr wrap="square" lIns="0" tIns="0" rIns="0" bIns="0" rtlCol="0" anchor="ctr"/>
          <a:lstStyle/>
          <a:p>
            <a:pPr indent="0" marL="0">
              <a:buNone/>
            </a:pPr>
            <a:r>
              <a:rPr lang="en-US" sz="1150" b="1" dirty="0">
                <a:solidFill>
                  <a:srgbClr val="1F7A73"/>
                </a:solidFill>
                <a:latin typeface="Arial" pitchFamily="34" charset="0"/>
                <a:ea typeface="Arial" pitchFamily="34" charset="-122"/>
                <a:cs typeface="Arial" pitchFamily="34" charset="-120"/>
              </a:rPr>
              <a:t>Resultado: </a:t>
            </a:r>
            <a:pPr indent="0" marL="0">
              <a:buNone/>
            </a:pPr>
            <a:r>
              <a:rPr lang="en-US" sz="1150" b="1" dirty="0">
                <a:solidFill>
                  <a:srgbClr val="0B132B"/>
                </a:solidFill>
                <a:latin typeface="Arial" pitchFamily="34" charset="0"/>
                <a:ea typeface="Arial" pitchFamily="34" charset="-122"/>
                <a:cs typeface="Arial" pitchFamily="34" charset="-120"/>
              </a:rPr>
              <a:t>Generación de viajes confiable y medible.</a:t>
            </a:r>
            <a:endParaRPr lang="en-US" sz="1150" dirty="0"/>
          </a:p>
        </p:txBody>
      </p:sp>
      <p:sp>
        <p:nvSpPr>
          <p:cNvPr id="46" name="Shape 44"/>
          <p:cNvSpPr/>
          <p:nvPr/>
        </p:nvSpPr>
        <p:spPr>
          <a:xfrm>
            <a:off x="6187288" y="1600200"/>
            <a:ext cx="2613584" cy="868680"/>
          </a:xfrm>
          <a:prstGeom prst="rect">
            <a:avLst/>
          </a:prstGeom>
          <a:solidFill>
            <a:srgbClr val="0B132B"/>
          </a:solidFill>
          <a:ln w="9525">
            <a:solidFill>
              <a:srgbClr val="0B132B"/>
            </a:solidFill>
            <a:prstDash val="solid"/>
          </a:ln>
        </p:spPr>
      </p:sp>
      <p:sp>
        <p:nvSpPr>
          <p:cNvPr id="47" name="Text 45"/>
          <p:cNvSpPr txBox="1"/>
          <p:nvPr/>
        </p:nvSpPr>
        <p:spPr>
          <a:xfrm>
            <a:off x="6351880" y="1691640"/>
            <a:ext cx="2339264" cy="228600"/>
          </a:xfrm>
          <a:prstGeom prst="rect">
            <a:avLst/>
          </a:prstGeom>
          <a:noFill/>
          <a:ln/>
        </p:spPr>
        <p:txBody>
          <a:bodyPr wrap="square" lIns="0" tIns="0" rIns="0" bIns="0" rtlCol="0" anchor="t"/>
          <a:lstStyle/>
          <a:p>
            <a:pPr indent="0" marL="0">
              <a:buNone/>
            </a:pPr>
            <a:r>
              <a:rPr lang="en-US" sz="1000" b="1" spc="200" kern="0" dirty="0">
                <a:solidFill>
                  <a:srgbClr val="5BC0BE"/>
                </a:solidFill>
                <a:latin typeface="Arial" pitchFamily="34" charset="0"/>
                <a:ea typeface="Arial" pitchFamily="34" charset="-122"/>
                <a:cs typeface="Arial" pitchFamily="34" charset="-120"/>
              </a:rPr>
              <a:t>H3</a:t>
            </a:r>
            <a:endParaRPr lang="en-US" sz="1000" dirty="0"/>
          </a:p>
        </p:txBody>
      </p:sp>
      <p:sp>
        <p:nvSpPr>
          <p:cNvPr id="48" name="Text 46"/>
          <p:cNvSpPr txBox="1"/>
          <p:nvPr/>
        </p:nvSpPr>
        <p:spPr>
          <a:xfrm>
            <a:off x="6351880" y="1947672"/>
            <a:ext cx="2339264" cy="457200"/>
          </a:xfrm>
          <a:prstGeom prst="rect">
            <a:avLst/>
          </a:prstGeom>
          <a:noFill/>
          <a:ln/>
        </p:spPr>
        <p:txBody>
          <a:bodyPr wrap="square" lIns="0" tIns="0" rIns="0" bIns="0" rtlCol="0" anchor="t"/>
          <a:lstStyle/>
          <a:p>
            <a:pPr indent="0" marL="0">
              <a:buNone/>
            </a:pPr>
            <a:r>
              <a:rPr lang="en-US" sz="1600" b="1" dirty="0">
                <a:solidFill>
                  <a:srgbClr val="FFFFFF"/>
                </a:solidFill>
                <a:latin typeface="Arial" pitchFamily="34" charset="0"/>
                <a:ea typeface="Arial" pitchFamily="34" charset="-122"/>
                <a:cs typeface="Arial" pitchFamily="34" charset="-120"/>
              </a:rPr>
              <a:t>Loop de aprendizaje</a:t>
            </a:r>
            <a:endParaRPr lang="en-US" sz="1600" dirty="0"/>
          </a:p>
        </p:txBody>
      </p:sp>
      <p:sp>
        <p:nvSpPr>
          <p:cNvPr id="49" name="Shape 47"/>
          <p:cNvSpPr/>
          <p:nvPr/>
        </p:nvSpPr>
        <p:spPr>
          <a:xfrm>
            <a:off x="6187288" y="2468880"/>
            <a:ext cx="2613584" cy="2606040"/>
          </a:xfrm>
          <a:prstGeom prst="rect">
            <a:avLst/>
          </a:prstGeom>
          <a:solidFill>
            <a:srgbClr val="FFFFFF"/>
          </a:solidFill>
          <a:ln w="9525">
            <a:solidFill>
              <a:srgbClr val="D8D2C4"/>
            </a:solidFill>
            <a:prstDash val="solid"/>
          </a:ln>
        </p:spPr>
      </p:sp>
      <p:sp>
        <p:nvSpPr>
          <p:cNvPr id="50" name="Shape 48"/>
          <p:cNvSpPr/>
          <p:nvPr/>
        </p:nvSpPr>
        <p:spPr>
          <a:xfrm>
            <a:off x="6370168" y="2697480"/>
            <a:ext cx="82296" cy="82296"/>
          </a:xfrm>
          <a:prstGeom prst="ellipse">
            <a:avLst/>
          </a:prstGeom>
          <a:solidFill>
            <a:srgbClr val="5BC0BE"/>
          </a:solidFill>
          <a:ln w="12700">
            <a:solidFill>
              <a:srgbClr val="5BC0BE"/>
            </a:solidFill>
            <a:prstDash val="solid"/>
          </a:ln>
        </p:spPr>
      </p:sp>
      <p:sp>
        <p:nvSpPr>
          <p:cNvPr id="51" name="Text 49"/>
          <p:cNvSpPr txBox="1"/>
          <p:nvPr/>
        </p:nvSpPr>
        <p:spPr>
          <a:xfrm>
            <a:off x="6553048" y="2587752"/>
            <a:ext cx="2156384" cy="310896"/>
          </a:xfrm>
          <a:prstGeom prst="rect">
            <a:avLst/>
          </a:prstGeom>
          <a:noFill/>
          <a:ln/>
        </p:spPr>
        <p:txBody>
          <a:bodyPr wrap="square" lIns="0" tIns="0" rIns="0" bIns="0" rtlCol="0" anchor="ctr"/>
          <a:lstStyle/>
          <a:p>
            <a:pPr indent="0" marL="0">
              <a:buNone/>
            </a:pPr>
            <a:r>
              <a:rPr lang="en-US" sz="1150" dirty="0">
                <a:solidFill>
                  <a:srgbClr val="0B132B"/>
                </a:solidFill>
                <a:latin typeface="Arial" pitchFamily="34" charset="0"/>
                <a:ea typeface="Arial" pitchFamily="34" charset="-122"/>
                <a:cs typeface="Arial" pitchFamily="34" charset="-120"/>
              </a:rPr>
              <a:t>20–30 pedidos representativos</a:t>
            </a:r>
            <a:endParaRPr lang="en-US" sz="1150" dirty="0"/>
          </a:p>
        </p:txBody>
      </p:sp>
      <p:sp>
        <p:nvSpPr>
          <p:cNvPr id="52" name="Shape 50"/>
          <p:cNvSpPr/>
          <p:nvPr/>
        </p:nvSpPr>
        <p:spPr>
          <a:xfrm>
            <a:off x="6370168" y="3099816"/>
            <a:ext cx="82296" cy="82296"/>
          </a:xfrm>
          <a:prstGeom prst="ellipse">
            <a:avLst/>
          </a:prstGeom>
          <a:solidFill>
            <a:srgbClr val="5BC0BE"/>
          </a:solidFill>
          <a:ln w="12700">
            <a:solidFill>
              <a:srgbClr val="5BC0BE"/>
            </a:solidFill>
            <a:prstDash val="solid"/>
          </a:ln>
        </p:spPr>
      </p:sp>
      <p:sp>
        <p:nvSpPr>
          <p:cNvPr id="53" name="Text 51"/>
          <p:cNvSpPr txBox="1"/>
          <p:nvPr/>
        </p:nvSpPr>
        <p:spPr>
          <a:xfrm>
            <a:off x="6553048" y="2990088"/>
            <a:ext cx="2156384" cy="310896"/>
          </a:xfrm>
          <a:prstGeom prst="rect">
            <a:avLst/>
          </a:prstGeom>
          <a:noFill/>
          <a:ln/>
        </p:spPr>
        <p:txBody>
          <a:bodyPr wrap="square" lIns="0" tIns="0" rIns="0" bIns="0" rtlCol="0" anchor="ctr"/>
          <a:lstStyle/>
          <a:p>
            <a:pPr indent="0" marL="0">
              <a:buNone/>
            </a:pPr>
            <a:r>
              <a:rPr lang="en-US" sz="1150" dirty="0">
                <a:solidFill>
                  <a:srgbClr val="0B132B"/>
                </a:solidFill>
                <a:latin typeface="Arial" pitchFamily="34" charset="0"/>
                <a:ea typeface="Arial" pitchFamily="34" charset="-122"/>
                <a:cs typeface="Arial" pitchFamily="34" charset="-120"/>
              </a:rPr>
              <a:t>Revisión humana</a:t>
            </a:r>
            <a:endParaRPr lang="en-US" sz="1150" dirty="0"/>
          </a:p>
        </p:txBody>
      </p:sp>
      <p:sp>
        <p:nvSpPr>
          <p:cNvPr id="54" name="Shape 52"/>
          <p:cNvSpPr/>
          <p:nvPr/>
        </p:nvSpPr>
        <p:spPr>
          <a:xfrm>
            <a:off x="6370168" y="3502152"/>
            <a:ext cx="82296" cy="82296"/>
          </a:xfrm>
          <a:prstGeom prst="ellipse">
            <a:avLst/>
          </a:prstGeom>
          <a:solidFill>
            <a:srgbClr val="5BC0BE"/>
          </a:solidFill>
          <a:ln w="12700">
            <a:solidFill>
              <a:srgbClr val="5BC0BE"/>
            </a:solidFill>
            <a:prstDash val="solid"/>
          </a:ln>
        </p:spPr>
      </p:sp>
      <p:sp>
        <p:nvSpPr>
          <p:cNvPr id="55" name="Text 53"/>
          <p:cNvSpPr txBox="1"/>
          <p:nvPr/>
        </p:nvSpPr>
        <p:spPr>
          <a:xfrm>
            <a:off x="6553048" y="3392424"/>
            <a:ext cx="2156384" cy="310896"/>
          </a:xfrm>
          <a:prstGeom prst="rect">
            <a:avLst/>
          </a:prstGeom>
          <a:noFill/>
          <a:ln/>
        </p:spPr>
        <p:txBody>
          <a:bodyPr wrap="square" lIns="0" tIns="0" rIns="0" bIns="0" rtlCol="0" anchor="ctr"/>
          <a:lstStyle/>
          <a:p>
            <a:pPr indent="0" marL="0">
              <a:buNone/>
            </a:pPr>
            <a:r>
              <a:rPr lang="en-US" sz="1150" dirty="0">
                <a:solidFill>
                  <a:srgbClr val="0B132B"/>
                </a:solidFill>
                <a:latin typeface="Arial" pitchFamily="34" charset="0"/>
                <a:ea typeface="Arial" pitchFamily="34" charset="-122"/>
                <a:cs typeface="Arial" pitchFamily="34" charset="-120"/>
              </a:rPr>
              <a:t>Señales de aceptación / edición</a:t>
            </a:r>
            <a:endParaRPr lang="en-US" sz="1150" dirty="0"/>
          </a:p>
        </p:txBody>
      </p:sp>
      <p:sp>
        <p:nvSpPr>
          <p:cNvPr id="56" name="Shape 54"/>
          <p:cNvSpPr/>
          <p:nvPr/>
        </p:nvSpPr>
        <p:spPr>
          <a:xfrm>
            <a:off x="6370168" y="3904488"/>
            <a:ext cx="82296" cy="82296"/>
          </a:xfrm>
          <a:prstGeom prst="ellipse">
            <a:avLst/>
          </a:prstGeom>
          <a:solidFill>
            <a:srgbClr val="5BC0BE"/>
          </a:solidFill>
          <a:ln w="12700">
            <a:solidFill>
              <a:srgbClr val="5BC0BE"/>
            </a:solidFill>
            <a:prstDash val="solid"/>
          </a:ln>
        </p:spPr>
      </p:sp>
      <p:sp>
        <p:nvSpPr>
          <p:cNvPr id="57" name="Text 55"/>
          <p:cNvSpPr txBox="1"/>
          <p:nvPr/>
        </p:nvSpPr>
        <p:spPr>
          <a:xfrm>
            <a:off x="6553048" y="3794760"/>
            <a:ext cx="2156384" cy="310896"/>
          </a:xfrm>
          <a:prstGeom prst="rect">
            <a:avLst/>
          </a:prstGeom>
          <a:noFill/>
          <a:ln/>
        </p:spPr>
        <p:txBody>
          <a:bodyPr wrap="square" lIns="0" tIns="0" rIns="0" bIns="0" rtlCol="0" anchor="ctr"/>
          <a:lstStyle/>
          <a:p>
            <a:pPr indent="0" marL="0">
              <a:buNone/>
            </a:pPr>
            <a:r>
              <a:rPr lang="en-US" sz="1150" dirty="0">
                <a:solidFill>
                  <a:srgbClr val="0B132B"/>
                </a:solidFill>
                <a:latin typeface="Arial" pitchFamily="34" charset="0"/>
                <a:ea typeface="Arial" pitchFamily="34" charset="-122"/>
                <a:cs typeface="Arial" pitchFamily="34" charset="-120"/>
              </a:rPr>
              <a:t>Feedback de usuarios</a:t>
            </a:r>
            <a:endParaRPr lang="en-US" sz="1150" dirty="0"/>
          </a:p>
        </p:txBody>
      </p:sp>
      <p:sp>
        <p:nvSpPr>
          <p:cNvPr id="58" name="Shape 56"/>
          <p:cNvSpPr/>
          <p:nvPr/>
        </p:nvSpPr>
        <p:spPr>
          <a:xfrm>
            <a:off x="6370168" y="4306824"/>
            <a:ext cx="82296" cy="82296"/>
          </a:xfrm>
          <a:prstGeom prst="ellipse">
            <a:avLst/>
          </a:prstGeom>
          <a:solidFill>
            <a:srgbClr val="5BC0BE"/>
          </a:solidFill>
          <a:ln w="12700">
            <a:solidFill>
              <a:srgbClr val="5BC0BE"/>
            </a:solidFill>
            <a:prstDash val="solid"/>
          </a:ln>
        </p:spPr>
      </p:sp>
      <p:sp>
        <p:nvSpPr>
          <p:cNvPr id="59" name="Text 57"/>
          <p:cNvSpPr txBox="1"/>
          <p:nvPr/>
        </p:nvSpPr>
        <p:spPr>
          <a:xfrm>
            <a:off x="6553048" y="4197096"/>
            <a:ext cx="2156384" cy="310896"/>
          </a:xfrm>
          <a:prstGeom prst="rect">
            <a:avLst/>
          </a:prstGeom>
          <a:noFill/>
          <a:ln/>
        </p:spPr>
        <p:txBody>
          <a:bodyPr wrap="square" lIns="0" tIns="0" rIns="0" bIns="0" rtlCol="0" anchor="ctr"/>
          <a:lstStyle/>
          <a:p>
            <a:pPr indent="0" marL="0">
              <a:buNone/>
            </a:pPr>
            <a:r>
              <a:rPr lang="en-US" sz="1150" dirty="0">
                <a:solidFill>
                  <a:srgbClr val="0B132B"/>
                </a:solidFill>
                <a:latin typeface="Arial" pitchFamily="34" charset="0"/>
                <a:ea typeface="Arial" pitchFamily="34" charset="-122"/>
                <a:cs typeface="Arial" pitchFamily="34" charset="-120"/>
              </a:rPr>
              <a:t>Medición de calidad</a:t>
            </a:r>
            <a:endParaRPr lang="en-US" sz="1150" dirty="0"/>
          </a:p>
        </p:txBody>
      </p:sp>
      <p:sp>
        <p:nvSpPr>
          <p:cNvPr id="60" name="Shape 58"/>
          <p:cNvSpPr/>
          <p:nvPr/>
        </p:nvSpPr>
        <p:spPr>
          <a:xfrm>
            <a:off x="6370168" y="4709160"/>
            <a:ext cx="82296" cy="82296"/>
          </a:xfrm>
          <a:prstGeom prst="ellipse">
            <a:avLst/>
          </a:prstGeom>
          <a:solidFill>
            <a:srgbClr val="5BC0BE"/>
          </a:solidFill>
          <a:ln w="12700">
            <a:solidFill>
              <a:srgbClr val="5BC0BE"/>
            </a:solidFill>
            <a:prstDash val="solid"/>
          </a:ln>
        </p:spPr>
      </p:sp>
      <p:sp>
        <p:nvSpPr>
          <p:cNvPr id="61" name="Text 59"/>
          <p:cNvSpPr txBox="1"/>
          <p:nvPr/>
        </p:nvSpPr>
        <p:spPr>
          <a:xfrm>
            <a:off x="6553048" y="4599432"/>
            <a:ext cx="2156384" cy="310896"/>
          </a:xfrm>
          <a:prstGeom prst="rect">
            <a:avLst/>
          </a:prstGeom>
          <a:noFill/>
          <a:ln/>
        </p:spPr>
        <p:txBody>
          <a:bodyPr wrap="square" lIns="0" tIns="0" rIns="0" bIns="0" rtlCol="0" anchor="ctr"/>
          <a:lstStyle/>
          <a:p>
            <a:pPr indent="0" marL="0">
              <a:buNone/>
            </a:pPr>
            <a:r>
              <a:rPr lang="en-US" sz="1150" dirty="0">
                <a:solidFill>
                  <a:srgbClr val="0B132B"/>
                </a:solidFill>
                <a:latin typeface="Arial" pitchFamily="34" charset="0"/>
                <a:ea typeface="Arial" pitchFamily="34" charset="-122"/>
                <a:cs typeface="Arial" pitchFamily="34" charset="-120"/>
              </a:rPr>
              <a:t>Corrección del catálogo</a:t>
            </a:r>
            <a:endParaRPr lang="en-US" sz="1150" dirty="0"/>
          </a:p>
        </p:txBody>
      </p:sp>
      <p:sp>
        <p:nvSpPr>
          <p:cNvPr id="62" name="Shape 60"/>
          <p:cNvSpPr/>
          <p:nvPr/>
        </p:nvSpPr>
        <p:spPr>
          <a:xfrm>
            <a:off x="6187288" y="5166360"/>
            <a:ext cx="2613584" cy="868680"/>
          </a:xfrm>
          <a:prstGeom prst="rect">
            <a:avLst/>
          </a:prstGeom>
          <a:solidFill>
            <a:srgbClr val="ECE6D8"/>
          </a:solidFill>
          <a:ln w="9525">
            <a:solidFill>
              <a:srgbClr val="ECE6D8"/>
            </a:solidFill>
            <a:prstDash val="solid"/>
          </a:ln>
        </p:spPr>
      </p:sp>
      <p:sp>
        <p:nvSpPr>
          <p:cNvPr id="63" name="Text 61"/>
          <p:cNvSpPr txBox="1"/>
          <p:nvPr/>
        </p:nvSpPr>
        <p:spPr>
          <a:xfrm>
            <a:off x="6351880" y="5166360"/>
            <a:ext cx="2339264" cy="868680"/>
          </a:xfrm>
          <a:prstGeom prst="rect">
            <a:avLst/>
          </a:prstGeom>
          <a:noFill/>
          <a:ln/>
        </p:spPr>
        <p:txBody>
          <a:bodyPr wrap="square" lIns="0" tIns="0" rIns="0" bIns="0" rtlCol="0" anchor="ctr"/>
          <a:lstStyle/>
          <a:p>
            <a:pPr indent="0" marL="0">
              <a:buNone/>
            </a:pPr>
            <a:r>
              <a:rPr lang="en-US" sz="1150" b="1" dirty="0">
                <a:solidFill>
                  <a:srgbClr val="1F7A73"/>
                </a:solidFill>
                <a:latin typeface="Arial" pitchFamily="34" charset="0"/>
                <a:ea typeface="Arial" pitchFamily="34" charset="-122"/>
                <a:cs typeface="Arial" pitchFamily="34" charset="-120"/>
              </a:rPr>
              <a:t>Resultado: </a:t>
            </a:r>
            <a:pPr indent="0" marL="0">
              <a:buNone/>
            </a:pPr>
            <a:r>
              <a:rPr lang="en-US" sz="1150" b="1" dirty="0">
                <a:solidFill>
                  <a:srgbClr val="0B132B"/>
                </a:solidFill>
                <a:latin typeface="Arial" pitchFamily="34" charset="0"/>
                <a:ea typeface="Arial" pitchFamily="34" charset="-122"/>
                <a:cs typeface="Arial" pitchFamily="34" charset="-120"/>
              </a:rPr>
              <a:t>Definir y medir qué es un “buen viaje”.</a:t>
            </a:r>
            <a:endParaRPr lang="en-US" sz="1150" dirty="0"/>
          </a:p>
        </p:txBody>
      </p:sp>
      <p:sp>
        <p:nvSpPr>
          <p:cNvPr id="64" name="Shape 62"/>
          <p:cNvSpPr/>
          <p:nvPr/>
        </p:nvSpPr>
        <p:spPr>
          <a:xfrm>
            <a:off x="8983751" y="1600200"/>
            <a:ext cx="2613584" cy="868680"/>
          </a:xfrm>
          <a:prstGeom prst="rect">
            <a:avLst/>
          </a:prstGeom>
          <a:solidFill>
            <a:srgbClr val="0B132B"/>
          </a:solidFill>
          <a:ln w="9525">
            <a:solidFill>
              <a:srgbClr val="0B132B"/>
            </a:solidFill>
            <a:prstDash val="solid"/>
          </a:ln>
        </p:spPr>
      </p:sp>
      <p:sp>
        <p:nvSpPr>
          <p:cNvPr id="65" name="Text 63"/>
          <p:cNvSpPr txBox="1"/>
          <p:nvPr/>
        </p:nvSpPr>
        <p:spPr>
          <a:xfrm>
            <a:off x="9148343" y="1691640"/>
            <a:ext cx="2339264" cy="228600"/>
          </a:xfrm>
          <a:prstGeom prst="rect">
            <a:avLst/>
          </a:prstGeom>
          <a:noFill/>
          <a:ln/>
        </p:spPr>
        <p:txBody>
          <a:bodyPr wrap="square" lIns="0" tIns="0" rIns="0" bIns="0" rtlCol="0" anchor="t"/>
          <a:lstStyle/>
          <a:p>
            <a:pPr indent="0" marL="0">
              <a:buNone/>
            </a:pPr>
            <a:r>
              <a:rPr lang="en-US" sz="1000" b="1" spc="200" kern="0" dirty="0">
                <a:solidFill>
                  <a:srgbClr val="5BC0BE"/>
                </a:solidFill>
                <a:latin typeface="Arial" pitchFamily="34" charset="0"/>
                <a:ea typeface="Arial" pitchFamily="34" charset="-122"/>
                <a:cs typeface="Arial" pitchFamily="34" charset="-120"/>
              </a:rPr>
              <a:t>H4</a:t>
            </a:r>
            <a:endParaRPr lang="en-US" sz="1000" dirty="0"/>
          </a:p>
        </p:txBody>
      </p:sp>
      <p:sp>
        <p:nvSpPr>
          <p:cNvPr id="66" name="Text 64"/>
          <p:cNvSpPr txBox="1"/>
          <p:nvPr/>
        </p:nvSpPr>
        <p:spPr>
          <a:xfrm>
            <a:off x="9148343" y="1947672"/>
            <a:ext cx="2339264" cy="457200"/>
          </a:xfrm>
          <a:prstGeom prst="rect">
            <a:avLst/>
          </a:prstGeom>
          <a:noFill/>
          <a:ln/>
        </p:spPr>
        <p:txBody>
          <a:bodyPr wrap="square" lIns="0" tIns="0" rIns="0" bIns="0" rtlCol="0" anchor="t"/>
          <a:lstStyle/>
          <a:p>
            <a:pPr indent="0" marL="0">
              <a:buNone/>
            </a:pPr>
            <a:r>
              <a:rPr lang="en-US" sz="1600" b="1" dirty="0">
                <a:solidFill>
                  <a:srgbClr val="FFFFFF"/>
                </a:solidFill>
                <a:latin typeface="Arial" pitchFamily="34" charset="0"/>
                <a:ea typeface="Arial" pitchFamily="34" charset="-122"/>
                <a:cs typeface="Arial" pitchFamily="34" charset="-120"/>
              </a:rPr>
              <a:t>Experiencia agéntica</a:t>
            </a:r>
            <a:endParaRPr lang="en-US" sz="1600" dirty="0"/>
          </a:p>
        </p:txBody>
      </p:sp>
      <p:sp>
        <p:nvSpPr>
          <p:cNvPr id="67" name="Shape 65"/>
          <p:cNvSpPr/>
          <p:nvPr/>
        </p:nvSpPr>
        <p:spPr>
          <a:xfrm>
            <a:off x="8983751" y="2468880"/>
            <a:ext cx="2613584" cy="2606040"/>
          </a:xfrm>
          <a:prstGeom prst="rect">
            <a:avLst/>
          </a:prstGeom>
          <a:solidFill>
            <a:srgbClr val="FFFFFF"/>
          </a:solidFill>
          <a:ln w="9525">
            <a:solidFill>
              <a:srgbClr val="D8D2C4"/>
            </a:solidFill>
            <a:prstDash val="solid"/>
          </a:ln>
        </p:spPr>
      </p:sp>
      <p:sp>
        <p:nvSpPr>
          <p:cNvPr id="68" name="Shape 66"/>
          <p:cNvSpPr/>
          <p:nvPr/>
        </p:nvSpPr>
        <p:spPr>
          <a:xfrm>
            <a:off x="9166631" y="2697480"/>
            <a:ext cx="82296" cy="82296"/>
          </a:xfrm>
          <a:prstGeom prst="ellipse">
            <a:avLst/>
          </a:prstGeom>
          <a:solidFill>
            <a:srgbClr val="5BC0BE"/>
          </a:solidFill>
          <a:ln w="12700">
            <a:solidFill>
              <a:srgbClr val="5BC0BE"/>
            </a:solidFill>
            <a:prstDash val="solid"/>
          </a:ln>
        </p:spPr>
      </p:sp>
      <p:sp>
        <p:nvSpPr>
          <p:cNvPr id="69" name="Text 67"/>
          <p:cNvSpPr txBox="1"/>
          <p:nvPr/>
        </p:nvSpPr>
        <p:spPr>
          <a:xfrm>
            <a:off x="9349511" y="2587752"/>
            <a:ext cx="2156384" cy="310896"/>
          </a:xfrm>
          <a:prstGeom prst="rect">
            <a:avLst/>
          </a:prstGeom>
          <a:noFill/>
          <a:ln/>
        </p:spPr>
        <p:txBody>
          <a:bodyPr wrap="square" lIns="0" tIns="0" rIns="0" bIns="0" rtlCol="0" anchor="ctr"/>
          <a:lstStyle/>
          <a:p>
            <a:pPr indent="0" marL="0">
              <a:buNone/>
            </a:pPr>
            <a:r>
              <a:rPr lang="en-US" sz="1150" dirty="0">
                <a:solidFill>
                  <a:srgbClr val="0B132B"/>
                </a:solidFill>
                <a:latin typeface="Arial" pitchFamily="34" charset="0"/>
                <a:ea typeface="Arial" pitchFamily="34" charset="-122"/>
                <a:cs typeface="Arial" pitchFamily="34" charset="-120"/>
              </a:rPr>
              <a:t>Refinamiento conversacional</a:t>
            </a:r>
            <a:endParaRPr lang="en-US" sz="1150" dirty="0"/>
          </a:p>
        </p:txBody>
      </p:sp>
      <p:sp>
        <p:nvSpPr>
          <p:cNvPr id="70" name="Shape 68"/>
          <p:cNvSpPr/>
          <p:nvPr/>
        </p:nvSpPr>
        <p:spPr>
          <a:xfrm>
            <a:off x="9166631" y="3099816"/>
            <a:ext cx="82296" cy="82296"/>
          </a:xfrm>
          <a:prstGeom prst="ellipse">
            <a:avLst/>
          </a:prstGeom>
          <a:solidFill>
            <a:srgbClr val="5BC0BE"/>
          </a:solidFill>
          <a:ln w="12700">
            <a:solidFill>
              <a:srgbClr val="5BC0BE"/>
            </a:solidFill>
            <a:prstDash val="solid"/>
          </a:ln>
        </p:spPr>
      </p:sp>
      <p:sp>
        <p:nvSpPr>
          <p:cNvPr id="71" name="Text 69"/>
          <p:cNvSpPr txBox="1"/>
          <p:nvPr/>
        </p:nvSpPr>
        <p:spPr>
          <a:xfrm>
            <a:off x="9349511" y="2990088"/>
            <a:ext cx="2156384" cy="310896"/>
          </a:xfrm>
          <a:prstGeom prst="rect">
            <a:avLst/>
          </a:prstGeom>
          <a:noFill/>
          <a:ln/>
        </p:spPr>
        <p:txBody>
          <a:bodyPr wrap="square" lIns="0" tIns="0" rIns="0" bIns="0" rtlCol="0" anchor="ctr"/>
          <a:lstStyle/>
          <a:p>
            <a:pPr indent="0" marL="0">
              <a:buNone/>
            </a:pPr>
            <a:r>
              <a:rPr lang="en-US" sz="1150" dirty="0">
                <a:solidFill>
                  <a:srgbClr val="0B132B"/>
                </a:solidFill>
                <a:latin typeface="Arial" pitchFamily="34" charset="0"/>
                <a:ea typeface="Arial" pitchFamily="34" charset="-122"/>
                <a:cs typeface="Arial" pitchFamily="34" charset="-120"/>
              </a:rPr>
              <a:t>Replanificación en vivo</a:t>
            </a:r>
            <a:endParaRPr lang="en-US" sz="1150" dirty="0"/>
          </a:p>
        </p:txBody>
      </p:sp>
      <p:sp>
        <p:nvSpPr>
          <p:cNvPr id="72" name="Shape 70"/>
          <p:cNvSpPr/>
          <p:nvPr/>
        </p:nvSpPr>
        <p:spPr>
          <a:xfrm>
            <a:off x="9166631" y="3502152"/>
            <a:ext cx="82296" cy="82296"/>
          </a:xfrm>
          <a:prstGeom prst="ellipse">
            <a:avLst/>
          </a:prstGeom>
          <a:solidFill>
            <a:srgbClr val="5BC0BE"/>
          </a:solidFill>
          <a:ln w="12700">
            <a:solidFill>
              <a:srgbClr val="5BC0BE"/>
            </a:solidFill>
            <a:prstDash val="solid"/>
          </a:ln>
        </p:spPr>
      </p:sp>
      <p:sp>
        <p:nvSpPr>
          <p:cNvPr id="73" name="Text 71"/>
          <p:cNvSpPr txBox="1"/>
          <p:nvPr/>
        </p:nvSpPr>
        <p:spPr>
          <a:xfrm>
            <a:off x="9349511" y="3392424"/>
            <a:ext cx="2156384" cy="310896"/>
          </a:xfrm>
          <a:prstGeom prst="rect">
            <a:avLst/>
          </a:prstGeom>
          <a:noFill/>
          <a:ln/>
        </p:spPr>
        <p:txBody>
          <a:bodyPr wrap="square" lIns="0" tIns="0" rIns="0" bIns="0" rtlCol="0" anchor="ctr"/>
          <a:lstStyle/>
          <a:p>
            <a:pPr indent="0" marL="0">
              <a:buNone/>
            </a:pPr>
            <a:r>
              <a:rPr lang="en-US" sz="1150" dirty="0">
                <a:solidFill>
                  <a:srgbClr val="0B132B"/>
                </a:solidFill>
                <a:latin typeface="Arial" pitchFamily="34" charset="0"/>
                <a:ea typeface="Arial" pitchFamily="34" charset="-122"/>
                <a:cs typeface="Arial" pitchFamily="34" charset="-120"/>
              </a:rPr>
              <a:t>Clima, eventos, horarios</a:t>
            </a:r>
            <a:endParaRPr lang="en-US" sz="1150" dirty="0"/>
          </a:p>
        </p:txBody>
      </p:sp>
      <p:sp>
        <p:nvSpPr>
          <p:cNvPr id="74" name="Shape 72"/>
          <p:cNvSpPr/>
          <p:nvPr/>
        </p:nvSpPr>
        <p:spPr>
          <a:xfrm>
            <a:off x="9166631" y="3904488"/>
            <a:ext cx="82296" cy="82296"/>
          </a:xfrm>
          <a:prstGeom prst="ellipse">
            <a:avLst/>
          </a:prstGeom>
          <a:solidFill>
            <a:srgbClr val="5BC0BE"/>
          </a:solidFill>
          <a:ln w="12700">
            <a:solidFill>
              <a:srgbClr val="5BC0BE"/>
            </a:solidFill>
            <a:prstDash val="solid"/>
          </a:ln>
        </p:spPr>
      </p:sp>
      <p:sp>
        <p:nvSpPr>
          <p:cNvPr id="75" name="Text 73"/>
          <p:cNvSpPr txBox="1"/>
          <p:nvPr/>
        </p:nvSpPr>
        <p:spPr>
          <a:xfrm>
            <a:off x="9349511" y="3794760"/>
            <a:ext cx="2156384" cy="310896"/>
          </a:xfrm>
          <a:prstGeom prst="rect">
            <a:avLst/>
          </a:prstGeom>
          <a:noFill/>
          <a:ln/>
        </p:spPr>
        <p:txBody>
          <a:bodyPr wrap="square" lIns="0" tIns="0" rIns="0" bIns="0" rtlCol="0" anchor="ctr"/>
          <a:lstStyle/>
          <a:p>
            <a:pPr indent="0" marL="0">
              <a:buNone/>
            </a:pPr>
            <a:r>
              <a:rPr lang="en-US" sz="1150" dirty="0">
                <a:solidFill>
                  <a:srgbClr val="0B132B"/>
                </a:solidFill>
                <a:latin typeface="Arial" pitchFamily="34" charset="0"/>
                <a:ea typeface="Arial" pitchFamily="34" charset="-122"/>
                <a:cs typeface="Arial" pitchFamily="34" charset="-120"/>
              </a:rPr>
              <a:t>Disponibilidad</a:t>
            </a:r>
            <a:endParaRPr lang="en-US" sz="1150" dirty="0"/>
          </a:p>
        </p:txBody>
      </p:sp>
      <p:sp>
        <p:nvSpPr>
          <p:cNvPr id="76" name="Shape 74"/>
          <p:cNvSpPr/>
          <p:nvPr/>
        </p:nvSpPr>
        <p:spPr>
          <a:xfrm>
            <a:off x="9166631" y="4306824"/>
            <a:ext cx="82296" cy="82296"/>
          </a:xfrm>
          <a:prstGeom prst="ellipse">
            <a:avLst/>
          </a:prstGeom>
          <a:solidFill>
            <a:srgbClr val="5BC0BE"/>
          </a:solidFill>
          <a:ln w="12700">
            <a:solidFill>
              <a:srgbClr val="5BC0BE"/>
            </a:solidFill>
            <a:prstDash val="solid"/>
          </a:ln>
        </p:spPr>
      </p:sp>
      <p:sp>
        <p:nvSpPr>
          <p:cNvPr id="77" name="Text 75"/>
          <p:cNvSpPr txBox="1"/>
          <p:nvPr/>
        </p:nvSpPr>
        <p:spPr>
          <a:xfrm>
            <a:off x="9349511" y="4197096"/>
            <a:ext cx="2156384" cy="310896"/>
          </a:xfrm>
          <a:prstGeom prst="rect">
            <a:avLst/>
          </a:prstGeom>
          <a:noFill/>
          <a:ln/>
        </p:spPr>
        <p:txBody>
          <a:bodyPr wrap="square" lIns="0" tIns="0" rIns="0" bIns="0" rtlCol="0" anchor="ctr"/>
          <a:lstStyle/>
          <a:p>
            <a:pPr indent="0" marL="0">
              <a:buNone/>
            </a:pPr>
            <a:r>
              <a:rPr lang="en-US" sz="1150" dirty="0">
                <a:solidFill>
                  <a:srgbClr val="0B132B"/>
                </a:solidFill>
                <a:latin typeface="Arial" pitchFamily="34" charset="0"/>
                <a:ea typeface="Arial" pitchFamily="34" charset="-122"/>
                <a:cs typeface="Arial" pitchFamily="34" charset="-120"/>
              </a:rPr>
              <a:t>Ejecución del viaje</a:t>
            </a:r>
            <a:endParaRPr lang="en-US" sz="1150" dirty="0"/>
          </a:p>
        </p:txBody>
      </p:sp>
      <p:sp>
        <p:nvSpPr>
          <p:cNvPr id="78" name="Shape 76"/>
          <p:cNvSpPr/>
          <p:nvPr/>
        </p:nvSpPr>
        <p:spPr>
          <a:xfrm>
            <a:off x="9166631" y="4709160"/>
            <a:ext cx="82296" cy="82296"/>
          </a:xfrm>
          <a:prstGeom prst="ellipse">
            <a:avLst/>
          </a:prstGeom>
          <a:solidFill>
            <a:srgbClr val="5BC0BE"/>
          </a:solidFill>
          <a:ln w="12700">
            <a:solidFill>
              <a:srgbClr val="5BC0BE"/>
            </a:solidFill>
            <a:prstDash val="solid"/>
          </a:ln>
        </p:spPr>
      </p:sp>
      <p:sp>
        <p:nvSpPr>
          <p:cNvPr id="79" name="Text 77"/>
          <p:cNvSpPr txBox="1"/>
          <p:nvPr/>
        </p:nvSpPr>
        <p:spPr>
          <a:xfrm>
            <a:off x="9349511" y="4599432"/>
            <a:ext cx="2156384" cy="310896"/>
          </a:xfrm>
          <a:prstGeom prst="rect">
            <a:avLst/>
          </a:prstGeom>
          <a:noFill/>
          <a:ln/>
        </p:spPr>
        <p:txBody>
          <a:bodyPr wrap="square" lIns="0" tIns="0" rIns="0" bIns="0" rtlCol="0" anchor="ctr"/>
          <a:lstStyle/>
          <a:p>
            <a:pPr indent="0" marL="0">
              <a:buNone/>
            </a:pPr>
            <a:r>
              <a:rPr lang="en-US" sz="1150" dirty="0">
                <a:solidFill>
                  <a:srgbClr val="0B132B"/>
                </a:solidFill>
                <a:latin typeface="Arial" pitchFamily="34" charset="0"/>
                <a:ea typeface="Arial" pitchFamily="34" charset="-122"/>
                <a:cs typeface="Arial" pitchFamily="34" charset="-120"/>
              </a:rPr>
              <a:t>Contexto continuo</a:t>
            </a:r>
            <a:endParaRPr lang="en-US" sz="1150" dirty="0"/>
          </a:p>
        </p:txBody>
      </p:sp>
      <p:sp>
        <p:nvSpPr>
          <p:cNvPr id="80" name="Shape 78"/>
          <p:cNvSpPr/>
          <p:nvPr/>
        </p:nvSpPr>
        <p:spPr>
          <a:xfrm>
            <a:off x="8983751" y="5166360"/>
            <a:ext cx="2613584" cy="868680"/>
          </a:xfrm>
          <a:prstGeom prst="rect">
            <a:avLst/>
          </a:prstGeom>
          <a:solidFill>
            <a:srgbClr val="ECE6D8"/>
          </a:solidFill>
          <a:ln w="9525">
            <a:solidFill>
              <a:srgbClr val="ECE6D8"/>
            </a:solidFill>
            <a:prstDash val="solid"/>
          </a:ln>
        </p:spPr>
      </p:sp>
      <p:sp>
        <p:nvSpPr>
          <p:cNvPr id="81" name="Text 79"/>
          <p:cNvSpPr txBox="1"/>
          <p:nvPr/>
        </p:nvSpPr>
        <p:spPr>
          <a:xfrm>
            <a:off x="9148343" y="5166360"/>
            <a:ext cx="2339264" cy="868680"/>
          </a:xfrm>
          <a:prstGeom prst="rect">
            <a:avLst/>
          </a:prstGeom>
          <a:noFill/>
          <a:ln/>
        </p:spPr>
        <p:txBody>
          <a:bodyPr wrap="square" lIns="0" tIns="0" rIns="0" bIns="0" rtlCol="0" anchor="ctr"/>
          <a:lstStyle/>
          <a:p>
            <a:pPr indent="0" marL="0">
              <a:buNone/>
            </a:pPr>
            <a:r>
              <a:rPr lang="en-US" sz="1150" b="1" dirty="0">
                <a:solidFill>
                  <a:srgbClr val="1F7A73"/>
                </a:solidFill>
                <a:latin typeface="Arial" pitchFamily="34" charset="0"/>
                <a:ea typeface="Arial" pitchFamily="34" charset="-122"/>
                <a:cs typeface="Arial" pitchFamily="34" charset="-120"/>
              </a:rPr>
              <a:t>Resultado: </a:t>
            </a:r>
            <a:pPr indent="0" marL="0">
              <a:buNone/>
            </a:pPr>
            <a:r>
              <a:rPr lang="en-US" sz="1150" b="1" dirty="0">
                <a:solidFill>
                  <a:srgbClr val="0B132B"/>
                </a:solidFill>
                <a:latin typeface="Arial" pitchFamily="34" charset="0"/>
                <a:ea typeface="Arial" pitchFamily="34" charset="-122"/>
                <a:cs typeface="Arial" pitchFamily="34" charset="-120"/>
              </a:rPr>
              <a:t>De generador de itinerarios a agente de decisiones de viaje.</a:t>
            </a:r>
            <a:endParaRPr lang="en-US" sz="1150" dirty="0"/>
          </a:p>
        </p:txBody>
      </p:sp>
      <p:sp>
        <p:nvSpPr>
          <p:cNvPr id="82" name="Text 80"/>
          <p:cNvSpPr txBox="1"/>
          <p:nvPr/>
        </p:nvSpPr>
        <p:spPr>
          <a:xfrm>
            <a:off x="594360" y="6144768"/>
            <a:ext cx="10972800" cy="256032"/>
          </a:xfrm>
          <a:prstGeom prst="rect">
            <a:avLst/>
          </a:prstGeom>
          <a:noFill/>
          <a:ln/>
        </p:spPr>
        <p:txBody>
          <a:bodyPr wrap="square" lIns="0" tIns="0" rIns="0" bIns="0" rtlCol="0" anchor="t"/>
          <a:lstStyle/>
          <a:p>
            <a:pPr indent="0" marL="0">
              <a:buNone/>
            </a:pPr>
            <a:r>
              <a:rPr lang="en-US" sz="1100" i="1" dirty="0">
                <a:solidFill>
                  <a:srgbClr val="6B7385"/>
                </a:solidFill>
                <a:latin typeface="Arial" pitchFamily="34" charset="0"/>
                <a:ea typeface="Arial" pitchFamily="34" charset="-122"/>
                <a:cs typeface="Arial" pitchFamily="34" charset="-120"/>
              </a:rPr>
              <a:t>Horizontes secuenciales, sin fechas comprometidas. Cada uno se abre cuando el anterior tiene evidencia suficiente.</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B132B"/>
        </a:solidFill>
      </p:bgPr>
    </p:bg>
    <p:spTree>
      <p:nvGrpSpPr>
        <p:cNvPr id="1" name=""/>
        <p:cNvGrpSpPr/>
        <p:nvPr/>
      </p:nvGrpSpPr>
      <p:grpSpPr>
        <a:xfrm>
          <a:off x="0" y="0"/>
          <a:ext cx="0" cy="0"/>
          <a:chOff x="0" y="0"/>
          <a:chExt cx="0" cy="0"/>
        </a:xfrm>
      </p:grpSpPr>
      <p:sp>
        <p:nvSpPr>
          <p:cNvPr id="2" name="Text 0"/>
          <p:cNvSpPr txBox="1"/>
          <p:nvPr/>
        </p:nvSpPr>
        <p:spPr>
          <a:xfrm>
            <a:off x="594360" y="1188720"/>
            <a:ext cx="10972800" cy="822960"/>
          </a:xfrm>
          <a:prstGeom prst="rect">
            <a:avLst/>
          </a:prstGeom>
          <a:noFill/>
          <a:ln/>
        </p:spPr>
        <p:txBody>
          <a:bodyPr wrap="square" lIns="0" tIns="0" rIns="0" bIns="0" rtlCol="0" anchor="t"/>
          <a:lstStyle/>
          <a:p>
            <a:pPr algn="ctr" indent="0" marL="0">
              <a:buNone/>
            </a:pPr>
            <a:r>
              <a:rPr lang="en-US" sz="4000" b="1" dirty="0">
                <a:solidFill>
                  <a:srgbClr val="FFFFFF"/>
                </a:solidFill>
                <a:latin typeface="Arial" pitchFamily="34" charset="0"/>
                <a:ea typeface="Arial" pitchFamily="34" charset="-122"/>
                <a:cs typeface="Arial" pitchFamily="34" charset="-120"/>
              </a:rPr>
              <a:t>El activo no es el itinerario.</a:t>
            </a:r>
            <a:endParaRPr lang="en-US" sz="4000" dirty="0"/>
          </a:p>
        </p:txBody>
      </p:sp>
      <p:sp>
        <p:nvSpPr>
          <p:cNvPr id="3" name="Text 1"/>
          <p:cNvSpPr txBox="1"/>
          <p:nvPr/>
        </p:nvSpPr>
        <p:spPr>
          <a:xfrm>
            <a:off x="1097280" y="2103120"/>
            <a:ext cx="9997135" cy="1097280"/>
          </a:xfrm>
          <a:prstGeom prst="rect">
            <a:avLst/>
          </a:prstGeom>
          <a:noFill/>
          <a:ln/>
        </p:spPr>
        <p:txBody>
          <a:bodyPr wrap="square" lIns="0" tIns="0" rIns="0" bIns="0" rtlCol="0" anchor="t"/>
          <a:lstStyle/>
          <a:p>
            <a:pPr algn="ctr" indent="0" marL="0">
              <a:buNone/>
            </a:pPr>
            <a:r>
              <a:rPr lang="en-US" sz="3000" b="1" dirty="0">
                <a:solidFill>
                  <a:srgbClr val="5BC0BE"/>
                </a:solidFill>
                <a:latin typeface="Arial" pitchFamily="34" charset="0"/>
                <a:ea typeface="Arial" pitchFamily="34" charset="-122"/>
                <a:cs typeface="Arial" pitchFamily="34" charset="-120"/>
              </a:rPr>
              <a:t>Es la capacidad creciente de tomar mejores decisiones de viaje.</a:t>
            </a:r>
            <a:endParaRPr lang="en-US" sz="3000" dirty="0"/>
          </a:p>
        </p:txBody>
      </p:sp>
      <p:sp>
        <p:nvSpPr>
          <p:cNvPr id="4" name="Shape 2"/>
          <p:cNvSpPr/>
          <p:nvPr/>
        </p:nvSpPr>
        <p:spPr>
          <a:xfrm>
            <a:off x="1020928" y="3749040"/>
            <a:ext cx="2926080" cy="1280160"/>
          </a:xfrm>
          <a:prstGeom prst="roundRect">
            <a:avLst>
              <a:gd name="adj" fmla="val 8571"/>
            </a:avLst>
          </a:prstGeom>
          <a:solidFill>
            <a:srgbClr val="243054"/>
          </a:solidFill>
          <a:ln w="9525">
            <a:solidFill>
              <a:srgbClr val="34426A"/>
            </a:solidFill>
            <a:prstDash val="solid"/>
          </a:ln>
        </p:spPr>
      </p:sp>
      <p:sp>
        <p:nvSpPr>
          <p:cNvPr id="5" name="Text 3"/>
          <p:cNvSpPr txBox="1"/>
          <p:nvPr/>
        </p:nvSpPr>
        <p:spPr>
          <a:xfrm>
            <a:off x="1020928" y="3886200"/>
            <a:ext cx="2926080" cy="457200"/>
          </a:xfrm>
          <a:prstGeom prst="rect">
            <a:avLst/>
          </a:prstGeom>
          <a:noFill/>
          <a:ln/>
        </p:spPr>
        <p:txBody>
          <a:bodyPr wrap="square" lIns="0" tIns="0" rIns="0" bIns="0" rtlCol="0" anchor="t"/>
          <a:lstStyle/>
          <a:p>
            <a:pPr algn="ctr" indent="0" marL="0">
              <a:buNone/>
            </a:pPr>
            <a:r>
              <a:rPr lang="en-US" sz="1900" b="1" dirty="0">
                <a:solidFill>
                  <a:srgbClr val="FFFFFF"/>
                </a:solidFill>
                <a:latin typeface="Arial" pitchFamily="34" charset="0"/>
                <a:ea typeface="Arial" pitchFamily="34" charset="-122"/>
                <a:cs typeface="Arial" pitchFamily="34" charset="-120"/>
              </a:rPr>
              <a:t>Travel Knowledge</a:t>
            </a:r>
            <a:endParaRPr lang="en-US" sz="1900" dirty="0"/>
          </a:p>
        </p:txBody>
      </p:sp>
      <p:sp>
        <p:nvSpPr>
          <p:cNvPr id="6" name="Text 4"/>
          <p:cNvSpPr txBox="1"/>
          <p:nvPr/>
        </p:nvSpPr>
        <p:spPr>
          <a:xfrm>
            <a:off x="1203808" y="4389120"/>
            <a:ext cx="2560320" cy="457200"/>
          </a:xfrm>
          <a:prstGeom prst="rect">
            <a:avLst/>
          </a:prstGeom>
          <a:noFill/>
          <a:ln/>
        </p:spPr>
        <p:txBody>
          <a:bodyPr wrap="square" lIns="0" tIns="0" rIns="0" bIns="0" rtlCol="0" anchor="t"/>
          <a:lstStyle/>
          <a:p>
            <a:pPr algn="ctr" indent="0" marL="0">
              <a:buNone/>
            </a:pPr>
            <a:r>
              <a:rPr lang="en-US" sz="1200" dirty="0">
                <a:solidFill>
                  <a:srgbClr val="C7D0E0"/>
                </a:solidFill>
                <a:latin typeface="Arial" pitchFamily="34" charset="0"/>
                <a:ea typeface="Arial" pitchFamily="34" charset="-122"/>
                <a:cs typeface="Arial" pitchFamily="34" charset="-120"/>
              </a:rPr>
              <a:t>conocimiento verificado y reutilizable</a:t>
            </a:r>
            <a:endParaRPr lang="en-US" sz="1200" dirty="0"/>
          </a:p>
        </p:txBody>
      </p:sp>
      <p:sp>
        <p:nvSpPr>
          <p:cNvPr id="7" name="Text 5"/>
          <p:cNvSpPr txBox="1"/>
          <p:nvPr/>
        </p:nvSpPr>
        <p:spPr>
          <a:xfrm>
            <a:off x="3947008" y="3749040"/>
            <a:ext cx="685800" cy="1280160"/>
          </a:xfrm>
          <a:prstGeom prst="rect">
            <a:avLst/>
          </a:prstGeom>
          <a:noFill/>
          <a:ln/>
        </p:spPr>
        <p:txBody>
          <a:bodyPr wrap="square" lIns="0" tIns="0" rIns="0" bIns="0" rtlCol="0" anchor="ctr"/>
          <a:lstStyle/>
          <a:p>
            <a:pPr algn="ctr" indent="0" marL="0">
              <a:buNone/>
            </a:pPr>
            <a:r>
              <a:rPr lang="en-US" sz="3000" b="1" dirty="0">
                <a:solidFill>
                  <a:srgbClr val="5BC0BE"/>
                </a:solidFill>
                <a:latin typeface="Arial" pitchFamily="34" charset="0"/>
                <a:ea typeface="Arial" pitchFamily="34" charset="-122"/>
                <a:cs typeface="Arial" pitchFamily="34" charset="-120"/>
              </a:rPr>
              <a:t>+</a:t>
            </a:r>
            <a:endParaRPr lang="en-US" sz="3000" dirty="0"/>
          </a:p>
        </p:txBody>
      </p:sp>
      <p:sp>
        <p:nvSpPr>
          <p:cNvPr id="8" name="Shape 6"/>
          <p:cNvSpPr/>
          <p:nvPr/>
        </p:nvSpPr>
        <p:spPr>
          <a:xfrm>
            <a:off x="4632808" y="3749040"/>
            <a:ext cx="2926080" cy="1280160"/>
          </a:xfrm>
          <a:prstGeom prst="roundRect">
            <a:avLst>
              <a:gd name="adj" fmla="val 8571"/>
            </a:avLst>
          </a:prstGeom>
          <a:solidFill>
            <a:srgbClr val="5BC0BE"/>
          </a:solidFill>
          <a:ln w="9525">
            <a:solidFill>
              <a:srgbClr val="5BC0BE"/>
            </a:solidFill>
            <a:prstDash val="solid"/>
          </a:ln>
        </p:spPr>
      </p:sp>
      <p:sp>
        <p:nvSpPr>
          <p:cNvPr id="9" name="Text 7"/>
          <p:cNvSpPr txBox="1"/>
          <p:nvPr/>
        </p:nvSpPr>
        <p:spPr>
          <a:xfrm>
            <a:off x="4632808" y="3886200"/>
            <a:ext cx="2926080" cy="457200"/>
          </a:xfrm>
          <a:prstGeom prst="rect">
            <a:avLst/>
          </a:prstGeom>
          <a:noFill/>
          <a:ln/>
        </p:spPr>
        <p:txBody>
          <a:bodyPr wrap="square" lIns="0" tIns="0" rIns="0" bIns="0" rtlCol="0" anchor="t"/>
          <a:lstStyle/>
          <a:p>
            <a:pPr algn="ctr" indent="0" marL="0">
              <a:buNone/>
            </a:pPr>
            <a:r>
              <a:rPr lang="en-US" sz="1900" b="1" dirty="0">
                <a:solidFill>
                  <a:srgbClr val="0B132B"/>
                </a:solidFill>
                <a:latin typeface="Arial" pitchFamily="34" charset="0"/>
                <a:ea typeface="Arial" pitchFamily="34" charset="-122"/>
                <a:cs typeface="Arial" pitchFamily="34" charset="-120"/>
              </a:rPr>
              <a:t>Decision Engine</a:t>
            </a:r>
            <a:endParaRPr lang="en-US" sz="1900" dirty="0"/>
          </a:p>
        </p:txBody>
      </p:sp>
      <p:sp>
        <p:nvSpPr>
          <p:cNvPr id="10" name="Text 8"/>
          <p:cNvSpPr txBox="1"/>
          <p:nvPr/>
        </p:nvSpPr>
        <p:spPr>
          <a:xfrm>
            <a:off x="4815688" y="4389120"/>
            <a:ext cx="2560320" cy="457200"/>
          </a:xfrm>
          <a:prstGeom prst="rect">
            <a:avLst/>
          </a:prstGeom>
          <a:noFill/>
          <a:ln/>
        </p:spPr>
        <p:txBody>
          <a:bodyPr wrap="square" lIns="0" tIns="0" rIns="0" bIns="0" rtlCol="0" anchor="t"/>
          <a:lstStyle/>
          <a:p>
            <a:pPr algn="ctr" indent="0" marL="0">
              <a:buNone/>
            </a:pPr>
            <a:r>
              <a:rPr lang="en-US" sz="1200" dirty="0">
                <a:solidFill>
                  <a:srgbClr val="0B132B"/>
                </a:solidFill>
                <a:latin typeface="Arial" pitchFamily="34" charset="0"/>
                <a:ea typeface="Arial" pitchFamily="34" charset="-122"/>
                <a:cs typeface="Arial" pitchFamily="34" charset="-120"/>
              </a:rPr>
              <a:t>preferencias + factibilidad + calidad</a:t>
            </a:r>
            <a:endParaRPr lang="en-US" sz="1200" dirty="0"/>
          </a:p>
        </p:txBody>
      </p:sp>
      <p:sp>
        <p:nvSpPr>
          <p:cNvPr id="11" name="Text 9"/>
          <p:cNvSpPr txBox="1"/>
          <p:nvPr/>
        </p:nvSpPr>
        <p:spPr>
          <a:xfrm>
            <a:off x="7558888" y="3749040"/>
            <a:ext cx="685800" cy="1280160"/>
          </a:xfrm>
          <a:prstGeom prst="rect">
            <a:avLst/>
          </a:prstGeom>
          <a:noFill/>
          <a:ln/>
        </p:spPr>
        <p:txBody>
          <a:bodyPr wrap="square" lIns="0" tIns="0" rIns="0" bIns="0" rtlCol="0" anchor="ctr"/>
          <a:lstStyle/>
          <a:p>
            <a:pPr algn="ctr" indent="0" marL="0">
              <a:buNone/>
            </a:pPr>
            <a:r>
              <a:rPr lang="en-US" sz="3000" b="1" dirty="0">
                <a:solidFill>
                  <a:srgbClr val="5BC0BE"/>
                </a:solidFill>
                <a:latin typeface="Arial" pitchFamily="34" charset="0"/>
                <a:ea typeface="Arial" pitchFamily="34" charset="-122"/>
                <a:cs typeface="Arial" pitchFamily="34" charset="-120"/>
              </a:rPr>
              <a:t>+</a:t>
            </a:r>
            <a:endParaRPr lang="en-US" sz="3000" dirty="0"/>
          </a:p>
        </p:txBody>
      </p:sp>
      <p:sp>
        <p:nvSpPr>
          <p:cNvPr id="12" name="Shape 10"/>
          <p:cNvSpPr/>
          <p:nvPr/>
        </p:nvSpPr>
        <p:spPr>
          <a:xfrm>
            <a:off x="8244688" y="3749040"/>
            <a:ext cx="2926080" cy="1280160"/>
          </a:xfrm>
          <a:prstGeom prst="roundRect">
            <a:avLst>
              <a:gd name="adj" fmla="val 8571"/>
            </a:avLst>
          </a:prstGeom>
          <a:solidFill>
            <a:srgbClr val="243054"/>
          </a:solidFill>
          <a:ln w="9525">
            <a:solidFill>
              <a:srgbClr val="34426A"/>
            </a:solidFill>
            <a:prstDash val="solid"/>
          </a:ln>
        </p:spPr>
      </p:sp>
      <p:sp>
        <p:nvSpPr>
          <p:cNvPr id="13" name="Text 11"/>
          <p:cNvSpPr txBox="1"/>
          <p:nvPr/>
        </p:nvSpPr>
        <p:spPr>
          <a:xfrm>
            <a:off x="8244688" y="3886200"/>
            <a:ext cx="2926080" cy="457200"/>
          </a:xfrm>
          <a:prstGeom prst="rect">
            <a:avLst/>
          </a:prstGeom>
          <a:noFill/>
          <a:ln/>
        </p:spPr>
        <p:txBody>
          <a:bodyPr wrap="square" lIns="0" tIns="0" rIns="0" bIns="0" rtlCol="0" anchor="t"/>
          <a:lstStyle/>
          <a:p>
            <a:pPr algn="ctr" indent="0" marL="0">
              <a:buNone/>
            </a:pPr>
            <a:r>
              <a:rPr lang="en-US" sz="1900" b="1" dirty="0">
                <a:solidFill>
                  <a:srgbClr val="FFFFFF"/>
                </a:solidFill>
                <a:latin typeface="Arial" pitchFamily="34" charset="0"/>
                <a:ea typeface="Arial" pitchFamily="34" charset="-122"/>
                <a:cs typeface="Arial" pitchFamily="34" charset="-120"/>
              </a:rPr>
              <a:t>Distribution</a:t>
            </a:r>
            <a:endParaRPr lang="en-US" sz="1900" dirty="0"/>
          </a:p>
        </p:txBody>
      </p:sp>
      <p:sp>
        <p:nvSpPr>
          <p:cNvPr id="14" name="Text 12"/>
          <p:cNvSpPr txBox="1"/>
          <p:nvPr/>
        </p:nvSpPr>
        <p:spPr>
          <a:xfrm>
            <a:off x="8427568" y="4389120"/>
            <a:ext cx="2560320" cy="457200"/>
          </a:xfrm>
          <a:prstGeom prst="rect">
            <a:avLst/>
          </a:prstGeom>
          <a:noFill/>
          <a:ln/>
        </p:spPr>
        <p:txBody>
          <a:bodyPr wrap="square" lIns="0" tIns="0" rIns="0" bIns="0" rtlCol="0" anchor="t"/>
          <a:lstStyle/>
          <a:p>
            <a:pPr algn="ctr" indent="0" marL="0">
              <a:buNone/>
            </a:pPr>
            <a:r>
              <a:rPr lang="en-US" sz="1200" dirty="0">
                <a:solidFill>
                  <a:srgbClr val="C7D0E0"/>
                </a:solidFill>
                <a:latin typeface="Arial" pitchFamily="34" charset="0"/>
                <a:ea typeface="Arial" pitchFamily="34" charset="-122"/>
                <a:cs typeface="Arial" pitchFamily="34" charset="-120"/>
              </a:rPr>
              <a:t>B2C · API · white-label · marketplace</a:t>
            </a:r>
            <a:endParaRPr lang="en-US" sz="1200" dirty="0"/>
          </a:p>
        </p:txBody>
      </p:sp>
      <p:sp>
        <p:nvSpPr>
          <p:cNvPr id="15" name="Text 13"/>
          <p:cNvSpPr txBox="1"/>
          <p:nvPr/>
        </p:nvSpPr>
        <p:spPr>
          <a:xfrm>
            <a:off x="594360" y="6035040"/>
            <a:ext cx="11002975" cy="274320"/>
          </a:xfrm>
          <a:prstGeom prst="rect">
            <a:avLst/>
          </a:prstGeom>
          <a:noFill/>
          <a:ln/>
        </p:spPr>
        <p:txBody>
          <a:bodyPr wrap="square" lIns="0" tIns="0" rIns="0" bIns="0" rtlCol="0" anchor="t"/>
          <a:lstStyle/>
          <a:p>
            <a:pPr algn="ctr" indent="0" marL="0">
              <a:buNone/>
            </a:pPr>
            <a:r>
              <a:rPr lang="en-US" sz="1200" b="1" spc="800" kern="0" dirty="0">
                <a:solidFill>
                  <a:srgbClr val="8391AE"/>
                </a:solidFill>
                <a:latin typeface="Arial" pitchFamily="34" charset="0"/>
                <a:ea typeface="Arial" pitchFamily="34" charset="-122"/>
                <a:cs typeface="Arial" pitchFamily="34" charset="-120"/>
              </a:rPr>
              <a:t>ZIG-ZAG</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Zig-Zag — Business, Product &amp; Strategy Update</dc:title>
  <dc:subject>PptxGenJS Presentation</dc:subject>
  <dc:creator>Zig-Zag</dc:creator>
  <cp:lastModifiedBy>Zig-Zag</cp:lastModifiedBy>
  <cp:revision>1</cp:revision>
  <dcterms:created xsi:type="dcterms:W3CDTF">2026-09-27T12:39:43Z</dcterms:created>
  <dcterms:modified xsi:type="dcterms:W3CDTF">2026-09-27T12:39:43Z</dcterms:modified>
</cp:coreProperties>
</file>