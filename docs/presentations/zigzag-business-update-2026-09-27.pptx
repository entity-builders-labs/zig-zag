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Mensaje central del deck: Zig-Zag no busca simplemente generar itinerarios con IA; busca transformar preferencias humanas en decisiones de viaje confiables, personalizadas, explicables y ejecutables. Todo lo que se presenta como estado actual proviene de la documentación, el código y los spikes del repositorio (rama feat/preference-first-selection, septiembre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mercado no sufre escasez de contenido: sufre de fragmentación y de falta de confianza. El viajero termina haciendo manualmente el trabajo de síntesis, verificación y planificación. No presentamos datos de tamaño de mercado porque no existen en la evidencia del proyecto.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Visión de producto, no estado actual. Hoy la entrada es un wizard con intereses, formato y texto libre; la interacción conversacional completa es un horizonte posterior (ver roadmap, Horizonte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potencial foso defensivo: el catálogo verificado es un activo acumulativo. Aclarar que los tiempos 252 s (en frío) y 34 s (en caliente) son de un entorno de desarrollo con proveedores de nivel gratuito; no son una predicción de latencia de producción. Fuente: spikes/rw2-buenos-aires-multi-area-walk-2026-09-26/assessment.md §10.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LLM participan en tareas acotadas (interpretar preferencias, extraer propuestas desde evidencia, clasificar), pero nunca son autoridad sobre geografía, identidad, deduplicación, persistencia, ranking o factibilidad. Eso lo resuelve un núcleo determinístico. Esa separación es lo que vuelve las decisiones defendibles.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Etiquetada explícitamente como propuesta. No existe hoy un pipeline que calcule esta tasa. Algunos insumos ya existen como señales de trazabilidad (p. ej. los validadores de completitud y de formato solicitado, reuso de catálogo observable en la Bitácora), pero no hay mediciones agregadas que presentar. No mostramos porcentajes porque no existen.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Escalera de madurez basada en el progress doc de la rama (actualizado 2026-09-26). Bitácora: operativa y mejorada tras RW2, pero la versión de producto (Bitácora v4) no está cerrada. Generalización: RW1 y RW2 ejecutados; RW3–RW6 pendientes. No afirmamos readiness de producción: hay suites de baseline en rojo conocidas y la convergencia preference-first (M5–M9) sigue parcialmente abierta.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Spike RW2 (2026-09-26), flujo real sin atajos: anclas San Telmo y La Boca extraídas del texto libre y resueltas a límites OSM. El extractor encontró una caminata publicada ('Private La Boca and San Telmo History Walk', corroborada por varias fuentes) y la convirtió en una Experience de 7 componentes, todos citados a la evidencia. 15/15 propuestas validadas geográficamente, 0 rechazadas. La corrida en caliente reutilizó el mismo ID canónico sin investigación web ni extracción nuevas. Es un caso, no una estadística.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aprendizaje más importante del período. Todo el pipeline factual funcionó y aun así el resultado no respondió a lo que el viajero pidió (una caminata). La Bitácora permitió el análisis de causa raíz exacto; después se agregaron diagnósticos tipados de caminata (real vs. límite) y trazabilidad de composición. RW2 usó límites 5000 m/día y 3000 m continuos; el preset por defecto del frontend es aún más restrictivo en caminata continua (1500 m). La política NO está resuelta: requiere una decisión de producto sobre defaults y sobre cómo tratar la intención 'caminar'.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Niveles cualitativos (importancia para el producto), no probabilidades medidas. Profundidad de evidencia: en RW2, Mafalda y Parque Lezama nunca aparecieron en la evidencia entregada. Sensibilidad de extracción: con temperatura 0 y la misma evidencia, el conjunto de componentes varió según el resto del contexto (case-b x5). Proveedores: hubo bloqueos por cuota diaria y timeouts; hoy no existe fallback automático y es una decisión deliberada. Performance: los tiempos observados en frío son de desarrollo, no predicciones de producción.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Disciplina estratégica documentada en el roadmap y el progress doc: no hay fallback automático de proveedores (se diseñará aparte con política y observabilidad), no se reabren invariantes de geografía/identidad para compensar variancia del extractor, y la convergencia agéntica viene después de cerrar el core preference-first.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Horizonte 1 corresponde a Gate C del roadmap canónico (RW3 es el próximo gate). El Horizonte 2 agrupa el cierre del core preference-first: evaluación de calidad, política de movilidad, costo de proveedores, suites de baseline en rojo ('green means green') y milestones M5–M9 aún abiertos. El Horizonte 4 corresponde a la convergencia agéntica y las capacidades post-convergencia (actividades, eventos, replanificación conversacional). No hay fechas porque no existen compromisos de calendario en la evidencia.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Tres capas: el conocimiento verificado (lo que ya empezamos a construir y reutilizar), el motor de decisión (preference-first + planificación determinística, hoy en generalización) y la experiencia agéntica (horizonte futuro). El agente entiende y decide qué falta; el core prueba qué es real y factible; el catálogo recuerda.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5760720" y="3200400"/>
            <a:ext cx="640080" cy="1005840"/>
          </a:xfrm>
          <a:prstGeom prst="line">
            <a:avLst/>
          </a:prstGeom>
          <a:noFill/>
          <a:ln w="3810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3200400"/>
            <a:ext cx="640080" cy="548640"/>
          </a:xfrm>
          <a:prstGeom prst="line">
            <a:avLst/>
          </a:prstGeom>
          <a:noFill/>
          <a:ln w="3810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040880" y="2468880"/>
            <a:ext cx="548640" cy="1280160"/>
          </a:xfrm>
          <a:prstGeom prst="line">
            <a:avLst/>
          </a:prstGeom>
          <a:noFill/>
          <a:ln w="3810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89520" y="2468880"/>
            <a:ext cx="548640" cy="457200"/>
          </a:xfrm>
          <a:prstGeom prst="line">
            <a:avLst/>
          </a:prstGeom>
          <a:noFill/>
          <a:ln w="381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8138160" y="1463040"/>
            <a:ext cx="457200" cy="1463040"/>
          </a:xfrm>
          <a:prstGeom prst="line">
            <a:avLst/>
          </a:prstGeom>
          <a:noFill/>
          <a:ln w="381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87568" y="4133088"/>
            <a:ext cx="146304" cy="146304"/>
          </a:xfrm>
          <a:prstGeom prst="ellipse">
            <a:avLst/>
          </a:prstGeom>
          <a:solidFill>
            <a:srgbClr val="13213A"/>
          </a:solidFill>
          <a:ln w="254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27648" y="3127248"/>
            <a:ext cx="146304" cy="146304"/>
          </a:xfrm>
          <a:prstGeom prst="ellipse">
            <a:avLst/>
          </a:prstGeom>
          <a:solidFill>
            <a:srgbClr val="13213A"/>
          </a:solidFill>
          <a:ln w="25400">
            <a:solidFill>
              <a:srgbClr val="E07A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67728" y="3675888"/>
            <a:ext cx="146304" cy="146304"/>
          </a:xfrm>
          <a:prstGeom prst="ellipse">
            <a:avLst/>
          </a:prstGeom>
          <a:solidFill>
            <a:srgbClr val="13213A"/>
          </a:solidFill>
          <a:ln w="25400">
            <a:solidFill>
              <a:srgbClr val="E07A3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16368" y="2395728"/>
            <a:ext cx="146304" cy="146304"/>
          </a:xfrm>
          <a:prstGeom prst="ellipse">
            <a:avLst/>
          </a:prstGeom>
          <a:solidFill>
            <a:srgbClr val="13213A"/>
          </a:solidFill>
          <a:ln w="25400">
            <a:solidFill>
              <a:srgbClr val="E07A3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65008" y="2852928"/>
            <a:ext cx="146304" cy="146304"/>
          </a:xfrm>
          <a:prstGeom prst="ellipse">
            <a:avLst/>
          </a:prstGeom>
          <a:solidFill>
            <a:srgbClr val="13213A"/>
          </a:solidFill>
          <a:ln w="25400">
            <a:solidFill>
              <a:srgbClr val="E07A3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76488" y="1344168"/>
            <a:ext cx="237744" cy="237744"/>
          </a:xfrm>
          <a:prstGeom prst="ellipse">
            <a:avLst/>
          </a:prstGeom>
          <a:solidFill>
            <a:srgbClr val="E07A3F"/>
          </a:solidFill>
          <a:ln w="25400">
            <a:solidFill>
              <a:srgbClr val="E07A3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640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123444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generador de itinerarios a motor inteligente de decisiones de viaje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337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Product Update — Septiembre 2026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434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founders, stakeholders, potenciales partners/inversores y liderazgo de producto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7842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78485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4569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211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853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496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6888"/>
            <a:ext cx="896112" cy="237744"/>
          </a:xfrm>
          <a:prstGeom prst="roundRect">
            <a:avLst>
              <a:gd name="adj" fmla="val 50000"/>
            </a:avLst>
          </a:prstGeom>
          <a:solidFill>
            <a:srgbClr val="E8DFCF"/>
          </a:solidFill>
          <a:ln w="12700">
            <a:solidFill>
              <a:srgbClr val="E8DFC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6888"/>
            <a:ext cx="896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Planificar un viaje sigue siendo un problema de decisión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 · Business &amp; Product Update · Septiembre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3258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viajero salta entre…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1691640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F2ECE1"/>
          </a:solidFill>
          <a:ln w="12700">
            <a:solidFill>
              <a:srgbClr val="D9D2C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169164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600200" y="169164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2ECE1"/>
          </a:solidFill>
          <a:ln w="12700">
            <a:solidFill>
              <a:srgbClr val="D9D2C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600200" y="16916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Tripadvisor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88920" y="169164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F2ECE1"/>
          </a:solidFill>
          <a:ln w="12700">
            <a:solidFill>
              <a:srgbClr val="D9D2C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88920" y="169164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14884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F2ECE1"/>
          </a:solidFill>
          <a:ln w="12700">
            <a:solidFill>
              <a:srgbClr val="D9D2C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214884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737360" y="2148840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2ECE1"/>
          </a:solidFill>
          <a:ln w="12700">
            <a:solidFill>
              <a:srgbClr val="D9D2C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737360" y="21488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/ Instagram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2606040"/>
            <a:ext cx="1600200" cy="329184"/>
          </a:xfrm>
          <a:prstGeom prst="roundRect">
            <a:avLst>
              <a:gd name="adj" fmla="val 50000"/>
            </a:avLst>
          </a:prstGeom>
          <a:solidFill>
            <a:srgbClr val="F2ECE1"/>
          </a:solidFill>
          <a:ln w="12700">
            <a:solidFill>
              <a:srgbClr val="D9D2C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2606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Plataformas de reserva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194560" y="260604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2ECE1"/>
          </a:solidFill>
          <a:ln w="12700">
            <a:solidFill>
              <a:srgbClr val="D9D2C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194560" y="260604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genérico de IA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30632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…y la información está fragmentada, repetida y es difícil de verificar.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114800" y="2148840"/>
            <a:ext cx="457200" cy="365760"/>
          </a:xfrm>
          <a:prstGeom prst="rightArrow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…pero todavía tiene que decidir: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54880" y="1746504"/>
            <a:ext cx="219456" cy="21945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54880" y="17465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074920" y="169164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vale realmente la pena?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754880" y="2130552"/>
            <a:ext cx="219456" cy="21945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54880" y="21305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074920" y="2075688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encaja conmigo?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754880" y="2514600"/>
            <a:ext cx="219456" cy="21945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54880" y="25146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074920" y="245973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cosas forman una experiencia real?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754880" y="2898648"/>
            <a:ext cx="219456" cy="21945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754880" y="289864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5074920" y="284378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puedo hacer razonablemente en el tiempo disponible?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754880" y="3282696"/>
            <a:ext cx="219456" cy="21945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754880" y="32826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5074920" y="322783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qué información puedo confiar?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457200" y="379476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31520" y="37947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no es la falta de contenido de viaje. </a:t>
            </a:r>
            <a:pPr indent="0" marL="0">
              <a:buNone/>
            </a:pPr>
            <a:r>
              <a:rPr lang="en-US" sz="1600" b="1" dirty="0">
                <a:solidFill>
                  <a:srgbClr val="E07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convertir información fragmentada en decisiones confiables.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7842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78485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4569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211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853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496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6888"/>
            <a:ext cx="1284732" cy="237744"/>
          </a:xfrm>
          <a:prstGeom prst="roundRect">
            <a:avLst>
              <a:gd name="adj" fmla="val 50000"/>
            </a:avLst>
          </a:prstGeom>
          <a:solidFill>
            <a:srgbClr val="E7DFF2"/>
          </a:solidFill>
          <a:ln w="12700">
            <a:solidFill>
              <a:srgbClr val="E7DF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6888"/>
            <a:ext cx="1284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A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FUTURA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Nuestra visión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 · Business &amp; Product Update · Septiembre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37160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una capa inteligente entre la intención del viajero y el mundo real: un sistema que entienda qué quiere una persona, conozca qué experiencias existen realmente y pueda construir el mejor viaje posible con evidencia.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77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de interacción futura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325880"/>
            <a:ext cx="3931920" cy="1508760"/>
          </a:xfrm>
          <a:prstGeom prst="roundRect">
            <a:avLst>
              <a:gd name="adj" fmla="val 6061"/>
            </a:avLst>
          </a:prstGeom>
          <a:solidFill>
            <a:srgbClr val="1D2F4F"/>
          </a:solidFill>
          <a:ln w="12700">
            <a:solidFill>
              <a:srgbClr val="3A4E7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1417320"/>
            <a:ext cx="3566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4E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“Voy 4 días a Buenos Aires. Me interesa arquitectura, historia y barrios con identidad. Quiero caminar bastante, pero no perder tiempo viajando de punta a punta.”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754880" y="3063240"/>
            <a:ext cx="1243584" cy="438912"/>
          </a:xfrm>
          <a:prstGeom prst="roundRect">
            <a:avLst>
              <a:gd name="adj" fmla="val 16667"/>
            </a:avLst>
          </a:prstGeom>
          <a:solidFill>
            <a:srgbClr val="22365A"/>
          </a:solidFill>
          <a:ln w="12700">
            <a:solidFill>
              <a:srgbClr val="3A4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54880" y="3063240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Entiende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99048" y="3063240"/>
            <a:ext cx="1243584" cy="438912"/>
          </a:xfrm>
          <a:prstGeom prst="roundRect">
            <a:avLst>
              <a:gd name="adj" fmla="val 16667"/>
            </a:avLst>
          </a:prstGeom>
          <a:solidFill>
            <a:srgbClr val="22365A"/>
          </a:solidFill>
          <a:ln w="12700">
            <a:solidFill>
              <a:srgbClr val="3A4E7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99048" y="3063240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Investiga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43216" y="3063240"/>
            <a:ext cx="1243584" cy="438912"/>
          </a:xfrm>
          <a:prstGeom prst="roundRect">
            <a:avLst>
              <a:gd name="adj" fmla="val 16667"/>
            </a:avLst>
          </a:prstGeom>
          <a:solidFill>
            <a:srgbClr val="22365A"/>
          </a:solidFill>
          <a:ln w="12700">
            <a:solidFill>
              <a:srgbClr val="3A4E7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43216" y="3063240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Verifica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754880" y="3630168"/>
            <a:ext cx="1243584" cy="438912"/>
          </a:xfrm>
          <a:prstGeom prst="roundRect">
            <a:avLst>
              <a:gd name="adj" fmla="val 16667"/>
            </a:avLst>
          </a:prstGeom>
          <a:solidFill>
            <a:srgbClr val="22365A"/>
          </a:solidFill>
          <a:ln w="12700">
            <a:solidFill>
              <a:srgbClr val="3A4E7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54880" y="3630168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Elige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99048" y="3630168"/>
            <a:ext cx="1243584" cy="438912"/>
          </a:xfrm>
          <a:prstGeom prst="roundRect">
            <a:avLst>
              <a:gd name="adj" fmla="val 16667"/>
            </a:avLst>
          </a:prstGeom>
          <a:solidFill>
            <a:srgbClr val="22365A"/>
          </a:solidFill>
          <a:ln w="12700">
            <a:solidFill>
              <a:srgbClr val="3A4E7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99048" y="3630168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Planifica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443216" y="3630168"/>
            <a:ext cx="1243584" cy="438912"/>
          </a:xfrm>
          <a:prstGeom prst="roundRect">
            <a:avLst>
              <a:gd name="adj" fmla="val 16667"/>
            </a:avLst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443216" y="3630168"/>
            <a:ext cx="1243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Explica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754880" y="42245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Zig-Zag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7842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78485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4569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211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853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496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6888"/>
            <a:ext cx="1129284" cy="237744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6888"/>
            <a:ext cx="112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HOY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viaje puede hacer mejor al siguiente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 · Business &amp; Product Update · Septiembre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188720" y="1508760"/>
            <a:ext cx="2834640" cy="2834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07A3F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947672" y="2267712"/>
            <a:ext cx="1316736" cy="131673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84248" y="2468880"/>
            <a:ext cx="1243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Catálogo compartido de viajes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943100" y="1280160"/>
            <a:ext cx="1325880" cy="457200"/>
          </a:xfrm>
          <a:prstGeom prst="roundRect">
            <a:avLst>
              <a:gd name="adj" fmla="val 20000"/>
            </a:avLst>
          </a:prstGeom>
          <a:solidFill>
            <a:srgbClr val="F2ECE1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79676" y="1280160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Intención del viajero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70535" y="1988820"/>
            <a:ext cx="1325880" cy="457200"/>
          </a:xfrm>
          <a:prstGeom prst="roundRect">
            <a:avLst>
              <a:gd name="adj" fmla="val 20000"/>
            </a:avLst>
          </a:prstGeom>
          <a:solidFill>
            <a:srgbClr val="F2ECE1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07111" y="1988820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 con evidencia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70535" y="3406140"/>
            <a:ext cx="1325880" cy="457200"/>
          </a:xfrm>
          <a:prstGeom prst="roundRect">
            <a:avLst>
              <a:gd name="adj" fmla="val 20000"/>
            </a:avLst>
          </a:prstGeom>
          <a:solidFill>
            <a:srgbClr val="F2ECE1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207111" y="3406140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Experiences verificadas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943100" y="4114800"/>
            <a:ext cx="1325880" cy="457200"/>
          </a:xfrm>
          <a:prstGeom prst="roundRect">
            <a:avLst>
              <a:gd name="adj" fmla="val 20000"/>
            </a:avLst>
          </a:prstGeom>
          <a:solidFill>
            <a:srgbClr val="F2ECE1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979676" y="4114800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recuperación y personalización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5665" y="3406140"/>
            <a:ext cx="1325880" cy="457200"/>
          </a:xfrm>
          <a:prstGeom prst="roundRect">
            <a:avLst>
              <a:gd name="adj" fmla="val 20000"/>
            </a:avLst>
          </a:prstGeom>
          <a:solidFill>
            <a:srgbClr val="F2ECE1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2241" y="3406140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viaje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15665" y="1988820"/>
            <a:ext cx="1325880" cy="457200"/>
          </a:xfrm>
          <a:prstGeom prst="roundRect">
            <a:avLst>
              <a:gd name="adj" fmla="val 20000"/>
            </a:avLst>
          </a:prstGeom>
          <a:solidFill>
            <a:srgbClr val="F2ECE1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2241" y="1988820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conocimiento verificado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14173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búsquedas y las llamadas a modelos son transitorias.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E07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conocimiento de viaje verificado es reutilizable.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937760" y="260604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Experience que se descubre y verifica se persiste en un catálogo compartido, aunque no se use en el viaje actual. La próxima solicitud equivalente parte de ese conocimiento en vez de volver a investigar.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937760" y="3520440"/>
            <a:ext cx="3749040" cy="1097280"/>
          </a:xfrm>
          <a:prstGeom prst="roundRect">
            <a:avLst>
              <a:gd name="adj" fmla="val 6667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20640" y="359359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(spike RW2, Buenos Aires)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120640" y="3840480"/>
            <a:ext cx="3429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segunda solicitud equivalente reutilizó el mismo Experience canónico: sin nueva búsqueda web, sin nueva extracción y sin filas nuevas. 252 s → 34 s en entorno de desarrollo (1 corrida cada una).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7842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78485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4569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211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853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496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queremos recomendaciones plausibles. Queremos decisiones defendibles.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 · Business &amp; Product Update · Septiembre 2026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6002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1783080"/>
            <a:ext cx="502920" cy="502920"/>
          </a:xfrm>
          <a:prstGeom prst="ellipse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911096"/>
            <a:ext cx="246888" cy="24688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40080" y="24048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272491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reales y lugares reales. Cada Experience cita la evidencia de la que surge.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560320" y="16002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743200" y="1783080"/>
            <a:ext cx="502920" cy="502920"/>
          </a:xfrm>
          <a:prstGeom prst="ellipse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1216" y="1911096"/>
            <a:ext cx="246888" cy="24688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743200" y="24048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Verificado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2743200" y="272491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Identidad, geografía y composición se validan antes de que el conocimiento sea canónico.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663440" y="16002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846320" y="1783080"/>
            <a:ext cx="502920" cy="502920"/>
          </a:xfrm>
          <a:prstGeom prst="ellipse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4336" y="1911096"/>
            <a:ext cx="246888" cy="24688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4846320" y="24048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Preference-first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4846320" y="272491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itinerario empieza por lo que le importa al viajero, no por una lista genérica de populares.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766560" y="1600200"/>
            <a:ext cx="1920240" cy="1920240"/>
          </a:xfrm>
          <a:prstGeom prst="roundRect">
            <a:avLst>
              <a:gd name="adj" fmla="val 4762"/>
            </a:avLst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949440" y="1783080"/>
            <a:ext cx="502920" cy="502920"/>
          </a:xfrm>
          <a:prstGeom prst="ellipse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1911096"/>
            <a:ext cx="246888" cy="246888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6949440" y="24048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Explicable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6949440" y="2724912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Bitácora permite reconstruir por qué algo se encontró, se eligió, se rechazó o se programó.</a:t>
            </a:r>
            <a:endParaRPr lang="en-US" sz="1050" dirty="0"/>
          </a:p>
        </p:txBody>
      </p:sp>
      <p:sp>
        <p:nvSpPr>
          <p:cNvPr id="32" name="Text 26"/>
          <p:cNvSpPr txBox="1"/>
          <p:nvPr/>
        </p:nvSpPr>
        <p:spPr>
          <a:xfrm>
            <a:off x="457200" y="3703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diferencia no es “usamos un LLM”. Es la cadena completa:</a:t>
            </a:r>
            <a:endParaRPr lang="en-US" sz="1050" dirty="0"/>
          </a:p>
        </p:txBody>
      </p:sp>
      <p:sp>
        <p:nvSpPr>
          <p:cNvPr id="33" name="Shape 27"/>
          <p:cNvSpPr/>
          <p:nvPr/>
        </p:nvSpPr>
        <p:spPr>
          <a:xfrm>
            <a:off x="457200" y="4023360"/>
            <a:ext cx="1221377" cy="566928"/>
          </a:xfrm>
          <a:prstGeom prst="chevron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640080" y="4023360"/>
            <a:ext cx="9013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Entender intención</a:t>
            </a:r>
            <a:endParaRPr lang="en-US" sz="800" dirty="0"/>
          </a:p>
        </p:txBody>
      </p:sp>
      <p:sp>
        <p:nvSpPr>
          <p:cNvPr id="35" name="Shape 29"/>
          <p:cNvSpPr/>
          <p:nvPr/>
        </p:nvSpPr>
        <p:spPr>
          <a:xfrm>
            <a:off x="1632857" y="4023360"/>
            <a:ext cx="1221377" cy="566928"/>
          </a:xfrm>
          <a:prstGeom prst="chevron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1815737" y="4023360"/>
            <a:ext cx="9013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experiencias reales</a:t>
            </a:r>
            <a:endParaRPr lang="en-US" sz="800" dirty="0"/>
          </a:p>
        </p:txBody>
      </p:sp>
      <p:sp>
        <p:nvSpPr>
          <p:cNvPr id="37" name="Shape 31"/>
          <p:cNvSpPr/>
          <p:nvPr/>
        </p:nvSpPr>
        <p:spPr>
          <a:xfrm>
            <a:off x="2808514" y="4023360"/>
            <a:ext cx="1221377" cy="566928"/>
          </a:xfrm>
          <a:prstGeom prst="chevron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2991394" y="4023360"/>
            <a:ext cx="9013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identidad y geografía</a:t>
            </a:r>
            <a:endParaRPr lang="en-US" sz="800" dirty="0"/>
          </a:p>
        </p:txBody>
      </p:sp>
      <p:sp>
        <p:nvSpPr>
          <p:cNvPr id="39" name="Shape 33"/>
          <p:cNvSpPr/>
          <p:nvPr/>
        </p:nvSpPr>
        <p:spPr>
          <a:xfrm>
            <a:off x="3984171" y="4023360"/>
            <a:ext cx="1221377" cy="566928"/>
          </a:xfrm>
          <a:prstGeom prst="chevron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4167051" y="4023360"/>
            <a:ext cx="9013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conocimiento reutilizable</a:t>
            </a:r>
            <a:endParaRPr lang="en-US" sz="800" dirty="0"/>
          </a:p>
        </p:txBody>
      </p:sp>
      <p:sp>
        <p:nvSpPr>
          <p:cNvPr id="41" name="Shape 35"/>
          <p:cNvSpPr/>
          <p:nvPr/>
        </p:nvSpPr>
        <p:spPr>
          <a:xfrm>
            <a:off x="5159829" y="4023360"/>
            <a:ext cx="1221377" cy="566928"/>
          </a:xfrm>
          <a:prstGeom prst="chevron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5342709" y="4023360"/>
            <a:ext cx="9013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Elegir según preferencias</a:t>
            </a:r>
            <a:endParaRPr lang="en-US" sz="800" dirty="0"/>
          </a:p>
        </p:txBody>
      </p:sp>
      <p:sp>
        <p:nvSpPr>
          <p:cNvPr id="43" name="Shape 37"/>
          <p:cNvSpPr/>
          <p:nvPr/>
        </p:nvSpPr>
        <p:spPr>
          <a:xfrm>
            <a:off x="6335486" y="4023360"/>
            <a:ext cx="1221377" cy="566928"/>
          </a:xfrm>
          <a:prstGeom prst="chevron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6518366" y="4023360"/>
            <a:ext cx="9013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Armar itinerario factible</a:t>
            </a:r>
            <a:endParaRPr lang="en-US" sz="800" dirty="0"/>
          </a:p>
        </p:txBody>
      </p:sp>
      <p:sp>
        <p:nvSpPr>
          <p:cNvPr id="45" name="Shape 39"/>
          <p:cNvSpPr/>
          <p:nvPr/>
        </p:nvSpPr>
        <p:spPr>
          <a:xfrm>
            <a:off x="7511143" y="4023360"/>
            <a:ext cx="1221377" cy="566928"/>
          </a:xfrm>
          <a:prstGeom prst="chevron">
            <a:avLst/>
          </a:prstGeom>
          <a:solidFill>
            <a:srgbClr val="E07A3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7694023" y="4023360"/>
            <a:ext cx="90133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cada decisión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7842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78485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4569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211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853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496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6888"/>
            <a:ext cx="1595628" cy="237744"/>
          </a:xfrm>
          <a:prstGeom prst="roundRect">
            <a:avLst>
              <a:gd name="adj" fmla="val 50000"/>
            </a:avLst>
          </a:prstGeom>
          <a:solidFill>
            <a:srgbClr val="DCE3F2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6888"/>
            <a:ext cx="1595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4A6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PROPUESTA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North Star propuesta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 · Business &amp; Product Update · Septiembre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2801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7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Successful Trip Plan Rate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18288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 solicitudes que producen un itinerario que: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240280"/>
            <a:ext cx="219456" cy="219456"/>
          </a:xfrm>
          <a:prstGeom prst="ellipse">
            <a:avLst/>
          </a:prstGeom>
          <a:solidFill>
            <a:srgbClr val="DCE3F2"/>
          </a:solidFill>
          <a:ln w="12700">
            <a:solidFill>
              <a:srgbClr val="4A63A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240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6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219456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satisface las preferencias principales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2606040"/>
            <a:ext cx="219456" cy="219456"/>
          </a:xfrm>
          <a:prstGeom prst="ellipse">
            <a:avLst/>
          </a:prstGeom>
          <a:solidFill>
            <a:srgbClr val="DCE3F2"/>
          </a:solidFill>
          <a:ln w="12700">
            <a:solidFill>
              <a:srgbClr val="4A63A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26060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6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04672" y="256032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Experiences verificadas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2971800"/>
            <a:ext cx="219456" cy="219456"/>
          </a:xfrm>
          <a:prstGeom prst="ellipse">
            <a:avLst/>
          </a:prstGeom>
          <a:solidFill>
            <a:srgbClr val="DCE3F2"/>
          </a:solidFill>
          <a:ln w="12700">
            <a:solidFill>
              <a:srgbClr val="4A63A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29718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6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04672" y="292608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geográfica y temporalmente factible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337560"/>
            <a:ext cx="219456" cy="219456"/>
          </a:xfrm>
          <a:prstGeom prst="ellipse">
            <a:avLst/>
          </a:prstGeom>
          <a:solidFill>
            <a:srgbClr val="DCE3F2"/>
          </a:solidFill>
          <a:ln w="12700">
            <a:solidFill>
              <a:srgbClr val="4A63A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7200" y="33375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6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" y="329184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fabrica experiencias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703320"/>
            <a:ext cx="219456" cy="219456"/>
          </a:xfrm>
          <a:prstGeom prst="ellipse">
            <a:avLst/>
          </a:prstGeom>
          <a:solidFill>
            <a:srgbClr val="DCE3F2"/>
          </a:solidFill>
          <a:ln w="12700">
            <a:solidFill>
              <a:srgbClr val="4A63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57200" y="37033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A6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04672" y="36576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 útil para el viajero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114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9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Aún no instrumentada: es la definición hacia la que vamos a medir.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937760" y="1325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soporte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37760" y="1691640"/>
            <a:ext cx="1828800" cy="566928"/>
          </a:xfrm>
          <a:prstGeom prst="roundRect">
            <a:avLst>
              <a:gd name="adj" fmla="val 12903"/>
            </a:avLst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74920" y="16916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Satisfaction Rate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39712" y="1691640"/>
            <a:ext cx="1828800" cy="566928"/>
          </a:xfrm>
          <a:prstGeom prst="roundRect">
            <a:avLst>
              <a:gd name="adj" fmla="val 12903"/>
            </a:avLst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976872" y="16916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Experience Coverage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937760" y="2377440"/>
            <a:ext cx="1828800" cy="566928"/>
          </a:xfrm>
          <a:prstGeom prst="roundRect">
            <a:avLst>
              <a:gd name="adj" fmla="val 12903"/>
            </a:avLst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74920" y="23774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Format Satisfaction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839712" y="2377440"/>
            <a:ext cx="1828800" cy="566928"/>
          </a:xfrm>
          <a:prstGeom prst="roundRect">
            <a:avLst>
              <a:gd name="adj" fmla="val 12903"/>
            </a:avLst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976872" y="23774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Reuse Rate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937760" y="3063240"/>
            <a:ext cx="1828800" cy="566928"/>
          </a:xfrm>
          <a:prstGeom prst="roundRect">
            <a:avLst>
              <a:gd name="adj" fmla="val 12903"/>
            </a:avLst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74920" y="30632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Cost per Successful Plan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839712" y="3063240"/>
            <a:ext cx="1828800" cy="566928"/>
          </a:xfrm>
          <a:prstGeom prst="roundRect">
            <a:avLst>
              <a:gd name="adj" fmla="val 12903"/>
            </a:avLst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76872" y="30632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Usable Plan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4937760" y="3749040"/>
            <a:ext cx="3749040" cy="566928"/>
          </a:xfrm>
          <a:prstGeom prst="roundRect">
            <a:avLst>
              <a:gd name="adj" fmla="val 12903"/>
            </a:avLst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074920" y="37490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Aceptación del usuario / ediciones necesarias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7842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78485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4569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211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853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496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6888"/>
            <a:ext cx="1129284" cy="237744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6888"/>
            <a:ext cx="112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HOY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core ya demuestra que la idea funciona. Ahora estamos probando que funcione de forma general.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 · Business &amp; Product Update · Septiembre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1600200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1600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Comprensión de intención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0" y="1673352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00400" y="16733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OPERATIVO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2029968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20299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de destino y anclas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0" y="2103120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00400" y="21031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OPERATIVO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2459736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4360" y="24597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Descubrimiento con evidencia (grounded)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0" y="2532888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200400" y="253288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OPERATIVO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2889504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288950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canónico de Experience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0" y="2962656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00400" y="296265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OPERATIVO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" y="3319272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94360" y="33192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identidad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00400" y="3392424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200400" y="339242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OPERATIVO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3749040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4360" y="3749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geográfica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200400" y="3822192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200400" y="382219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OPERATIVO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" y="4178808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94360" y="417880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Recuperación preference-first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200400" y="4251960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00400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OPERATIVO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4663440" y="1600200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800600" y="16002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determinística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406640" y="1673352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406640" y="16733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OPERATIVO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663440" y="2029968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00600" y="20299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reutilizable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406640" y="2103120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406640" y="21031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OPERATIVO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663440" y="2459736"/>
            <a:ext cx="40233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800600" y="24597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de decisiones / Bitácora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7406640" y="2532888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406640" y="253288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MADURANDO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663440" y="2889504"/>
            <a:ext cx="4023360" cy="365760"/>
          </a:xfrm>
          <a:prstGeom prst="rect">
            <a:avLst/>
          </a:prstGeom>
          <a:solidFill>
            <a:srgbClr val="F2ECE1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800600" y="288950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Generalización entre casos de uso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406640" y="2962656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5E6C4"/>
          </a:solidFill>
          <a:ln w="12700">
            <a:solidFill>
              <a:srgbClr val="F5E6C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406640" y="296265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98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CURSO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663440" y="3319272"/>
            <a:ext cx="4023360" cy="365760"/>
          </a:xfrm>
          <a:prstGeom prst="rect">
            <a:avLst/>
          </a:prstGeom>
          <a:solidFill>
            <a:srgbClr val="F2ECE1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800600" y="33192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Calibración de calidad de producto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7406640" y="3392424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DCE3F2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406640" y="339242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6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663440" y="3749040"/>
            <a:ext cx="4023360" cy="365760"/>
          </a:xfrm>
          <a:prstGeom prst="rect">
            <a:avLst/>
          </a:prstGeom>
          <a:solidFill>
            <a:srgbClr val="F2ECE1"/>
          </a:solidFill>
          <a:ln w="9525">
            <a:solidFill>
              <a:srgbClr val="D9D2C3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800600" y="37490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agéntica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406640" y="3822192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E7DFF2"/>
          </a:solidFill>
          <a:ln w="12700">
            <a:solidFill>
              <a:srgbClr val="E7DFF2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406640" y="382219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A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ADELANTE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4663440" y="42793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“Operativo” = implementado y ejercitado en el flujo real en entorno de desarrollo. No implica preparado para producción.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7842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78485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4569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211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853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496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6888"/>
            <a:ext cx="1129284" cy="237744"/>
          </a:xfrm>
          <a:prstGeom prst="roundRect">
            <a:avLst>
              <a:gd name="adj" fmla="val 50000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6888"/>
            <a:ext cx="11292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PROBADO HOY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 real: una caminata de San Telmo a La Boca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 · Business &amp; Product Update · Septiembre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132588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13898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 del viajero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162763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Aires · caminata · historia + arquitectura · “Me interesan San Telmo y La Boca”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423160"/>
            <a:ext cx="4663440" cy="2240280"/>
          </a:xfrm>
          <a:prstGeom prst="roundRect">
            <a:avLst>
              <a:gd name="adj" fmla="val 2449"/>
            </a:avLst>
          </a:prstGeom>
          <a:solidFill>
            <a:srgbClr val="F8F5EF"/>
          </a:solidFill>
          <a:ln w="12700">
            <a:solidFill>
              <a:srgbClr val="D9D2C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2560320"/>
            <a:ext cx="1828800" cy="1280160"/>
          </a:xfrm>
          <a:prstGeom prst="ellipse">
            <a:avLst/>
          </a:prstGeom>
          <a:solidFill>
            <a:srgbClr val="F6D9C6"/>
          </a:solidFill>
          <a:ln w="12700">
            <a:solidFill>
              <a:srgbClr val="F6D9C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74520" y="3337560"/>
            <a:ext cx="1417320" cy="1143000"/>
          </a:xfrm>
          <a:prstGeom prst="ellipse">
            <a:avLst/>
          </a:prstGeom>
          <a:solidFill>
            <a:srgbClr val="DCE3F2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35204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TELMO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148840" y="42062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4A6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BOCA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68680" y="2788920"/>
            <a:ext cx="365760" cy="365760"/>
          </a:xfrm>
          <a:prstGeom prst="line">
            <a:avLst/>
          </a:prstGeom>
          <a:noFill/>
          <a:ln w="28575">
            <a:solidFill>
              <a:srgbClr val="1321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34440" y="2926080"/>
            <a:ext cx="411480" cy="228600"/>
          </a:xfrm>
          <a:prstGeom prst="line">
            <a:avLst/>
          </a:prstGeom>
          <a:noFill/>
          <a:ln w="28575">
            <a:solidFill>
              <a:srgbClr val="1321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45920" y="2926080"/>
            <a:ext cx="320040" cy="411480"/>
          </a:xfrm>
          <a:prstGeom prst="line">
            <a:avLst/>
          </a:prstGeom>
          <a:noFill/>
          <a:ln w="28575">
            <a:solidFill>
              <a:srgbClr val="13213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65960" y="3337560"/>
            <a:ext cx="365760" cy="320040"/>
          </a:xfrm>
          <a:prstGeom prst="line">
            <a:avLst/>
          </a:prstGeom>
          <a:noFill/>
          <a:ln w="28575">
            <a:solidFill>
              <a:srgbClr val="13213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2331720" y="3520440"/>
            <a:ext cx="365760" cy="137160"/>
          </a:xfrm>
          <a:prstGeom prst="line">
            <a:avLst/>
          </a:prstGeom>
          <a:noFill/>
          <a:ln w="28575">
            <a:solidFill>
              <a:srgbClr val="1321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7480" y="3520440"/>
            <a:ext cx="274320" cy="457200"/>
          </a:xfrm>
          <a:prstGeom prst="line">
            <a:avLst/>
          </a:prstGeom>
          <a:noFill/>
          <a:ln w="28575">
            <a:solidFill>
              <a:srgbClr val="13213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8952" y="2679192"/>
            <a:ext cx="219456" cy="21945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58952" y="267919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3429000" y="260604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Plaza de Mayo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124712" y="3044952"/>
            <a:ext cx="219456" cy="21945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124712" y="30449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3429000" y="287121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 Defensa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536192" y="2816352"/>
            <a:ext cx="219456" cy="21945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536192" y="2816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313639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Plaza Dorrego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856232" y="3227832"/>
            <a:ext cx="219456" cy="21945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856232" y="32278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3429000" y="3401568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San Telmo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221992" y="3547872"/>
            <a:ext cx="219456" cy="21945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221992" y="354787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429000" y="366674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Almirante Brown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587752" y="3410712"/>
            <a:ext cx="219456" cy="21945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587752" y="34107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3429000" y="39319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Caminito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862072" y="3867912"/>
            <a:ext cx="219456" cy="219456"/>
          </a:xfrm>
          <a:prstGeom prst="ellipse">
            <a:avLst/>
          </a:prstGeom>
          <a:solidFill>
            <a:srgbClr val="1321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862072" y="386791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3429000" y="4197096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Riachuelo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594360" y="441655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ilustrativo, no cartografía a escala.</a:t>
            </a:r>
            <a:endParaRPr lang="en-US" sz="750" dirty="0"/>
          </a:p>
        </p:txBody>
      </p:sp>
      <p:sp>
        <p:nvSpPr>
          <p:cNvPr id="50" name="Text 48"/>
          <p:cNvSpPr txBox="1"/>
          <p:nvPr/>
        </p:nvSpPr>
        <p:spPr>
          <a:xfrm>
            <a:off x="5440680" y="13258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6309360" y="1325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respaldados por la fuente publicada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5440680" y="1874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630936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resueltos geográficamente (OSM)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5440680" y="24231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55" name="Text 53"/>
          <p:cNvSpPr txBox="1"/>
          <p:nvPr/>
        </p:nvSpPr>
        <p:spPr>
          <a:xfrm>
            <a:off x="6309360" y="2423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cruzar de barrio no fue motivo de rechazo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5440680" y="29718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57" name="Text 55"/>
          <p:cNvSpPr txBox="1"/>
          <p:nvPr/>
        </p:nvSpPr>
        <p:spPr>
          <a:xfrm>
            <a:off x="6309360" y="2971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persistido como conocimiento reutilizable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5440680" y="35204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6309360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búsquedas web nuevas en la solicitud repetida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5440680" y="4114800"/>
            <a:ext cx="3246120" cy="548640"/>
          </a:xfrm>
          <a:prstGeom prst="roundRect">
            <a:avLst>
              <a:gd name="adj" fmla="val 13333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577840" y="4114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recomendamos solo puntos de interés: entendemos y preservamos Experiences compuestas reales.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7842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78485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4569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211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853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496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6888"/>
            <a:ext cx="1284732" cy="237744"/>
          </a:xfrm>
          <a:prstGeom prst="roundRect">
            <a:avLst>
              <a:gd name="adj" fmla="val 50000"/>
            </a:avLst>
          </a:prstGeom>
          <a:solidFill>
            <a:srgbClr val="F3D6D1"/>
          </a:solidFill>
          <a:ln w="12700">
            <a:solidFill>
              <a:srgbClr val="F3D6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6888"/>
            <a:ext cx="1284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B9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ACTUAL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Correcto ≠ útil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 · Business &amp; Product Update · Septiembre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RW2 encontró la caminata correcta. Pero el plan final mostró cinco museos individuales.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1737360"/>
            <a:ext cx="4023360" cy="411480"/>
          </a:xfrm>
          <a:prstGeom prst="roundRect">
            <a:avLst>
              <a:gd name="adj" fmla="val 17778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de la investigación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977640" y="173736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240280"/>
            <a:ext cx="4023360" cy="411480"/>
          </a:xfrm>
          <a:prstGeom prst="roundRect">
            <a:avLst>
              <a:gd name="adj" fmla="val 17778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22402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de identidad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977640" y="22402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743200"/>
            <a:ext cx="4023360" cy="411480"/>
          </a:xfrm>
          <a:prstGeom prst="roundRect">
            <a:avLst>
              <a:gd name="adj" fmla="val 17778"/>
            </a:avLst>
          </a:prstGeom>
          <a:solidFill>
            <a:srgbClr val="D8ECE5"/>
          </a:solidFill>
          <a:ln w="12700">
            <a:solidFill>
              <a:srgbClr val="D8EC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27432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 geográfica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977640" y="274320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3246120"/>
            <a:ext cx="4023360" cy="411480"/>
          </a:xfrm>
          <a:prstGeom prst="roundRect">
            <a:avLst>
              <a:gd name="adj" fmla="val 17778"/>
            </a:avLst>
          </a:prstGeom>
          <a:solidFill>
            <a:srgbClr val="F3D6D1"/>
          </a:solidFill>
          <a:ln w="12700">
            <a:solidFill>
              <a:srgbClr val="F3D6D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2461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 la política de planificación vs. expectativa de producto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977640" y="324612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4754880" y="173736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937760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Bitácora mostró por qué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21214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4E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llegó al planificador y fue rechazada por los límites de caminata activos de la solicitud: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937760" y="272491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MAX_WALKING_PER_DAY_EXCEEDED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MAX_CONTINUOUS_WALKING_EXCEEDED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937760" y="324612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perdió en el ranking ni fue ignorada.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384048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próximo nivel de Zig-Zag no es solamente encontrar hechos correctos. Es tomar buenas decisiones de producto usando esos hechos.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309360" y="38404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brechas de trazabilidad detectadas en RW2 ya se cerraron. La política de caminata sigue sin cambios, pendiente de una decisión de producto.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7842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78485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4569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211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853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496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6888"/>
            <a:ext cx="1284732" cy="237744"/>
          </a:xfrm>
          <a:prstGeom prst="roundRect">
            <a:avLst>
              <a:gd name="adj" fmla="val 50000"/>
            </a:avLst>
          </a:prstGeom>
          <a:solidFill>
            <a:srgbClr val="F3D6D1"/>
          </a:solidFill>
          <a:ln w="12700">
            <a:solidFill>
              <a:srgbClr val="F3D6D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6888"/>
            <a:ext cx="1284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B9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ACTUAL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actuales y cómo los abordamos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 · Business &amp; Product Update · Septiembre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1280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28016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080760" y="128016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lo abordamos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1480" y="1536192"/>
            <a:ext cx="8321040" cy="420624"/>
          </a:xfrm>
          <a:prstGeom prst="rect">
            <a:avLst/>
          </a:prstGeom>
          <a:solidFill>
            <a:srgbClr val="FAF7F1"/>
          </a:solidFill>
          <a:ln w="12700">
            <a:solidFill>
              <a:srgbClr val="FAF7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155448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la recomendación final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candidato verificado puede no ser la mejor recomendación.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2040" y="164592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F3D6D1"/>
          </a:solidFill>
          <a:ln w="12700">
            <a:solidFill>
              <a:srgbClr val="F3D6D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92040" y="164592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94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155448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calidad con corpus revisado por humanos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1993392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 de la evidencia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snippets de búsqueda pueden omitir paradas que sí están en la fuente.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92040" y="2084832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F6D9C6"/>
          </a:solidFill>
          <a:ln w="12700">
            <a:solidFill>
              <a:srgbClr val="F6D9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92040" y="208483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MEDIO-ALTO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6080760" y="19933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Caracterización por spike; evidencia más profunda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11480" y="2414016"/>
            <a:ext cx="8321040" cy="420624"/>
          </a:xfrm>
          <a:prstGeom prst="rect">
            <a:avLst/>
          </a:prstGeom>
          <a:solidFill>
            <a:srgbClr val="FAF7F1"/>
          </a:solidFill>
          <a:ln w="12700">
            <a:solidFill>
              <a:srgbClr val="FAF7F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2432304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 de extracción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evidencia puede dar conjuntos de componentes incompletos según el contexto.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2040" y="252374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F5E6C4"/>
          </a:solidFill>
          <a:ln w="12700">
            <a:solidFill>
              <a:srgbClr val="F5E6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92040" y="25237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98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6080760" y="243230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congelado para aislar modelo vs. evidencia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2871216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 externos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Búsqueda, extracción, geocoding, ruteo y clasificación: latencia, cuotas y costo.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92040" y="2962656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F5E6C4"/>
          </a:solidFill>
          <a:ln w="12700">
            <a:solidFill>
              <a:srgbClr val="F5E6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92040" y="29626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98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6080760" y="287121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Caracterizar costo; sin fallback automático todavía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1480" y="3291840"/>
            <a:ext cx="8321040" cy="420624"/>
          </a:xfrm>
          <a:prstGeom prst="rect">
            <a:avLst/>
          </a:prstGeom>
          <a:solidFill>
            <a:srgbClr val="FAF7F1"/>
          </a:solidFill>
          <a:ln w="12700">
            <a:solidFill>
              <a:srgbClr val="FAF7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02920" y="331012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de movilidad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Experiences válidas filtradas por límites poco calibrados.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2040" y="3401568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F5E6C4"/>
          </a:solidFill>
          <a:ln w="12700">
            <a:solidFill>
              <a:srgbClr val="F5E6C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892040" y="34015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98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6080760" y="33101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Diagnósticos ya auditables; falta decisión de producto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502920" y="374904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corridas en frío siguen siendo lentas/costosas en desarrollo.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92040" y="3840480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F5E6C4"/>
          </a:solidFill>
          <a:ln w="12700">
            <a:solidFill>
              <a:srgbClr val="F5E6C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892040" y="38404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98A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MEDIO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6080760" y="374904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costo estructural vs. entorno de desarrollo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11480" y="4169664"/>
            <a:ext cx="8321040" cy="420624"/>
          </a:xfrm>
          <a:prstGeom prst="rect">
            <a:avLst/>
          </a:prstGeom>
          <a:solidFill>
            <a:srgbClr val="FAF7F1"/>
          </a:solidFill>
          <a:ln w="12700">
            <a:solidFill>
              <a:srgbClr val="FAF7F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02920" y="4187952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Generalización</a:t>
            </a:r>
            <a:endParaRPr lang="en-US" sz="1000" dirty="0"/>
          </a:p>
          <a:p>
            <a:pPr indent="0" marL="0">
              <a:buNone/>
            </a:pPr>
            <a:r>
              <a:rPr lang="en-US" sz="8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probar más allá de Buenos Aires / Argentina y de ejemplos conocidos.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92040" y="4279392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DCE3F2"/>
          </a:solidFill>
          <a:ln w="12700">
            <a:solidFill>
              <a:srgbClr val="DCE3F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892040" y="4279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6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6080760" y="418795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Spikes RW3–RW6 (ruta, vino, ciudad extranjera, caso negativo)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7842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78485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4569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211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853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496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6888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F6D9C6"/>
          </a:solidFill>
          <a:ln w="12700">
            <a:solidFill>
              <a:srgbClr val="F6D9C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68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ESTRATÉGICA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deliberadamente no estamos haciendo todavía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 · Business &amp; Product Update · Septiembre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13716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1D2F4F"/>
          </a:solidFill>
          <a:ln w="12700">
            <a:solidFill>
              <a:srgbClr val="3A4E72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310896" cy="310896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097280" y="14630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prematuro entre proveedores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97280" y="1755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 caracterizar; después diseñar con política explícita.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63440" y="13716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1D2F4F"/>
          </a:solidFill>
          <a:ln w="12700">
            <a:solidFill>
              <a:srgbClr val="3A4E72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600200"/>
            <a:ext cx="310896" cy="31089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5303520" y="14630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interminable de modelos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5303520" y="17556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corpus congelado acotado, no una carrera de modelos.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5720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1D2F4F"/>
          </a:solidFill>
          <a:ln w="12700">
            <a:solidFill>
              <a:srgbClr val="3A4E72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14600"/>
            <a:ext cx="310896" cy="310896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97280" y="23774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Hacks específicos por destino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" y="26700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funciona en Buenos Aires tiene que funcionar por diseño, no por excepción.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4663440" y="22860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1D2F4F"/>
          </a:solidFill>
          <a:ln w="12700">
            <a:solidFill>
              <a:srgbClr val="3A4E72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514600"/>
            <a:ext cx="310896" cy="31089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5303520" y="23774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Fabricar Experiences por proximidad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5303520" y="26700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Lugares cercanos no son una ruta si la evidencia no lo dice.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457200" y="32004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1D2F4F"/>
          </a:solidFill>
          <a:ln w="12700">
            <a:solidFill>
              <a:srgbClr val="3A4E72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429000"/>
            <a:ext cx="310896" cy="310896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097280" y="32918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Optimizar latencia de desarrollo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1097280" y="35844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hay que medir costo con forma de producción.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4663440" y="32004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1D2F4F"/>
          </a:solidFill>
          <a:ln w="12700">
            <a:solidFill>
              <a:srgbClr val="3A4E72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3429000"/>
            <a:ext cx="310896" cy="310896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303520" y="32918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Autonomía agéntica prematura</a:t>
            </a:r>
            <a:endParaRPr lang="en-US" sz="1200" dirty="0"/>
          </a:p>
        </p:txBody>
      </p:sp>
      <p:sp>
        <p:nvSpPr>
          <p:cNvPr id="37" name="Text 29"/>
          <p:cNvSpPr txBox="1"/>
          <p:nvPr/>
        </p:nvSpPr>
        <p:spPr>
          <a:xfrm>
            <a:off x="5303520" y="35844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C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Primero calidad de decisión determinística sólida.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7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foco es una característica del producto.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7842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78485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4569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211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853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496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6888"/>
            <a:ext cx="1284732" cy="237744"/>
          </a:xfrm>
          <a:prstGeom prst="roundRect">
            <a:avLst>
              <a:gd name="adj" fmla="val 50000"/>
            </a:avLst>
          </a:prstGeom>
          <a:solidFill>
            <a:srgbClr val="E7DFF2"/>
          </a:solidFill>
          <a:ln w="12700">
            <a:solidFill>
              <a:srgbClr val="E7DF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6888"/>
            <a:ext cx="1284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A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FUTURA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de la ingeniería actual a un producto real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 · Business &amp; Product Update · Septiembre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1325880"/>
            <a:ext cx="1965960" cy="731520"/>
          </a:xfrm>
          <a:prstGeom prst="rect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66928" y="139903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· Horizonte 1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6184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Probar generalidad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2057400"/>
            <a:ext cx="1965960" cy="1783080"/>
          </a:xfrm>
          <a:prstGeom prst="rect">
            <a:avLst/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5216" y="2286000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2194560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RW3 · Caminito (ruta OSM)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85216" y="2596896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2505456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RW4 · Ruta del Vino, Mendoza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85216" y="2907792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2816352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RW5 · ciudad extranjera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85216" y="3218688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3127248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RW6 · caso anti-fabricación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886200"/>
            <a:ext cx="19659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8862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pPr indent="0" marL="0">
              <a:buNone/>
            </a:pPr>
            <a:r>
              <a:rPr lang="en-US" sz="9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Confianza en que el modelo core generaliza.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514600" y="1325880"/>
            <a:ext cx="1965960" cy="731520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624328" y="139903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· Horizonte 2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2624328" y="16184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Cerrar el core de producto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2514600" y="2057400"/>
            <a:ext cx="1965960" cy="1783080"/>
          </a:xfrm>
          <a:prstGeom prst="rect">
            <a:avLst/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42616" y="2286000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788920" y="2194560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calidad de tours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642616" y="2596896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88920" y="2505456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Calibrar política de movilidad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642616" y="2907792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788920" y="2816352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por proveedor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2642616" y="3218688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788920" y="3127248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limpio / CI en verde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642616" y="3529584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788920" y="3438144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convergencia del core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514600" y="3886200"/>
            <a:ext cx="19659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606040" y="38862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pPr indent="0" marL="0">
              <a:buNone/>
            </a:pPr>
            <a:r>
              <a:rPr lang="en-US" sz="9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de viajes confiable y medible.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572000" y="1325880"/>
            <a:ext cx="1965960" cy="731520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681728" y="139903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LUEGO · Horizonte 3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4681728" y="16184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 de aprendizaje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4572000" y="2057400"/>
            <a:ext cx="1965960" cy="1783080"/>
          </a:xfrm>
          <a:prstGeom prst="rect">
            <a:avLst/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700016" y="2286000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846320" y="2194560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 pedidos representativos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700016" y="2596896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846320" y="2505456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humana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4700016" y="2907792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846320" y="2816352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Señales aceptación / edición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700016" y="3218688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4846320" y="3127248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calidad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700016" y="3529584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846320" y="3438144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Frescura del catálogo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572000" y="3886200"/>
            <a:ext cx="19659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3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663440" y="38862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pPr indent="0" marL="0">
              <a:buNone/>
            </a:pPr>
            <a:r>
              <a:rPr lang="en-US" sz="9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aprende qué es un “buen viaje”.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629400" y="1325880"/>
            <a:ext cx="1965960" cy="731520"/>
          </a:xfrm>
          <a:prstGeom prst="rect">
            <a:avLst/>
          </a:prstGeom>
          <a:solidFill>
            <a:srgbClr val="13213A"/>
          </a:solidFill>
          <a:ln w="12700">
            <a:solidFill>
              <a:srgbClr val="1321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739128" y="1399032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 · Horizonte 4</a:t>
            </a:r>
            <a:endParaRPr lang="en-US" sz="800" dirty="0"/>
          </a:p>
        </p:txBody>
      </p:sp>
      <p:sp>
        <p:nvSpPr>
          <p:cNvPr id="62" name="Text 60"/>
          <p:cNvSpPr txBox="1"/>
          <p:nvPr/>
        </p:nvSpPr>
        <p:spPr>
          <a:xfrm>
            <a:off x="6739128" y="16184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Experiencia agéntica</a:t>
            </a:r>
            <a:endParaRPr lang="en-US" sz="1350" dirty="0"/>
          </a:p>
        </p:txBody>
      </p:sp>
      <p:sp>
        <p:nvSpPr>
          <p:cNvPr id="63" name="Shape 61"/>
          <p:cNvSpPr/>
          <p:nvPr/>
        </p:nvSpPr>
        <p:spPr>
          <a:xfrm>
            <a:off x="6629400" y="2057400"/>
            <a:ext cx="1965960" cy="1783080"/>
          </a:xfrm>
          <a:prstGeom prst="rect">
            <a:avLst/>
          </a:prstGeom>
          <a:solidFill>
            <a:srgbClr val="F2ECE1"/>
          </a:solidFill>
          <a:ln w="12700">
            <a:solidFill>
              <a:srgbClr val="F2ECE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757416" y="2286000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903720" y="2194560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Refinamiento conversacional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757416" y="2596896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903720" y="2505456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Replanificación dinámica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6757416" y="2907792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903720" y="2816352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Cambios según contexto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6757416" y="3218688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903720" y="3127248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Disponibilidad, clima, eventos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6757416" y="3529584"/>
            <a:ext cx="73152" cy="73152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903720" y="3438144"/>
            <a:ext cx="1618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continuo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6629400" y="3886200"/>
            <a:ext cx="19659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3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720840" y="38862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pPr indent="0" marL="0">
              <a:buNone/>
            </a:pPr>
            <a:r>
              <a:rPr lang="en-US" sz="950" b="1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generador de itinerarios a agente de decisiones de viaje.</a:t>
            </a:r>
            <a:endParaRPr lang="en-US" sz="9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45720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Horizontes secuenciales, sin fechas comprometidas. Cada horizonte se abre cuando el anterior tiene evidencia suficiente.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2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457200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7842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678485" y="274320"/>
            <a:ext cx="110642" cy="90526"/>
          </a:xfrm>
          <a:prstGeom prst="line">
            <a:avLst/>
          </a:prstGeom>
          <a:noFill/>
          <a:ln w="19050">
            <a:solidFill>
              <a:srgbClr val="E07A3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4569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5211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5853" y="342214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6496" y="251689"/>
            <a:ext cx="45263" cy="45263"/>
          </a:xfrm>
          <a:prstGeom prst="ellipse">
            <a:avLst/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6888"/>
            <a:ext cx="1284732" cy="237744"/>
          </a:xfrm>
          <a:prstGeom prst="roundRect">
            <a:avLst>
              <a:gd name="adj" fmla="val 50000"/>
            </a:avLst>
          </a:prstGeom>
          <a:solidFill>
            <a:srgbClr val="E7DFF2"/>
          </a:solidFill>
          <a:ln w="12700">
            <a:solidFill>
              <a:srgbClr val="E7DF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246888"/>
            <a:ext cx="1284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7A5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FUTURA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Hacia dónde puede ir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828032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Zig-Zag · Business &amp; Product Update · Septiembre 2026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82803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914400" y="1417320"/>
            <a:ext cx="3291840" cy="822960"/>
          </a:xfrm>
          <a:prstGeom prst="roundRect">
            <a:avLst>
              <a:gd name="adj" fmla="val 8889"/>
            </a:avLst>
          </a:prstGeom>
          <a:solidFill>
            <a:srgbClr val="E07A3F"/>
          </a:solidFill>
          <a:ln w="12700">
            <a:solidFill>
              <a:srgbClr val="E07A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97280" y="1508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2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Experience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18379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32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Conversación continua · replanificación · ejecución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" y="2377440"/>
            <a:ext cx="3749040" cy="822960"/>
          </a:xfrm>
          <a:prstGeom prst="roundRect">
            <a:avLst>
              <a:gd name="adj" fmla="val 8889"/>
            </a:avLst>
          </a:prstGeom>
          <a:solidFill>
            <a:srgbClr val="2F4A78"/>
          </a:solidFill>
          <a:ln w="12700">
            <a:solidFill>
              <a:srgbClr val="2F4A7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24688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Engine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27980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Preferencias + factibilidad + calidad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337560"/>
            <a:ext cx="4206240" cy="822960"/>
          </a:xfrm>
          <a:prstGeom prst="roundRect">
            <a:avLst>
              <a:gd name="adj" fmla="val 8889"/>
            </a:avLst>
          </a:prstGeom>
          <a:solidFill>
            <a:srgbClr val="1D2F4F"/>
          </a:solidFill>
          <a:ln w="12700">
            <a:solidFill>
              <a:srgbClr val="3A4E7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4290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Travel Knowledge Layer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7581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del mundo verificado y reutilizable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1645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activo no es el itinerario.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22402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07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la capacidad creciente de tomar mejores decisiones de viaje.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34290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C9A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long-term asset is not the itinerary. It is the system's growing ability to make better travel decisions.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Zig-Zag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Zig-Zag — Business &amp; Product Update</dc:title>
  <dc:subject>PptxGenJS Presentation</dc:subject>
  <dc:creator>Zig-Zag</dc:creator>
  <cp:lastModifiedBy>Zig-Zag</cp:lastModifiedBy>
  <cp:revision>1</cp:revision>
  <dcterms:created xsi:type="dcterms:W3CDTF">2026-09-27T12:01:28Z</dcterms:created>
  <dcterms:modified xsi:type="dcterms:W3CDTF">2026-09-27T12:01:28Z</dcterms:modified>
</cp:coreProperties>
</file>